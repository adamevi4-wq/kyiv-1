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0" r:id="rId6"/>
    <p:sldId id="272" r:id="rId7"/>
    <p:sldId id="2147483634" r:id="rId8"/>
    <p:sldId id="2147483635" r:id="rId9"/>
    <p:sldId id="2147483602" r:id="rId10"/>
    <p:sldId id="2147483636" r:id="rId11"/>
    <p:sldId id="284" r:id="rId12"/>
    <p:sldId id="2147483637" r:id="rId13"/>
    <p:sldId id="2147483638" r:id="rId14"/>
    <p:sldId id="2147483639" r:id="rId15"/>
    <p:sldId id="292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62EDC-2F71-4553-99F0-6DCFE1F33ECF}" v="1" dt="2026-09-03T13:28:46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301" autoAdjust="0"/>
  </p:normalViewPr>
  <p:slideViewPr>
    <p:cSldViewPr snapToGrid="0">
      <p:cViewPr varScale="1">
        <p:scale>
          <a:sx n="91" d="100"/>
          <a:sy n="91" d="100"/>
        </p:scale>
        <p:origin x="2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333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Sadkevich" userId="90c27408-4703-43b6-8697-faddf5131fb9" providerId="ADAL" clId="{8A1BBC27-8C20-42E1-90A9-248A08E140C7}"/>
    <pc:docChg chg="custSel addSld delSld modSld">
      <pc:chgData name="Adam Sadkevich" userId="90c27408-4703-43b6-8697-faddf5131fb9" providerId="ADAL" clId="{8A1BBC27-8C20-42E1-90A9-248A08E140C7}" dt="2026-09-03T13:29:24.942" v="38" actId="47"/>
      <pc:docMkLst>
        <pc:docMk/>
      </pc:docMkLst>
      <pc:sldChg chg="modSp mod">
        <pc:chgData name="Adam Sadkevich" userId="90c27408-4703-43b6-8697-faddf5131fb9" providerId="ADAL" clId="{8A1BBC27-8C20-42E1-90A9-248A08E140C7}" dt="2026-09-03T13:29:21.641" v="37" actId="20577"/>
        <pc:sldMkLst>
          <pc:docMk/>
          <pc:sldMk cId="1546062539" sldId="256"/>
        </pc:sldMkLst>
        <pc:spChg chg="mod">
          <ac:chgData name="Adam Sadkevich" userId="90c27408-4703-43b6-8697-faddf5131fb9" providerId="ADAL" clId="{8A1BBC27-8C20-42E1-90A9-248A08E140C7}" dt="2026-09-03T13:29:21.641" v="37" actId="20577"/>
          <ac:spMkLst>
            <pc:docMk/>
            <pc:sldMk cId="1546062539" sldId="256"/>
            <ac:spMk id="2" creationId="{3DEBC483-A9E2-9C72-F0AB-5F25454379B4}"/>
          </ac:spMkLst>
        </pc:spChg>
        <pc:spChg chg="mod">
          <ac:chgData name="Adam Sadkevich" userId="90c27408-4703-43b6-8697-faddf5131fb9" providerId="ADAL" clId="{8A1BBC27-8C20-42E1-90A9-248A08E140C7}" dt="2026-09-03T13:29:06.650" v="15" actId="20577"/>
          <ac:spMkLst>
            <pc:docMk/>
            <pc:sldMk cId="1546062539" sldId="256"/>
            <ac:spMk id="3" creationId="{18094E45-E83A-42FE-960B-912C6C1AB2B3}"/>
          </ac:spMkLst>
        </pc:spChg>
      </pc:sldChg>
      <pc:sldChg chg="del">
        <pc:chgData name="Adam Sadkevich" userId="90c27408-4703-43b6-8697-faddf5131fb9" providerId="ADAL" clId="{8A1BBC27-8C20-42E1-90A9-248A08E140C7}" dt="2026-09-03T13:28:49.598" v="1" actId="47"/>
        <pc:sldMkLst>
          <pc:docMk/>
          <pc:sldMk cId="1456751661" sldId="257"/>
        </pc:sldMkLst>
      </pc:sldChg>
      <pc:sldChg chg="del">
        <pc:chgData name="Adam Sadkevich" userId="90c27408-4703-43b6-8697-faddf5131fb9" providerId="ADAL" clId="{8A1BBC27-8C20-42E1-90A9-248A08E140C7}" dt="2026-09-03T13:29:24.942" v="38" actId="47"/>
        <pc:sldMkLst>
          <pc:docMk/>
          <pc:sldMk cId="156741050" sldId="258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3691249456" sldId="260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2965944705" sldId="272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1518818765" sldId="284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846773700" sldId="292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1118018112" sldId="2147483602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5695440" sldId="2147483634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2650858310" sldId="2147483635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2703974766" sldId="2147483636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703126259" sldId="2147483637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145622580" sldId="2147483638"/>
        </pc:sldMkLst>
      </pc:sldChg>
      <pc:sldChg chg="add">
        <pc:chgData name="Adam Sadkevich" userId="90c27408-4703-43b6-8697-faddf5131fb9" providerId="ADAL" clId="{8A1BBC27-8C20-42E1-90A9-248A08E140C7}" dt="2026-09-03T13:28:46.377" v="0"/>
        <pc:sldMkLst>
          <pc:docMk/>
          <pc:sldMk cId="1094905383" sldId="214748363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Виділити магазини </a:t>
            </a:r>
            <a:r>
              <a:rPr lang="uk-UA" dirty="0" err="1"/>
              <a:t>аккумульовано</a:t>
            </a:r>
            <a:r>
              <a:rPr lang="uk-UA" dirty="0"/>
              <a:t>.</a:t>
            </a:r>
          </a:p>
          <a:p>
            <a:r>
              <a:rPr lang="uk-UA" dirty="0"/>
              <a:t>Сказати, що маємо гарну тенденцію по -місячно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230B7-F7D9-462B-9D82-1201BD8A139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191999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2564" y="3751333"/>
            <a:ext cx="5325796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title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081451"/>
            <a:ext cx="5360670" cy="148470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‹№›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353" y="1"/>
            <a:ext cx="12194353" cy="68659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3211" y="2436709"/>
            <a:ext cx="5672854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EF9CEB-706C-1B7D-FD75-A69EAC4A7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99752" y="1080359"/>
            <a:ext cx="731027" cy="932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673094-B13F-368C-D9AB-18DC2C2542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90970" y="3069157"/>
            <a:ext cx="731027" cy="932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568D60-005B-09A8-EA09-CFDF2FC6D8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96854" y="5044741"/>
            <a:ext cx="731027" cy="9324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F22EA8B-7DDD-C766-452B-1AFF025550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3211" y="4422085"/>
            <a:ext cx="5672854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A8972-8610-505D-7AC5-C5822C154E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390" y="2012760"/>
            <a:ext cx="3498850" cy="2805691"/>
          </a:xfrm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FontTx/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Focus </a:t>
            </a:r>
            <a:br>
              <a:rPr lang="en-GB" dirty="0"/>
            </a:br>
            <a:r>
              <a:rPr lang="en-GB" dirty="0"/>
              <a:t>of today</a:t>
            </a:r>
            <a:endParaRPr lang="en-D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AF7955-B6E2-4551-7F67-A5ACEF1860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7638" y="583568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want to inform about?</a:t>
            </a:r>
            <a:endParaRPr lang="en-DK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912D6EF-DC28-E846-3F49-4E1E1EC8C4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3356" y="2543706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need to discuss?</a:t>
            </a:r>
            <a:endParaRPr lang="en-DK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9BABA0D-8287-5A28-5897-6FFB40BE2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7637" y="4585390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need to decide?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2614" y="2309542"/>
            <a:ext cx="6057900" cy="22389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1A5D26-4B70-119C-2B81-F62E0035EB3B}"/>
              </a:ext>
            </a:extLst>
          </p:cNvPr>
          <p:cNvCxnSpPr/>
          <p:nvPr userDrawn="1"/>
        </p:nvCxnSpPr>
        <p:spPr>
          <a:xfrm>
            <a:off x="4779038" y="2031999"/>
            <a:ext cx="0" cy="279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49C8D4-EFEB-A434-5535-E2AA2818DF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4716" y="2898485"/>
            <a:ext cx="3405655" cy="1061028"/>
          </a:xfrm>
          <a:ln>
            <a:noFill/>
          </a:ln>
        </p:spPr>
        <p:txBody>
          <a:bodyPr anchor="ctr"/>
          <a:lstStyle>
            <a:lvl1pPr algn="ctr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776973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6168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97400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45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81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61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93"/>
          <a:stretch>
            <a:fillRect/>
          </a:stretch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3471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803" y="0"/>
            <a:ext cx="12207607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6365D8-4FDA-DD41-EB2C-14BC2F53CB5B}"/>
              </a:ext>
            </a:extLst>
          </p:cNvPr>
          <p:cNvSpPr txBox="1"/>
          <p:nvPr userDrawn="1"/>
        </p:nvSpPr>
        <p:spPr>
          <a:xfrm>
            <a:off x="13450529" y="1700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82"/>
          <a:stretch>
            <a:fillRect/>
          </a:stretch>
        </p:blipFill>
        <p:spPr>
          <a:xfrm>
            <a:off x="-7087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6201"/>
            <a:ext cx="12190670" cy="68564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FF0E2-6BCA-2D35-3D2F-CB027BEFBA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87"/>
            <a:ext cx="12192000" cy="68564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F0024-13C3-CDA9-BB6D-A3408745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50E1B84-AFD9-1854-3B8B-D0ED0C811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86722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‹№›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0" r:id="rId2"/>
    <p:sldLayoutId id="2147483663" r:id="rId3"/>
    <p:sldLayoutId id="2147483747" r:id="rId4"/>
    <p:sldLayoutId id="2147483736" r:id="rId5"/>
    <p:sldLayoutId id="2147483744" r:id="rId6"/>
    <p:sldLayoutId id="2147483748" r:id="rId7"/>
    <p:sldLayoutId id="2147483751" r:id="rId8"/>
    <p:sldLayoutId id="2147483749" r:id="rId9"/>
    <p:sldLayoutId id="2147483750" r:id="rId10"/>
    <p:sldLayoutId id="2147483738" r:id="rId11"/>
    <p:sldLayoutId id="2147483722" r:id="rId12"/>
    <p:sldLayoutId id="2147483739" r:id="rId13"/>
    <p:sldLayoutId id="2147483720" r:id="rId14"/>
    <p:sldLayoutId id="2147483745" r:id="rId15"/>
    <p:sldLayoutId id="2147483717" r:id="rId16"/>
    <p:sldLayoutId id="2147483733" r:id="rId17"/>
    <p:sldLayoutId id="2147483672" r:id="rId18"/>
    <p:sldLayoutId id="2147483673" r:id="rId19"/>
    <p:sldLayoutId id="2147483674" r:id="rId20"/>
    <p:sldLayoutId id="2147483675" r:id="rId21"/>
    <p:sldLayoutId id="21474837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5.png"/><Relationship Id="rId5" Type="http://schemas.microsoft.com/office/2007/relationships/hdphoto" Target="../media/hdphoto2.wdp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.pn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DEBC483-A9E2-9C72-F0AB-5F2545437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Показники Вересня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094E45-E83A-42FE-960B-912C6C1A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Kyiv 1</a:t>
            </a:r>
          </a:p>
        </p:txBody>
      </p:sp>
    </p:spTree>
    <p:extLst>
      <p:ext uri="{BB962C8B-B14F-4D97-AF65-F5344CB8AC3E}">
        <p14:creationId xmlns:p14="http://schemas.microsoft.com/office/powerpoint/2010/main" val="154606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>
            <a:extLst>
              <a:ext uri="{FF2B5EF4-FFF2-40B4-BE49-F238E27FC236}">
                <a16:creationId xmlns:a16="http://schemas.microsoft.com/office/drawing/2014/main" id="{86FD3BED-4D47-9848-79FA-81336B2F3E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932" y="1102119"/>
            <a:ext cx="4957068" cy="4123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E17B39-F35E-7233-40C4-47C3BFA7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49" y="394143"/>
            <a:ext cx="4906488" cy="62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49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8B84-84F1-95C2-1EFD-D4D4A947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DF4406C-FEB6-4F34-2958-B53078BEB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4" t="5250" r="6980" b="9708"/>
          <a:stretch/>
        </p:blipFill>
        <p:spPr bwMode="auto">
          <a:xfrm>
            <a:off x="3027871" y="916066"/>
            <a:ext cx="5408763" cy="5416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9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Эмодзи вечеринки PNG - Эмодзи вечеринки Праздник Счастливый прозрачная  иллюстрация">
            <a:extLst>
              <a:ext uri="{FF2B5EF4-FFF2-40B4-BE49-F238E27FC236}">
                <a16:creationId xmlns:a16="http://schemas.microsoft.com/office/drawing/2014/main" id="{C1336874-0864-5EC9-22AB-671C4F206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4AE097E-9EA2-6150-40C5-163F2A6AF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89" b="97128" l="1325" r="98455">
                        <a14:foregroundMark x1="3974" y1="33159" x2="9272" y2="45692"/>
                        <a14:foregroundMark x1="12583" y1="44909" x2="19647" y2="43603"/>
                        <a14:foregroundMark x1="14790" y1="97128" x2="21854" y2="92428"/>
                        <a14:foregroundMark x1="37969" y1="2089" x2="34437" y2="20366"/>
                        <a14:foregroundMark x1="41943" y1="3394" x2="41943" y2="3394"/>
                        <a14:foregroundMark x1="94260" y1="52219" x2="94260" y2="59008"/>
                        <a14:foregroundMark x1="87196" y1="64491" x2="87196" y2="64491"/>
                        <a14:foregroundMark x1="83444" y1="64230" x2="88962" y2="63708"/>
                        <a14:foregroundMark x1="94481" y1="47258" x2="94481" y2="47258"/>
                        <a14:foregroundMark x1="92715" y1="47520" x2="94702" y2="54047"/>
                        <a14:foregroundMark x1="96689" y1="54830" x2="98675" y2="56397"/>
                        <a14:foregroundMark x1="95143" y1="61619" x2="95143" y2="61619"/>
                        <a14:foregroundMark x1="84327" y1="11227" x2="84327" y2="11227"/>
                        <a14:foregroundMark x1="83885" y1="11227" x2="82340" y2="11227"/>
                        <a14:foregroundMark x1="1325" y1="32115" x2="1987" y2="404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8474" y="4950254"/>
            <a:ext cx="1118303" cy="945497"/>
          </a:xfrm>
          <a:prstGeom prst="rect">
            <a:avLst/>
          </a:prstGeom>
        </p:spPr>
      </p:pic>
      <p:pic>
        <p:nvPicPr>
          <p:cNvPr id="14" name="Picture 2" descr="JUA - Принесіть відданість. Зустрічайте можливості.">
            <a:extLst>
              <a:ext uri="{FF2B5EF4-FFF2-40B4-BE49-F238E27FC236}">
                <a16:creationId xmlns:a16="http://schemas.microsoft.com/office/drawing/2014/main" id="{92840F9A-97B7-AB7A-8946-069CA7B9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823" y="282962"/>
            <a:ext cx="1217411" cy="155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 descr="Зображення, що містить текст, Шрифт, Графіка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A30B79CF-4AE2-CFE0-84E9-018D25B29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22" y="2372974"/>
            <a:ext cx="1217411" cy="1553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577F4-78EC-63F2-538A-1D2359AC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83" y="148804"/>
            <a:ext cx="10515600" cy="910782"/>
          </a:xfrm>
        </p:spPr>
        <p:txBody>
          <a:bodyPr/>
          <a:lstStyle/>
          <a:p>
            <a:r>
              <a:rPr lang="uk-UA" dirty="0"/>
              <a:t>Домовленості: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4A4541-C544-FD5E-AB74-C4E0B7545A08}"/>
              </a:ext>
            </a:extLst>
          </p:cNvPr>
          <p:cNvSpPr txBox="1">
            <a:spLocks/>
          </p:cNvSpPr>
          <p:nvPr/>
        </p:nvSpPr>
        <p:spPr>
          <a:xfrm>
            <a:off x="504766" y="1424312"/>
            <a:ext cx="8639234" cy="48240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Оберіть зону відповідальності- </a:t>
            </a:r>
            <a:r>
              <a:rPr lang="uk-UA" sz="2000" dirty="0" err="1"/>
              <a:t>Прокомунікуйте</a:t>
            </a:r>
            <a:r>
              <a:rPr lang="uk-UA" sz="2000" dirty="0"/>
              <a:t> з </a:t>
            </a:r>
            <a:r>
              <a:rPr lang="en-US" sz="2000" dirty="0"/>
              <a:t>DM</a:t>
            </a:r>
            <a:r>
              <a:rPr lang="uk-UA" sz="2000" dirty="0"/>
              <a:t>  </a:t>
            </a:r>
            <a:r>
              <a:rPr lang="en-US" sz="2000" dirty="0"/>
              <a:t>( </a:t>
            </a:r>
            <a:r>
              <a:rPr lang="uk-UA" sz="2000" dirty="0"/>
              <a:t>Прописуємо коментарі)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Прописуємо коментар та причину по оформленні безкоштовної доставки( в групу</a:t>
            </a:r>
            <a:r>
              <a:rPr lang="en-US" sz="2000" dirty="0"/>
              <a:t> DM\SM\</a:t>
            </a:r>
            <a:r>
              <a:rPr lang="en-US" sz="2000" dirty="0" err="1"/>
              <a:t>DepSM</a:t>
            </a:r>
            <a:r>
              <a:rPr lang="en-US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Фокус на закриття штату( </a:t>
            </a:r>
            <a:r>
              <a:rPr lang="uk-UA" sz="2000" dirty="0" err="1"/>
              <a:t>калькулятор+вакансії</a:t>
            </a:r>
            <a:r>
              <a:rPr lang="uk-UA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 err="1"/>
              <a:t>Індор</a:t>
            </a:r>
            <a:r>
              <a:rPr lang="uk-UA" sz="2000" dirty="0"/>
              <a:t>- </a:t>
            </a:r>
            <a:r>
              <a:rPr lang="uk-UA" sz="2000" dirty="0" err="1"/>
              <a:t>ондісплей</a:t>
            </a:r>
            <a:r>
              <a:rPr lang="uk-UA" sz="2000" dirty="0"/>
              <a:t> ( виставка артикулів)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 Якісна підготовка до візитів ( </a:t>
            </a:r>
            <a:r>
              <a:rPr lang="en-US" sz="2000" dirty="0"/>
              <a:t>GSM</a:t>
            </a:r>
            <a:r>
              <a:rPr lang="uk-U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95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6E6B00-8D3A-94AB-D22D-2BC030FCC9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8" y="291389"/>
            <a:ext cx="4179671" cy="2081213"/>
          </a:xfrm>
        </p:spPr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BF05B-AE48-D3B1-6C6F-C7B84BC40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3872" y="2182483"/>
            <a:ext cx="6900459" cy="4603833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D0642B8-B849-AEF5-4649-F6049D84781C}"/>
              </a:ext>
            </a:extLst>
          </p:cNvPr>
          <p:cNvGraphicFramePr>
            <a:graphicFrameLocks noGrp="1"/>
          </p:cNvGraphicFramePr>
          <p:nvPr/>
        </p:nvGraphicFramePr>
        <p:xfrm>
          <a:off x="5848708" y="2751826"/>
          <a:ext cx="5960853" cy="27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945">
                  <a:extLst>
                    <a:ext uri="{9D8B030D-6E8A-4147-A177-3AD203B41FA5}">
                      <a16:colId xmlns:a16="http://schemas.microsoft.com/office/drawing/2014/main" val="732667075"/>
                    </a:ext>
                  </a:extLst>
                </a:gridCol>
                <a:gridCol w="1640908">
                  <a:extLst>
                    <a:ext uri="{9D8B030D-6E8A-4147-A177-3AD203B41FA5}">
                      <a16:colId xmlns:a16="http://schemas.microsoft.com/office/drawing/2014/main" val="2722804424"/>
                    </a:ext>
                  </a:extLst>
                </a:gridCol>
              </a:tblGrid>
              <a:tr h="456299">
                <a:tc>
                  <a:txBody>
                    <a:bodyPr/>
                    <a:lstStyle/>
                    <a:p>
                      <a:r>
                        <a:rPr lang="uk-UA" sz="1200" dirty="0"/>
                        <a:t>Тема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dirty="0"/>
                        <a:t>Час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50727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Результати лютого основні КРІ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21030"/>
                  </a:ext>
                </a:extLst>
              </a:tr>
              <a:tr h="502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Stock Taking</a:t>
                      </a:r>
                      <a:r>
                        <a:rPr lang="uk-UA" sz="1400" dirty="0"/>
                        <a:t> </a:t>
                      </a:r>
                      <a:r>
                        <a:rPr lang="en-US" sz="1400" dirty="0"/>
                        <a:t>-</a:t>
                      </a:r>
                      <a:r>
                        <a:rPr lang="uk-UA" sz="1400" dirty="0"/>
                        <a:t> воркшоп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30 хв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112705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en-US" sz="1400" dirty="0"/>
                        <a:t>Sales Attitude </a:t>
                      </a:r>
                      <a:r>
                        <a:rPr lang="uk-UA" sz="1400" dirty="0"/>
                        <a:t>та його  «індикатори»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49553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dirty="0"/>
                        <a:t>Операційні питання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90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6194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Підсумки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10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4790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A92956-9283-9080-E7B9-63BCED46A379}"/>
              </a:ext>
            </a:extLst>
          </p:cNvPr>
          <p:cNvSpPr txBox="1"/>
          <p:nvPr/>
        </p:nvSpPr>
        <p:spPr>
          <a:xfrm>
            <a:off x="10023894" y="6452053"/>
            <a:ext cx="19143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uk-UA" dirty="0"/>
              <a:t>ТРИ години </a:t>
            </a:r>
            <a:r>
              <a:rPr lang="uk-UA" dirty="0">
                <a:sym typeface="Wingdings" panose="05000000000000000000" pitchFamily="2" charset="2"/>
              </a:rPr>
              <a:t>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0858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8A41CA09-94EC-B2A4-8E01-D64E64B20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sz="2400" dirty="0"/>
              <a:t>Результати Вересня основні КРІ</a:t>
            </a:r>
          </a:p>
        </p:txBody>
      </p:sp>
    </p:spTree>
    <p:extLst>
      <p:ext uri="{BB962C8B-B14F-4D97-AF65-F5344CB8AC3E}">
        <p14:creationId xmlns:p14="http://schemas.microsoft.com/office/powerpoint/2010/main" val="1118018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0C8A5B-8D39-499A-226A-C4C988B6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14" y="245383"/>
            <a:ext cx="10515600" cy="910782"/>
          </a:xfrm>
        </p:spPr>
        <p:txBody>
          <a:bodyPr/>
          <a:lstStyle/>
          <a:p>
            <a:r>
              <a:rPr lang="uk-UA" dirty="0"/>
              <a:t>Виторг основна </a:t>
            </a:r>
            <a:r>
              <a:rPr lang="uk-UA" dirty="0">
                <a:highlight>
                  <a:srgbClr val="FFFF00"/>
                </a:highlight>
              </a:rPr>
              <a:t>ціль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1E38F4E-1A79-6D81-7FE8-230205BD907D}"/>
              </a:ext>
            </a:extLst>
          </p:cNvPr>
          <p:cNvSpPr txBox="1">
            <a:spLocks/>
          </p:cNvSpPr>
          <p:nvPr/>
        </p:nvSpPr>
        <p:spPr>
          <a:xfrm>
            <a:off x="660336" y="1561607"/>
            <a:ext cx="6141517" cy="9107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uk-UA" sz="1800" dirty="0">
                <a:solidFill>
                  <a:schemeClr val="accent1"/>
                </a:solidFill>
              </a:rPr>
              <a:t>Всі решта </a:t>
            </a:r>
            <a:r>
              <a:rPr lang="en-US" sz="1800" dirty="0">
                <a:solidFill>
                  <a:schemeClr val="accent1"/>
                </a:solidFill>
              </a:rPr>
              <a:t>KPI – </a:t>
            </a:r>
            <a:r>
              <a:rPr lang="uk-UA" sz="1800" dirty="0">
                <a:solidFill>
                  <a:schemeClr val="accent1"/>
                </a:solidFill>
              </a:rPr>
              <a:t>як індикатор на що потрібно звернути увагу та ВПЛИВАТИ для ВИТОРГУ</a:t>
            </a:r>
            <a:endParaRPr lang="en-GB" sz="1800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46 500+ стокових фото, фото роялті-фрі та зображень на тему ...">
            <a:extLst>
              <a:ext uri="{FF2B5EF4-FFF2-40B4-BE49-F238E27FC236}">
                <a16:creationId xmlns:a16="http://schemas.microsoft.com/office/drawing/2014/main" id="{21F07B85-3576-00F7-5CF5-366C42BBF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03" y="2582779"/>
            <a:ext cx="4819611" cy="414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Об'єкт 1">
            <a:extLst>
              <a:ext uri="{FF2B5EF4-FFF2-40B4-BE49-F238E27FC236}">
                <a16:creationId xmlns:a16="http://schemas.microsoft.com/office/drawing/2014/main" id="{2090A643-426C-97CC-3DAF-FC7634E22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3358" y="639814"/>
          <a:ext cx="387032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10797332" imgH="15117756" progId="AcroExch.Document.DC">
                  <p:embed/>
                </p:oleObj>
              </mc:Choice>
              <mc:Fallback>
                <p:oleObj name="Acrobat Document" r:id="rId3" imgW="10797332" imgH="15117756" progId="AcroExch.Document.DC">
                  <p:embed/>
                  <p:pic>
                    <p:nvPicPr>
                      <p:cNvPr id="2" name="Об'єкт 1">
                        <a:extLst>
                          <a:ext uri="{FF2B5EF4-FFF2-40B4-BE49-F238E27FC236}">
                            <a16:creationId xmlns:a16="http://schemas.microsoft.com/office/drawing/2014/main" id="{2090A643-426C-97CC-3DAF-FC7634E22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3358" y="639814"/>
                        <a:ext cx="387032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3974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DAA6F-0309-611A-1E9C-24D71247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Index - Monthly Development</a:t>
            </a:r>
            <a:r>
              <a:rPr lang="uk-UA" dirty="0"/>
              <a:t> ПЛАН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EB7B3-4FA7-7AF9-0C37-7BCC148253B5}"/>
              </a:ext>
            </a:extLst>
          </p:cNvPr>
          <p:cNvSpPr txBox="1"/>
          <p:nvPr/>
        </p:nvSpPr>
        <p:spPr>
          <a:xfrm>
            <a:off x="635000" y="941243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 by month and store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9">
            <a:extLst>
              <a:ext uri="{FF2B5EF4-FFF2-40B4-BE49-F238E27FC236}">
                <a16:creationId xmlns:a16="http://schemas.microsoft.com/office/drawing/2014/main" id="{2D5C01AC-4E9C-98FE-0490-D7615B72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347" y="138022"/>
            <a:ext cx="1444406" cy="139654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0CD1C3-13B2-E47F-E147-9398B6105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F0CA8681-DEA9-25AD-1594-6B94C93211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512B6F-F939-B1AA-7FFF-A7FAC1F7D4B6}"/>
              </a:ext>
            </a:extLst>
          </p:cNvPr>
          <p:cNvSpPr txBox="1"/>
          <p:nvPr/>
        </p:nvSpPr>
        <p:spPr>
          <a:xfrm>
            <a:off x="936796" y="5760714"/>
            <a:ext cx="9561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Verdana" panose="020B0604030504040204" pitchFamily="34" charset="0"/>
              </a:rPr>
              <a:t>Маємо гарну тенденцію!!! Пам’ятаємо про інфляцію і намагаємося збільшувати виторги на кожному магазині/кожного дня. </a:t>
            </a:r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ABF968D-1854-6682-D87D-A6FDFDD375EE}"/>
              </a:ext>
            </a:extLst>
          </p:cNvPr>
          <p:cNvGraphicFramePr>
            <a:graphicFrameLocks noGrp="1"/>
          </p:cNvGraphicFramePr>
          <p:nvPr/>
        </p:nvGraphicFramePr>
        <p:xfrm>
          <a:off x="336884" y="1315453"/>
          <a:ext cx="9561550" cy="4062416"/>
        </p:xfrm>
        <a:graphic>
          <a:graphicData uri="http://schemas.openxmlformats.org/drawingml/2006/table">
            <a:tbl>
              <a:tblPr/>
              <a:tblGrid>
                <a:gridCol w="874327">
                  <a:extLst>
                    <a:ext uri="{9D8B030D-6E8A-4147-A177-3AD203B41FA5}">
                      <a16:colId xmlns:a16="http://schemas.microsoft.com/office/drawing/2014/main" val="2055191906"/>
                    </a:ext>
                  </a:extLst>
                </a:gridCol>
                <a:gridCol w="964001">
                  <a:extLst>
                    <a:ext uri="{9D8B030D-6E8A-4147-A177-3AD203B41FA5}">
                      <a16:colId xmlns:a16="http://schemas.microsoft.com/office/drawing/2014/main" val="708489802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8196650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67800704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1883821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91380895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901274027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2553371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69574630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33445989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3118223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8227234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2456206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71496606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33064798"/>
                    </a:ext>
                  </a:extLst>
                </a:gridCol>
              </a:tblGrid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Calendar month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SEP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OCT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JAN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FEB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Total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85342"/>
                  </a:ext>
                </a:extLst>
              </a:tr>
              <a:tr h="622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  <a:endParaRPr lang="uk-UA" sz="800" b="1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95241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J015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829884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J027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Kvadrat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Kyiv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7920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J029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8574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J104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82172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299116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581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782065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J035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Hollywood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Chernigiv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6934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J050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66,4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448363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J121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39908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     Overall Result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7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81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20C2-FC17-EEA5-8D47-A8B57A61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9D8B6-2829-63CA-5FD9-A64E60BE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</a:t>
            </a:r>
            <a:endParaRPr lang="uk-UA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6B6F0090-BFBE-38A9-EC0B-2C459C05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FD48696-D72C-FC29-201B-28DA223EC38E}"/>
              </a:ext>
            </a:extLst>
          </p:cNvPr>
          <p:cNvGraphicFramePr>
            <a:graphicFrameLocks noGrp="1"/>
          </p:cNvGraphicFramePr>
          <p:nvPr/>
        </p:nvGraphicFramePr>
        <p:xfrm>
          <a:off x="320843" y="1010653"/>
          <a:ext cx="11191708" cy="5069309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939142572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599017144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404146055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343691803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14099742"/>
                    </a:ext>
                  </a:extLst>
                </a:gridCol>
                <a:gridCol w="533491">
                  <a:extLst>
                    <a:ext uri="{9D8B030D-6E8A-4147-A177-3AD203B41FA5}">
                      <a16:colId xmlns:a16="http://schemas.microsoft.com/office/drawing/2014/main" val="38986123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353926993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548723256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2175747578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3438346361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215918582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1733957721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23331624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529261247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1562569729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411590813"/>
                    </a:ext>
                  </a:extLst>
                </a:gridCol>
              </a:tblGrid>
              <a:tr h="7381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5002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101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1017DISTR06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70 726,3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47 806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816 457,2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622 079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719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53 407,0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40 845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603 052,9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521 019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0382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95 657,7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67 322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1 421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1 068 709,9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852 825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591583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54 793,0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39 886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589 855,1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464 515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59460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1017DISTR10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53 830,6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38 200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619 459,1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510 020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6864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328 414,5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234 059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3 697 534,3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2 970 458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53398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79 366,3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54 022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946 287,4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716 782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2559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123 938,8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78 257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1 172 012,4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842 947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25842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86 183,3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56 832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910 654,7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656 481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1 387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0067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1017DISTR03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93 849,8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62 034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896 406,1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670 359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1 337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967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76 363,2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51 758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718 836,8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547 676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4710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459 701,4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302 903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4 644 197,3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3 434 245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50041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699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101701B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98060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J300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Ukraine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0169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85831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9760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74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12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5A90-B840-AAB2-6524-26F46D72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DCA82-E013-4AD2-D890-55350369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Kyiv1 stores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D49CB-23AD-4471-840D-3C09167754E7}"/>
              </a:ext>
            </a:extLst>
          </p:cNvPr>
          <p:cNvSpPr txBox="1"/>
          <p:nvPr/>
        </p:nvSpPr>
        <p:spPr>
          <a:xfrm>
            <a:off x="769878" y="1016905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Total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764B182D-FCAC-C575-702F-8C08FEAC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45D36D44-E95A-2D95-8946-B364ADD27C29}"/>
              </a:ext>
            </a:extLst>
          </p:cNvPr>
          <p:cNvGraphicFramePr>
            <a:graphicFrameLocks noGrp="1"/>
          </p:cNvGraphicFramePr>
          <p:nvPr/>
        </p:nvGraphicFramePr>
        <p:xfrm>
          <a:off x="320843" y="1324682"/>
          <a:ext cx="11191705" cy="3512020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367021749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3249484179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78419148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160687483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4238467572"/>
                    </a:ext>
                  </a:extLst>
                </a:gridCol>
                <a:gridCol w="533490">
                  <a:extLst>
                    <a:ext uri="{9D8B030D-6E8A-4147-A177-3AD203B41FA5}">
                      <a16:colId xmlns:a16="http://schemas.microsoft.com/office/drawing/2014/main" val="206906890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84562409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37891192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94466012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362104297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667567983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34162677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133131988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477002443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171264524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207057285"/>
                    </a:ext>
                  </a:extLst>
                </a:gridCol>
              </a:tblGrid>
              <a:tr h="7701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5895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7016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3 531,3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2 495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44 606,2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35 088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52173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3 875,4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46 610,3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45 959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1 014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488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9 387,2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7 497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117 364,4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05055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3 339,2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1 985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41 839,6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25 335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1 651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41820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3 994,6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2 740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48 423,4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37 546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239,0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093841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0703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8 983,7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5 054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1 778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105 612,4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70 293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2302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J035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4 337,4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51 981,9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48 284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74946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J050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7 959,7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190,0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6 648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43 312,0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44 960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4403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98064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5224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1123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567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27512B-83B3-FF00-3841-F17F1C3EAA38}"/>
              </a:ext>
            </a:extLst>
          </p:cNvPr>
          <p:cNvSpPr txBox="1"/>
          <p:nvPr/>
        </p:nvSpPr>
        <p:spPr>
          <a:xfrm>
            <a:off x="190678" y="5071653"/>
            <a:ext cx="119524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J015 –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uk-UA" sz="1200" b="1" dirty="0"/>
          </a:p>
          <a:p>
            <a:r>
              <a:rPr lang="en-US" sz="1400" dirty="0"/>
              <a:t>J027 -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uk-UA" sz="1200" b="1" dirty="0"/>
          </a:p>
          <a:p>
            <a:r>
              <a:rPr lang="en-US" sz="1400" dirty="0"/>
              <a:t>J</a:t>
            </a:r>
            <a:r>
              <a:rPr lang="uk-UA" sz="1400" dirty="0"/>
              <a:t>109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compl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S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45622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AD83-EBD3-5EB7-A4D5-F4681444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13013-A011-C0CA-797C-C751D5D4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Performance by Product area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6EA63-560C-6252-8E09-F8C828155CBA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B8E73EE3-4CB6-1CFA-DD8B-87020C79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338" y="345649"/>
            <a:ext cx="1374729" cy="13513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9D0EFE-9E13-6E9C-12F3-D11E73F87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3D880180-A850-4703-CE19-3AD05432AC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8D51A33-D57B-B00C-6E27-C21EE8AE3D82}"/>
              </a:ext>
            </a:extLst>
          </p:cNvPr>
          <p:cNvGraphicFramePr>
            <a:graphicFrameLocks noGrp="1"/>
          </p:cNvGraphicFramePr>
          <p:nvPr/>
        </p:nvGraphicFramePr>
        <p:xfrm>
          <a:off x="293156" y="1360376"/>
          <a:ext cx="9828789" cy="3836936"/>
        </p:xfrm>
        <a:graphic>
          <a:graphicData uri="http://schemas.openxmlformats.org/drawingml/2006/table">
            <a:tbl>
              <a:tblPr/>
              <a:tblGrid>
                <a:gridCol w="667657">
                  <a:extLst>
                    <a:ext uri="{9D8B030D-6E8A-4147-A177-3AD203B41FA5}">
                      <a16:colId xmlns:a16="http://schemas.microsoft.com/office/drawing/2014/main" val="1146640661"/>
                    </a:ext>
                  </a:extLst>
                </a:gridCol>
                <a:gridCol w="941287">
                  <a:extLst>
                    <a:ext uri="{9D8B030D-6E8A-4147-A177-3AD203B41FA5}">
                      <a16:colId xmlns:a16="http://schemas.microsoft.com/office/drawing/2014/main" val="4227452340"/>
                    </a:ext>
                  </a:extLst>
                </a:gridCol>
                <a:gridCol w="645766">
                  <a:extLst>
                    <a:ext uri="{9D8B030D-6E8A-4147-A177-3AD203B41FA5}">
                      <a16:colId xmlns:a16="http://schemas.microsoft.com/office/drawing/2014/main" val="465330828"/>
                    </a:ext>
                  </a:extLst>
                </a:gridCol>
                <a:gridCol w="656712">
                  <a:extLst>
                    <a:ext uri="{9D8B030D-6E8A-4147-A177-3AD203B41FA5}">
                      <a16:colId xmlns:a16="http://schemas.microsoft.com/office/drawing/2014/main" val="1100392876"/>
                    </a:ext>
                  </a:extLst>
                </a:gridCol>
                <a:gridCol w="689547">
                  <a:extLst>
                    <a:ext uri="{9D8B030D-6E8A-4147-A177-3AD203B41FA5}">
                      <a16:colId xmlns:a16="http://schemas.microsoft.com/office/drawing/2014/main" val="2631170191"/>
                    </a:ext>
                  </a:extLst>
                </a:gridCol>
                <a:gridCol w="415918">
                  <a:extLst>
                    <a:ext uri="{9D8B030D-6E8A-4147-A177-3AD203B41FA5}">
                      <a16:colId xmlns:a16="http://schemas.microsoft.com/office/drawing/2014/main" val="716605409"/>
                    </a:ext>
                  </a:extLst>
                </a:gridCol>
                <a:gridCol w="864671">
                  <a:extLst>
                    <a:ext uri="{9D8B030D-6E8A-4147-A177-3AD203B41FA5}">
                      <a16:colId xmlns:a16="http://schemas.microsoft.com/office/drawing/2014/main" val="3647574718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3566326369"/>
                    </a:ext>
                  </a:extLst>
                </a:gridCol>
                <a:gridCol w="853726">
                  <a:extLst>
                    <a:ext uri="{9D8B030D-6E8A-4147-A177-3AD203B41FA5}">
                      <a16:colId xmlns:a16="http://schemas.microsoft.com/office/drawing/2014/main" val="1869216652"/>
                    </a:ext>
                  </a:extLst>
                </a:gridCol>
                <a:gridCol w="996013">
                  <a:extLst>
                    <a:ext uri="{9D8B030D-6E8A-4147-A177-3AD203B41FA5}">
                      <a16:colId xmlns:a16="http://schemas.microsoft.com/office/drawing/2014/main" val="3875873766"/>
                    </a:ext>
                  </a:extLst>
                </a:gridCol>
                <a:gridCol w="788055">
                  <a:extLst>
                    <a:ext uri="{9D8B030D-6E8A-4147-A177-3AD203B41FA5}">
                      <a16:colId xmlns:a16="http://schemas.microsoft.com/office/drawing/2014/main" val="2991895421"/>
                    </a:ext>
                  </a:extLst>
                </a:gridCol>
                <a:gridCol w="974123">
                  <a:extLst>
                    <a:ext uri="{9D8B030D-6E8A-4147-A177-3AD203B41FA5}">
                      <a16:colId xmlns:a16="http://schemas.microsoft.com/office/drawing/2014/main" val="1557037270"/>
                    </a:ext>
                  </a:extLst>
                </a:gridCol>
                <a:gridCol w="755219">
                  <a:extLst>
                    <a:ext uri="{9D8B030D-6E8A-4147-A177-3AD203B41FA5}">
                      <a16:colId xmlns:a16="http://schemas.microsoft.com/office/drawing/2014/main" val="2538369822"/>
                    </a:ext>
                  </a:extLst>
                </a:gridCol>
              </a:tblGrid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J027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J104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J035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J050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J121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Overall Result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7916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35989"/>
                  </a:ext>
                </a:extLst>
              </a:tr>
              <a:tr h="458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7100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37400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133,0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498,2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40094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4431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76554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textiles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89,8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317,7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43298"/>
                  </a:ext>
                </a:extLst>
              </a:tr>
              <a:tr h="181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1785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and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pillows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364,0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8898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365804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67919"/>
                  </a:ext>
                </a:extLst>
              </a:tr>
              <a:tr h="343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379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227,1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2816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7694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215,6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0840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341,9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9862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 textiles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247,2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53449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164,4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56576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 and pillows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45425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357391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277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0B2C88-80A6-99EE-CF20-766007400BB3}"/>
              </a:ext>
            </a:extLst>
          </p:cNvPr>
          <p:cNvSpPr txBox="1"/>
          <p:nvPr/>
        </p:nvSpPr>
        <p:spPr>
          <a:xfrm>
            <a:off x="293156" y="5431176"/>
            <a:ext cx="99256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Зверніть увагу: по багатьом магазинам є падіння в групі -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Home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textiles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 та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Duvets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and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pillows</a:t>
            </a:r>
            <a:endParaRPr lang="uk-UA" sz="1200" b="1" i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Фокус на  </a:t>
            </a:r>
            <a:r>
              <a:rPr lang="en-US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J015. J027. J035. J029</a:t>
            </a:r>
            <a:endParaRPr lang="uk-UA" sz="1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dirty="0"/>
              <a:t> 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09490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27FCA-89BC-7F81-E850-A18F842E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Productivity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C8A2C-4410-B50E-047F-A1F1FDBD5255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9447944F-F173-DA8D-1393-111715D3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722" y="160558"/>
            <a:ext cx="994179" cy="9541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B7CEF-B9F4-E362-F826-46F3322D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9779" y="57160"/>
            <a:ext cx="1109678" cy="1215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7EBA2975-843A-99A8-FE4B-5527406299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9900" y="160559"/>
            <a:ext cx="1147067" cy="954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BC6E82-89CF-6627-FC5E-A84F3F117F2E}"/>
              </a:ext>
            </a:extLst>
          </p:cNvPr>
          <p:cNvSpPr txBox="1"/>
          <p:nvPr/>
        </p:nvSpPr>
        <p:spPr>
          <a:xfrm>
            <a:off x="7591049" y="2170665"/>
            <a:ext cx="45158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 Посил один: </a:t>
            </a:r>
          </a:p>
          <a:p>
            <a:pPr algn="ctr"/>
            <a:r>
              <a:rPr lang="uk-UA" dirty="0"/>
              <a:t>має бути баланс по продуктивності</a:t>
            </a:r>
          </a:p>
          <a:p>
            <a:pPr algn="ctr"/>
            <a:endParaRPr lang="uk-UA" dirty="0"/>
          </a:p>
          <a:p>
            <a:pPr algn="ctr"/>
            <a:r>
              <a:rPr lang="uk-UA" dirty="0"/>
              <a:t>Зверніть увагу </a:t>
            </a:r>
          </a:p>
          <a:p>
            <a:pPr algn="ctr"/>
            <a:r>
              <a:rPr lang="uk-UA" dirty="0"/>
              <a:t>на години в неробочий час, в випадку </a:t>
            </a:r>
            <a:r>
              <a:rPr lang="uk-UA" dirty="0" err="1"/>
              <a:t>тривог</a:t>
            </a:r>
            <a:r>
              <a:rPr lang="uk-UA" dirty="0"/>
              <a:t> зранку, не потрібно бути на магазині і </a:t>
            </a:r>
            <a:r>
              <a:rPr lang="uk-UA" dirty="0" err="1"/>
              <a:t>букувати</a:t>
            </a:r>
            <a:r>
              <a:rPr lang="uk-UA" dirty="0"/>
              <a:t> години. </a:t>
            </a: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5C80AA8-A8E4-28A8-ACE9-646E361EB4C1}"/>
              </a:ext>
            </a:extLst>
          </p:cNvPr>
          <p:cNvGraphicFramePr>
            <a:graphicFrameLocks noGrp="1"/>
          </p:cNvGraphicFramePr>
          <p:nvPr/>
        </p:nvGraphicFramePr>
        <p:xfrm>
          <a:off x="529387" y="1402605"/>
          <a:ext cx="6777792" cy="2455522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981745024"/>
                    </a:ext>
                  </a:extLst>
                </a:gridCol>
                <a:gridCol w="1743233">
                  <a:extLst>
                    <a:ext uri="{9D8B030D-6E8A-4147-A177-3AD203B41FA5}">
                      <a16:colId xmlns:a16="http://schemas.microsoft.com/office/drawing/2014/main" val="273812294"/>
                    </a:ext>
                  </a:extLst>
                </a:gridCol>
                <a:gridCol w="663470">
                  <a:extLst>
                    <a:ext uri="{9D8B030D-6E8A-4147-A177-3AD203B41FA5}">
                      <a16:colId xmlns:a16="http://schemas.microsoft.com/office/drawing/2014/main" val="1854348402"/>
                    </a:ext>
                  </a:extLst>
                </a:gridCol>
                <a:gridCol w="533378">
                  <a:extLst>
                    <a:ext uri="{9D8B030D-6E8A-4147-A177-3AD203B41FA5}">
                      <a16:colId xmlns:a16="http://schemas.microsoft.com/office/drawing/2014/main" val="419230137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308127719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299624574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1280462240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3914010634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3741372204"/>
                    </a:ext>
                  </a:extLst>
                </a:gridCol>
              </a:tblGrid>
              <a:tr h="6308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0769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8202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2 753,3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0381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2 594,7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2 519,7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45980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3 103,9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3 099,2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69681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2 810,3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3 007,8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15011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2 450,2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2 735,1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28333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2 766,4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2 846,3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07803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2 978,4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2 780,8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4266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3 452,8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2 923,2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2517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3 747,6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3 134,1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47229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2 991,0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3 034,9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692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3 688,1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3 425,0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0314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3 383,8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3 060,9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448705"/>
                  </a:ext>
                </a:extLst>
              </a:tr>
              <a:tr h="136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3 097,3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2 962,6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608951"/>
                  </a:ext>
                </a:extLst>
              </a:tr>
            </a:tbl>
          </a:graphicData>
        </a:graphic>
      </p:graphicFrame>
      <p:graphicFrame>
        <p:nvGraphicFramePr>
          <p:cNvPr id="8" name="Таблиця 7">
            <a:extLst>
              <a:ext uri="{FF2B5EF4-FFF2-40B4-BE49-F238E27FC236}">
                <a16:creationId xmlns:a16="http://schemas.microsoft.com/office/drawing/2014/main" id="{66649935-8030-371C-6211-FE427DFE3F2D}"/>
              </a:ext>
            </a:extLst>
          </p:cNvPr>
          <p:cNvGraphicFramePr>
            <a:graphicFrameLocks noGrp="1"/>
          </p:cNvGraphicFramePr>
          <p:nvPr/>
        </p:nvGraphicFramePr>
        <p:xfrm>
          <a:off x="529386" y="3936955"/>
          <a:ext cx="6777791" cy="2308324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490974013"/>
                    </a:ext>
                  </a:extLst>
                </a:gridCol>
                <a:gridCol w="1743232">
                  <a:extLst>
                    <a:ext uri="{9D8B030D-6E8A-4147-A177-3AD203B41FA5}">
                      <a16:colId xmlns:a16="http://schemas.microsoft.com/office/drawing/2014/main" val="2926188809"/>
                    </a:ext>
                  </a:extLst>
                </a:gridCol>
                <a:gridCol w="663469">
                  <a:extLst>
                    <a:ext uri="{9D8B030D-6E8A-4147-A177-3AD203B41FA5}">
                      <a16:colId xmlns:a16="http://schemas.microsoft.com/office/drawing/2014/main" val="4179621245"/>
                    </a:ext>
                  </a:extLst>
                </a:gridCol>
                <a:gridCol w="533377">
                  <a:extLst>
                    <a:ext uri="{9D8B030D-6E8A-4147-A177-3AD203B41FA5}">
                      <a16:colId xmlns:a16="http://schemas.microsoft.com/office/drawing/2014/main" val="1362962685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724897377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361573490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4053820178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1388484601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4035327417"/>
                    </a:ext>
                  </a:extLst>
                </a:gridCol>
              </a:tblGrid>
              <a:tr h="707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6601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54411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2 341,0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2 484,7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711271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2 367,2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2 422,1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354842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3 210,3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5581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2 264,5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2 442,2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6040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1 879,3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2 400,0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7875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2688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4 566,1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4 258,5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672937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2 153,4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2 191,8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1853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142,5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1 958,3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404290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18253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F0A32B-D730-03C7-296E-3F3E6E997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571" y="4675616"/>
            <a:ext cx="1684808" cy="14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7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YSK indoor FY27_compressed" id="{C2CC1DF4-A3CF-D843-A251-4CFB8F5FE977}" vid="{965AC394-B3C6-A34C-88B0-DD5A296B9B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195D3-AA43-47D5-B789-72A185EB4E16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e6c36b7-4ae1-4e82-a4c6-474e7851652c"/>
  </ds:schemaRefs>
</ds:datastoreItem>
</file>

<file path=customXml/itemProps2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indoor FY27</Template>
  <TotalTime>0</TotalTime>
  <Words>2525</Words>
  <Application>Microsoft Office PowerPoint</Application>
  <PresentationFormat>Широкий екран</PresentationFormat>
  <Paragraphs>1335</Paragraphs>
  <Slides>12</Slides>
  <Notes>1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8" baseType="lpstr">
      <vt:lpstr>Arial</vt:lpstr>
      <vt:lpstr>Calibri</vt:lpstr>
      <vt:lpstr>Verdana</vt:lpstr>
      <vt:lpstr>Wingdings</vt:lpstr>
      <vt:lpstr>Title</vt:lpstr>
      <vt:lpstr>Adobe Acrobat Document</vt:lpstr>
      <vt:lpstr>Kyiv 1</vt:lpstr>
      <vt:lpstr>Презентація PowerPoint</vt:lpstr>
      <vt:lpstr>Презентація PowerPoint</vt:lpstr>
      <vt:lpstr>Домовленості:</vt:lpstr>
      <vt:lpstr>Презентація PowerPoint</vt:lpstr>
      <vt:lpstr>Презентація PowerPoint</vt:lpstr>
      <vt:lpstr>Виторг основна ціль</vt:lpstr>
      <vt:lpstr>Sales Index - Monthly Development ПЛАН</vt:lpstr>
      <vt:lpstr>Performance District </vt:lpstr>
      <vt:lpstr>Performance District Kyiv1 stores</vt:lpstr>
      <vt:lpstr>Sales Performance by Product area</vt:lpstr>
      <vt:lpstr>Productivity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Lysdal</dc:creator>
  <cp:lastModifiedBy>Adam Sadkevich</cp:lastModifiedBy>
  <cp:revision>1</cp:revision>
  <dcterms:created xsi:type="dcterms:W3CDTF">2026-07-09T12:59:14Z</dcterms:created>
  <dcterms:modified xsi:type="dcterms:W3CDTF">2026-09-03T13:29:30Z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