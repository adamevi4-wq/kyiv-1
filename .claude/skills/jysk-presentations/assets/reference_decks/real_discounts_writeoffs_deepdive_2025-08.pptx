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handoutMasterIdLst>
    <p:handoutMasterId r:id="rId25"/>
  </p:handoutMasterIdLst>
  <p:sldIdLst>
    <p:sldId id="16774148" r:id="rId5"/>
    <p:sldId id="16774149" r:id="rId6"/>
    <p:sldId id="16774150" r:id="rId7"/>
    <p:sldId id="256" r:id="rId8"/>
    <p:sldId id="257" r:id="rId9"/>
    <p:sldId id="16774137" r:id="rId10"/>
    <p:sldId id="16774138" r:id="rId11"/>
    <p:sldId id="16774134" r:id="rId12"/>
    <p:sldId id="16774135" r:id="rId13"/>
    <p:sldId id="16774136" r:id="rId14"/>
    <p:sldId id="16774139" r:id="rId15"/>
    <p:sldId id="16774140" r:id="rId16"/>
    <p:sldId id="16774141" r:id="rId17"/>
    <p:sldId id="16774142" r:id="rId18"/>
    <p:sldId id="16774143" r:id="rId19"/>
    <p:sldId id="16774144" r:id="rId20"/>
    <p:sldId id="16774145" r:id="rId21"/>
    <p:sldId id="16774146" r:id="rId22"/>
    <p:sldId id="16774147" r:id="rId2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72B1"/>
    <a:srgbClr val="4F83BF"/>
    <a:srgbClr val="083D88"/>
    <a:srgbClr val="796650"/>
    <a:srgbClr val="143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61" autoAdjust="0"/>
    <p:restoredTop sz="95238" autoAdjust="0"/>
  </p:normalViewPr>
  <p:slideViewPr>
    <p:cSldViewPr snapToGrid="0">
      <p:cViewPr varScale="1">
        <p:scale>
          <a:sx n="63" d="100"/>
          <a:sy n="63" d="100"/>
        </p:scale>
        <p:origin x="132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8B90A9-72E6-ADCD-32D1-6BD45348D8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3A405-DCAC-259B-0B2A-2D52A03EA8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2B490-A9E2-468B-BF45-7A385C5581B0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0A538-931F-E7AA-2366-777FBE7FD9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51AC9-0389-85E5-7FC9-DB70B46F26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C4405-7BB2-4967-AA21-1BEC70774A7D}" type="slidenum">
              <a:rPr lang="en-GB" smtClean="0"/>
              <a:t>‹№›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680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CB3BA-6D19-4791-B90A-7BCACC129D79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230B7-F7D9-462B-9D82-1201BD8A139C}" type="slidenum">
              <a:rPr lang="en-GB" smtClean="0"/>
              <a:t>‹№›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7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10" Type="http://schemas.openxmlformats.org/officeDocument/2006/relationships/image" Target="../media/image1.jp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4BAE88-8D4C-8B8A-6E71-2DCFF94C55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"/>
          <a:stretch/>
        </p:blipFill>
        <p:spPr>
          <a:xfrm>
            <a:off x="0" y="0"/>
            <a:ext cx="12192000" cy="686595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A2AB264-0DDD-4213-AF4A-DEF5673070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2564" y="3751333"/>
            <a:ext cx="5325796" cy="71398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title</a:t>
            </a:r>
            <a:endParaRPr lang="en-DK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494D6453-18A4-43B8-826C-0775693ECF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550" y="2081451"/>
            <a:ext cx="5360670" cy="1484709"/>
          </a:xfrm>
        </p:spPr>
        <p:txBody>
          <a:bodyPr anchor="b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DK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AB6F159B-DA78-4C80-9405-B73BD9FAD0E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A64632-625C-CB89-3418-E41306FB4D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30CA04-B88D-426B-1120-2FBD1044C6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6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1832BB-DF19-DB39-D5AD-1F39EA82E1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-1" y="0"/>
            <a:ext cx="12214331" cy="686595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5262" y="643379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D3C34B-A5BC-40D3-8A13-AB5D7F42FB15}" type="slidenum">
              <a:rPr lang="en-GB" noProof="0" smtClean="0"/>
              <a:t>‹№›</a:t>
            </a:fld>
            <a:endParaRPr lang="en-GB" noProof="0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FBE7AF3-E254-44A9-B79F-0093CB194E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493" y="824789"/>
            <a:ext cx="4179671" cy="20812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AGENDA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1ECAA83-CFCE-4788-8809-758BC6D441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04154" y="909391"/>
            <a:ext cx="6110177" cy="5876925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C5854CB-21B6-4E68-B06C-086DE2601B3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15075" y="1466103"/>
            <a:ext cx="5693387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tx2"/>
              </a:buClr>
              <a:defRPr sz="2000"/>
            </a:lvl1pPr>
            <a:lvl2pPr>
              <a:buClr>
                <a:schemeClr val="tx2"/>
              </a:buClr>
              <a:defRPr sz="1800"/>
            </a:lvl2pPr>
            <a:lvl3pPr>
              <a:buClr>
                <a:schemeClr val="tx2"/>
              </a:buClr>
              <a:defRPr sz="1600"/>
            </a:lvl3pPr>
            <a:lvl4pPr>
              <a:buClr>
                <a:schemeClr val="tx2"/>
              </a:buClr>
              <a:defRPr sz="1400"/>
            </a:lvl4pPr>
            <a:lvl5pPr>
              <a:buClr>
                <a:schemeClr val="tx2"/>
              </a:buCl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48D65B76-0D7D-4B87-9354-B26B83D8793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64DFB3-1D05-3DE4-0D78-0107F3E86B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4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28346"/>
            <a:ext cx="10515600" cy="483423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495794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or Auditorium/ very bright scree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74B668-7C12-9AC7-2FE4-1E14F30281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28346"/>
            <a:ext cx="10515600" cy="483423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9FFB1-EFB4-D484-8F3E-CB8F83DB23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0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of tod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FF6EEF8-79E6-9824-32A8-802F66F2D2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B12AB1E-30FC-5FDB-DC0D-79C992177FF1}"/>
              </a:ext>
            </a:extLst>
          </p:cNvPr>
          <p:cNvSpPr/>
          <p:nvPr userDrawn="1"/>
        </p:nvSpPr>
        <p:spPr>
          <a:xfrm>
            <a:off x="822041" y="1492954"/>
            <a:ext cx="3822908" cy="46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BDF068-07F4-F6FE-138B-D19D1A4AA02F}"/>
              </a:ext>
            </a:extLst>
          </p:cNvPr>
          <p:cNvGrpSpPr/>
          <p:nvPr userDrawn="1"/>
        </p:nvGrpSpPr>
        <p:grpSpPr>
          <a:xfrm>
            <a:off x="4402605" y="3069157"/>
            <a:ext cx="731206" cy="931611"/>
            <a:chOff x="4402605" y="3069157"/>
            <a:chExt cx="731206" cy="931611"/>
          </a:xfrm>
        </p:grpSpPr>
        <p:pic>
          <p:nvPicPr>
            <p:cNvPr id="9" name="Picture 8" descr="A blue circle with a black background&#10;&#10;Description automatically generated">
              <a:extLst>
                <a:ext uri="{FF2B5EF4-FFF2-40B4-BE49-F238E27FC236}">
                  <a16:creationId xmlns:a16="http://schemas.microsoft.com/office/drawing/2014/main" id="{5446A4E9-9B8C-7E2B-5162-376BC21D48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2605" y="3069157"/>
              <a:ext cx="731206" cy="931611"/>
            </a:xfrm>
            <a:prstGeom prst="rect">
              <a:avLst/>
            </a:prstGeom>
          </p:spPr>
        </p:pic>
        <p:pic>
          <p:nvPicPr>
            <p:cNvPr id="26" name="Graphic 25" descr="Chat">
              <a:extLst>
                <a:ext uri="{FF2B5EF4-FFF2-40B4-BE49-F238E27FC236}">
                  <a16:creationId xmlns:a16="http://schemas.microsoft.com/office/drawing/2014/main" id="{1F5D8C8B-1BE9-6BA3-73C4-729C8F61E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57637" y="3167358"/>
              <a:ext cx="621141" cy="621141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40B3DE-62C2-911F-C84D-5CCB206548BA}"/>
              </a:ext>
            </a:extLst>
          </p:cNvPr>
          <p:cNvGrpSpPr/>
          <p:nvPr userDrawn="1"/>
        </p:nvGrpSpPr>
        <p:grpSpPr>
          <a:xfrm>
            <a:off x="4402605" y="5044741"/>
            <a:ext cx="731206" cy="931611"/>
            <a:chOff x="4402605" y="5044741"/>
            <a:chExt cx="731206" cy="931611"/>
          </a:xfrm>
        </p:grpSpPr>
        <p:pic>
          <p:nvPicPr>
            <p:cNvPr id="10" name="Picture 9" descr="A blue circle with a black background&#10;&#10;Description automatically generated">
              <a:extLst>
                <a:ext uri="{FF2B5EF4-FFF2-40B4-BE49-F238E27FC236}">
                  <a16:creationId xmlns:a16="http://schemas.microsoft.com/office/drawing/2014/main" id="{6B0A7CA6-8271-687F-A58E-0AAA46D2EA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2605" y="5044741"/>
              <a:ext cx="731206" cy="931611"/>
            </a:xfrm>
            <a:prstGeom prst="rect">
              <a:avLst/>
            </a:prstGeom>
          </p:spPr>
        </p:pic>
        <p:pic>
          <p:nvPicPr>
            <p:cNvPr id="29" name="Graphic 28" descr="Checkmark">
              <a:extLst>
                <a:ext uri="{FF2B5EF4-FFF2-40B4-BE49-F238E27FC236}">
                  <a16:creationId xmlns:a16="http://schemas.microsoft.com/office/drawing/2014/main" id="{77933BB7-4CD8-830D-8EF9-638A3F774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17838" y="5171390"/>
              <a:ext cx="500737" cy="500737"/>
            </a:xfrm>
            <a:prstGeom prst="rect">
              <a:avLst/>
            </a:prstGeom>
          </p:spPr>
        </p:pic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CD522909-11CC-B04F-95ED-8297602E95AA}"/>
              </a:ext>
            </a:extLst>
          </p:cNvPr>
          <p:cNvSpPr>
            <a:spLocks/>
          </p:cNvSpPr>
          <p:nvPr userDrawn="1"/>
        </p:nvSpPr>
        <p:spPr>
          <a:xfrm>
            <a:off x="5148278" y="604104"/>
            <a:ext cx="6510322" cy="3746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000" b="1" dirty="0">
                <a:solidFill>
                  <a:schemeClr val="bg1"/>
                </a:solidFill>
              </a:rPr>
              <a:t>What do we want to inform about?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b="1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C056CA0-E1FA-E772-B73E-A063A34DF8FC}"/>
              </a:ext>
            </a:extLst>
          </p:cNvPr>
          <p:cNvGrpSpPr/>
          <p:nvPr userDrawn="1"/>
        </p:nvGrpSpPr>
        <p:grpSpPr>
          <a:xfrm>
            <a:off x="4402605" y="1081148"/>
            <a:ext cx="731206" cy="931611"/>
            <a:chOff x="4395506" y="1097235"/>
            <a:chExt cx="731206" cy="931611"/>
          </a:xfrm>
        </p:grpSpPr>
        <p:pic>
          <p:nvPicPr>
            <p:cNvPr id="6" name="Picture 5" descr="A blue circle with a black background&#10;&#10;Description automatically generated">
              <a:extLst>
                <a:ext uri="{FF2B5EF4-FFF2-40B4-BE49-F238E27FC236}">
                  <a16:creationId xmlns:a16="http://schemas.microsoft.com/office/drawing/2014/main" id="{B8F9700D-1B5C-86DB-C5BC-5BF98F4A45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06" y="1097235"/>
              <a:ext cx="731206" cy="931611"/>
            </a:xfrm>
            <a:prstGeom prst="rect">
              <a:avLst/>
            </a:prstGeom>
          </p:spPr>
        </p:pic>
        <p:pic>
          <p:nvPicPr>
            <p:cNvPr id="32" name="Graphic 31" descr="Megaphone">
              <a:extLst>
                <a:ext uri="{FF2B5EF4-FFF2-40B4-BE49-F238E27FC236}">
                  <a16:creationId xmlns:a16="http://schemas.microsoft.com/office/drawing/2014/main" id="{93AC8EE3-08D1-D144-6281-E0E370E96F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460901" y="1152660"/>
              <a:ext cx="602075" cy="602075"/>
            </a:xfrm>
            <a:prstGeom prst="rect">
              <a:avLst/>
            </a:prstGeom>
          </p:spPr>
        </p:pic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8586A7-B45C-A7DA-E192-454D3512C520}"/>
              </a:ext>
            </a:extLst>
          </p:cNvPr>
          <p:cNvCxnSpPr>
            <a:cxnSpLocks/>
          </p:cNvCxnSpPr>
          <p:nvPr userDrawn="1"/>
        </p:nvCxnSpPr>
        <p:spPr>
          <a:xfrm flipH="1">
            <a:off x="4423320" y="2436709"/>
            <a:ext cx="580274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4CB4F5-FCAC-A9C5-2565-6A9C56A8D15A}"/>
              </a:ext>
            </a:extLst>
          </p:cNvPr>
          <p:cNvCxnSpPr>
            <a:cxnSpLocks/>
          </p:cNvCxnSpPr>
          <p:nvPr userDrawn="1"/>
        </p:nvCxnSpPr>
        <p:spPr>
          <a:xfrm flipH="1">
            <a:off x="4423320" y="4418894"/>
            <a:ext cx="580274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DF50911-C999-BF77-E829-3812D0032B92}"/>
              </a:ext>
            </a:extLst>
          </p:cNvPr>
          <p:cNvSpPr txBox="1"/>
          <p:nvPr userDrawn="1"/>
        </p:nvSpPr>
        <p:spPr>
          <a:xfrm>
            <a:off x="476177" y="2771213"/>
            <a:ext cx="36012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i="0" dirty="0">
                <a:solidFill>
                  <a:schemeClr val="bg1"/>
                </a:solidFill>
                <a:latin typeface="Verdana Pro" panose="020B0604030504040204" pitchFamily="34" charset="0"/>
                <a:cs typeface="Verdana Pro Cond Black" panose="020F0502020204030204" pitchFamily="34" charset="0"/>
              </a:rPr>
              <a:t>FOCUS OF TODAY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C2858E-148D-218B-5617-6ED5FD352254}"/>
              </a:ext>
            </a:extLst>
          </p:cNvPr>
          <p:cNvSpPr/>
          <p:nvPr userDrawn="1"/>
        </p:nvSpPr>
        <p:spPr>
          <a:xfrm>
            <a:off x="5233356" y="2588333"/>
            <a:ext cx="6425244" cy="3726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000" b="1" dirty="0">
                <a:solidFill>
                  <a:schemeClr val="bg1"/>
                </a:solidFill>
              </a:rPr>
              <a:t>What do we need to discuss?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E98866-8289-300E-662F-88F252D7C5C2}"/>
              </a:ext>
            </a:extLst>
          </p:cNvPr>
          <p:cNvSpPr/>
          <p:nvPr userDrawn="1"/>
        </p:nvSpPr>
        <p:spPr>
          <a:xfrm>
            <a:off x="5233356" y="4578401"/>
            <a:ext cx="6425244" cy="3721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000" b="1" dirty="0">
                <a:solidFill>
                  <a:schemeClr val="bg1"/>
                </a:solidFill>
              </a:rPr>
              <a:t>What do we need to decide?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8AC9C985-5E6C-3F79-CEC3-61031E69C0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3356" y="978750"/>
            <a:ext cx="6577012" cy="13834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36DFDB1E-52D5-F885-4E89-60D09A71D7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33356" y="2938888"/>
            <a:ext cx="6577012" cy="13747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68125BE6-78E3-7D54-6FA9-BD50EE5E04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33356" y="4972658"/>
            <a:ext cx="6577012" cy="13747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6749F60-752A-AB08-293C-D85669634C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23050" y="6494382"/>
            <a:ext cx="5568950" cy="38596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1439DE-8C0C-323C-F052-AF93DCB176E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3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blue and white gradient&#10;&#10;Description automatically generated">
            <a:extLst>
              <a:ext uri="{FF2B5EF4-FFF2-40B4-BE49-F238E27FC236}">
                <a16:creationId xmlns:a16="http://schemas.microsoft.com/office/drawing/2014/main" id="{1C5CA42E-C3A8-989F-762D-8EBB0F243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66900" y="2453401"/>
            <a:ext cx="8458199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Important message goes here…</a:t>
            </a: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E6A438-202B-9729-2614-ADC57B54DE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1E56F-0588-2EAD-D71A-95A1AD0CD1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46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BDFB037-EAFC-A29C-7CFB-E7517294DA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"/>
          <a:stretch/>
        </p:blipFill>
        <p:spPr>
          <a:xfrm>
            <a:off x="0" y="0"/>
            <a:ext cx="12192000" cy="6865951"/>
          </a:xfrm>
          <a:prstGeom prst="rect">
            <a:avLst/>
          </a:prstGeom>
        </p:spPr>
      </p:pic>
      <p:pic>
        <p:nvPicPr>
          <p:cNvPr id="4" name="Picture 3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9C18DD05-0BCB-DA0C-05C3-0CAE932F08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29425EAC-F417-4243-8CBE-7815E902BD3D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6D57C8-C430-09F9-48EB-6502AA3DA8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04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D4585E-9BD5-9B39-0AD0-87D63DD248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" b="10"/>
          <a:stretch/>
        </p:blipFill>
        <p:spPr>
          <a:xfrm>
            <a:off x="-17644" y="0"/>
            <a:ext cx="12209644" cy="6858000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29425EAC-F417-4243-8CBE-7815E902BD3D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218B1374-9077-22D5-A1B2-8AFD137FD7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7AAB4446-B862-DA1A-2B17-FE0F4900C1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8D4677-6A3C-A568-8EC2-054814303F6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43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C03DC-57CE-C67D-6BF6-123584E3B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" b="8"/>
          <a:stretch/>
        </p:blipFill>
        <p:spPr>
          <a:xfrm>
            <a:off x="0" y="-6243"/>
            <a:ext cx="12192000" cy="6872194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9BE73129-3E9A-4A8E-882E-6E877818BF7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240EC476-6AC8-F84F-1E3A-8D2BD4FFCD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4E6FC86-C1B9-F5D1-0490-9100F8B948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ADA3C-5EEE-FD5B-162B-2977DACEFA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41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FAB3AEE-B7E8-717A-4BED-90D98F1795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697B5348-C605-4EFA-B523-BBCDE4CB3448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28049AFA-1081-4E29-B4DD-504325A71225}"/>
              </a:ext>
            </a:extLst>
          </p:cNvPr>
          <p:cNvSpPr txBox="1">
            <a:spLocks/>
          </p:cNvSpPr>
          <p:nvPr userDrawn="1"/>
        </p:nvSpPr>
        <p:spPr>
          <a:xfrm>
            <a:off x="0" y="6777038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9DC9FE58-65FF-2F05-2F17-2080B7E0C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9EBE188-A4B2-37EA-A0B5-0D8A7987AA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CEEE15-7A9B-75CD-5310-F1E003B954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62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95E0500-F23D-5E74-38F2-58D66BBD7E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1"/>
            <a:ext cx="12191999" cy="6858001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697B5348-C605-4EFA-B523-BBCDE4CB3448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28049AFA-1081-4E29-B4DD-504325A71225}"/>
              </a:ext>
            </a:extLst>
          </p:cNvPr>
          <p:cNvSpPr txBox="1">
            <a:spLocks/>
          </p:cNvSpPr>
          <p:nvPr userDrawn="1"/>
        </p:nvSpPr>
        <p:spPr>
          <a:xfrm>
            <a:off x="0" y="6777038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36F341A2-B1A3-8E87-94CF-85BB332977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3EDAF54-06D1-7CD2-4B94-BCD0AD7009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C222CE-7364-2500-F6FE-8489D1833E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50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94FBE1-ABB9-FA20-355B-5CBAEEB01D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" r="6"/>
          <a:stretch/>
        </p:blipFill>
        <p:spPr>
          <a:xfrm>
            <a:off x="0" y="0"/>
            <a:ext cx="12236824" cy="6865951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3EDC4C9-3863-4C0D-91D4-85391318B252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617C3370-8F87-A801-DD21-5F33A6EAEC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C4CDF0B-919B-6FA9-A990-237EA63D25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B4EACE-76A9-39BE-FAA5-BD7E82E973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69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776413-BBE7-3C55-7F0D-1CE535962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-1" y="0"/>
            <a:ext cx="12292149" cy="6865952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6B17A115-EC5E-4925-AAE6-F1D06A5F98C6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B998193A-F625-DAAC-03B6-30283D4AD8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EF77CC2-640B-C705-D35C-02FD238DC9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3AEB58-ACE8-D69C-B38E-D333C422E2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186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21FD3EC-9247-89F5-2EC2-7E27198F0C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b="3"/>
          <a:stretch/>
        </p:blipFill>
        <p:spPr>
          <a:xfrm>
            <a:off x="-19594" y="1708"/>
            <a:ext cx="12211593" cy="6875274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92BE8DEA-86F6-4095-A615-85838ECED055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107A9F0D-4264-7D63-8348-86F7760D2F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00058CA-F44C-4A8B-FD0A-8B24B37E73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376FAB-C7A4-03B2-4075-2304C8D5C5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5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8B16FC-1201-9FEC-4990-A4CC0F179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" r="11"/>
          <a:stretch/>
        </p:blipFill>
        <p:spPr>
          <a:xfrm>
            <a:off x="-6581" y="-1"/>
            <a:ext cx="12212758" cy="6865953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92FFB5F2-CFC6-4469-BB2B-8DFE310B1E7F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6" name="Picture 5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C9BD74E6-966E-BE9B-8B46-B95FE9F8AB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28B03895-D1EF-BE4F-6183-B936838334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1FFC4-031E-7D67-24CF-6C793DC42D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12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Large Placehol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D11DE8-2273-6B65-DDC3-ED4868A3F9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" r="11"/>
          <a:stretch/>
        </p:blipFill>
        <p:spPr>
          <a:xfrm>
            <a:off x="-14178" y="-1"/>
            <a:ext cx="12212723" cy="6865951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876925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tx2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51785-B66B-D3E7-C7E2-776B671D58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1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Large Placehol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138F53-9B17-02AC-B8DC-687A1ADB3F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>
          <a:xfrm>
            <a:off x="-1" y="1"/>
            <a:ext cx="12206177" cy="6851632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949936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912E2A-3B02-0482-37FA-993FC2A267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027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Ipad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957898A-9EF0-8D9C-4E6F-5B1A0013D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-1" y="0"/>
            <a:ext cx="1219067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27012B-92E0-9227-F0C2-21AA505C7A06}"/>
              </a:ext>
            </a:extLst>
          </p:cNvPr>
          <p:cNvSpPr/>
          <p:nvPr userDrawn="1"/>
        </p:nvSpPr>
        <p:spPr>
          <a:xfrm>
            <a:off x="4829696" y="1219549"/>
            <a:ext cx="6201294" cy="4449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BC00F2C-AEB6-4598-84A8-23D79B2BF1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9696" y="1236252"/>
            <a:ext cx="6201294" cy="4305992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219549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1B2806-E722-4CDF-8444-83E50EEAEF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517" y="1024371"/>
            <a:ext cx="6597651" cy="4736869"/>
          </a:xfrm>
          <a:prstGeom prst="roundRect">
            <a:avLst>
              <a:gd name="adj" fmla="val 6747"/>
            </a:avLst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3CAAA9-3098-CADD-2B83-1015485670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89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phone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E06D93-3430-7394-8682-A714559755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9" cy="685799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BFE87E-0B5B-A963-7113-EE93A4818243}"/>
              </a:ext>
            </a:extLst>
          </p:cNvPr>
          <p:cNvSpPr/>
          <p:nvPr userDrawn="1"/>
        </p:nvSpPr>
        <p:spPr>
          <a:xfrm rot="16200000">
            <a:off x="2997512" y="2047818"/>
            <a:ext cx="6053999" cy="28255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E8BA05A4-F97C-D367-B970-935B735669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6291" y="400761"/>
            <a:ext cx="2985910" cy="6103200"/>
          </a:xfrm>
          <a:prstGeom prst="rect">
            <a:avLst/>
          </a:prstGeom>
        </p:spPr>
      </p:pic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219549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1E92668-8672-9949-2A08-BEC0721EFA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45161" y="538162"/>
            <a:ext cx="2688171" cy="5824135"/>
          </a:xfrm>
          <a:custGeom>
            <a:avLst/>
            <a:gdLst>
              <a:gd name="connsiteX0" fmla="*/ 0 w 2905125"/>
              <a:gd name="connsiteY0" fmla="*/ 484197 h 6088063"/>
              <a:gd name="connsiteX1" fmla="*/ 484197 w 2905125"/>
              <a:gd name="connsiteY1" fmla="*/ 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0 w 2905125"/>
              <a:gd name="connsiteY0" fmla="*/ 484197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153987 w 2905125"/>
              <a:gd name="connsiteY0" fmla="*/ 681038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153987 w 2905125"/>
              <a:gd name="connsiteY8" fmla="*/ 681038 h 6088063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905125 w 2905125"/>
              <a:gd name="connsiteY3" fmla="*/ 34132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840037 w 2905125"/>
              <a:gd name="connsiteY3" fmla="*/ 38576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28 w 2840037"/>
              <a:gd name="connsiteY5" fmla="*/ 5945188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37 w 2840037"/>
              <a:gd name="connsiteY5" fmla="*/ 5824537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824537"/>
              <a:gd name="connsiteX1" fmla="*/ 501650 w 2840037"/>
              <a:gd name="connsiteY1" fmla="*/ 9525 h 5824537"/>
              <a:gd name="connsiteX2" fmla="*/ 2406650 w 2840037"/>
              <a:gd name="connsiteY2" fmla="*/ 0 h 5824537"/>
              <a:gd name="connsiteX3" fmla="*/ 2840037 w 2840037"/>
              <a:gd name="connsiteY3" fmla="*/ 385762 h 5824537"/>
              <a:gd name="connsiteX4" fmla="*/ 2840037 w 2840037"/>
              <a:gd name="connsiteY4" fmla="*/ 5400674 h 5824537"/>
              <a:gd name="connsiteX5" fmla="*/ 2420937 w 2840037"/>
              <a:gd name="connsiteY5" fmla="*/ 5824537 h 5824537"/>
              <a:gd name="connsiteX6" fmla="*/ 482600 w 2840037"/>
              <a:gd name="connsiteY6" fmla="*/ 5805487 h 5824537"/>
              <a:gd name="connsiteX7" fmla="*/ 0 w 2840037"/>
              <a:gd name="connsiteY7" fmla="*/ 5460991 h 5824537"/>
              <a:gd name="connsiteX8" fmla="*/ 153987 w 2840037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2120 w 2688170"/>
              <a:gd name="connsiteY0" fmla="*/ 538163 h 5824537"/>
              <a:gd name="connsiteX1" fmla="*/ 349783 w 2688170"/>
              <a:gd name="connsiteY1" fmla="*/ 9525 h 5824537"/>
              <a:gd name="connsiteX2" fmla="*/ 2254783 w 2688170"/>
              <a:gd name="connsiteY2" fmla="*/ 0 h 5824537"/>
              <a:gd name="connsiteX3" fmla="*/ 2688170 w 2688170"/>
              <a:gd name="connsiteY3" fmla="*/ 385762 h 5824537"/>
              <a:gd name="connsiteX4" fmla="*/ 2688170 w 2688170"/>
              <a:gd name="connsiteY4" fmla="*/ 5400674 h 5824537"/>
              <a:gd name="connsiteX5" fmla="*/ 2269070 w 2688170"/>
              <a:gd name="connsiteY5" fmla="*/ 5824537 h 5824537"/>
              <a:gd name="connsiteX6" fmla="*/ 330733 w 2688170"/>
              <a:gd name="connsiteY6" fmla="*/ 5805487 h 5824537"/>
              <a:gd name="connsiteX7" fmla="*/ 2120 w 2688170"/>
              <a:gd name="connsiteY7" fmla="*/ 5424488 h 5824537"/>
              <a:gd name="connsiteX8" fmla="*/ 2120 w 2688170"/>
              <a:gd name="connsiteY8" fmla="*/ 538163 h 5824537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15011"/>
              <a:gd name="connsiteX1" fmla="*/ 349783 w 2688170"/>
              <a:gd name="connsiteY1" fmla="*/ 9525 h 5815011"/>
              <a:gd name="connsiteX2" fmla="*/ 2254783 w 2688170"/>
              <a:gd name="connsiteY2" fmla="*/ 0 h 5815011"/>
              <a:gd name="connsiteX3" fmla="*/ 2688170 w 2688170"/>
              <a:gd name="connsiteY3" fmla="*/ 385762 h 5815011"/>
              <a:gd name="connsiteX4" fmla="*/ 2688170 w 2688170"/>
              <a:gd name="connsiteY4" fmla="*/ 5400674 h 5815011"/>
              <a:gd name="connsiteX5" fmla="*/ 2250020 w 2688170"/>
              <a:gd name="connsiteY5" fmla="*/ 5815011 h 5815011"/>
              <a:gd name="connsiteX6" fmla="*/ 330733 w 2688170"/>
              <a:gd name="connsiteY6" fmla="*/ 5805487 h 5815011"/>
              <a:gd name="connsiteX7" fmla="*/ 2120 w 2688170"/>
              <a:gd name="connsiteY7" fmla="*/ 5424488 h 5815011"/>
              <a:gd name="connsiteX8" fmla="*/ 2120 w 2688170"/>
              <a:gd name="connsiteY8" fmla="*/ 538163 h 5815011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445032 w 2688170"/>
              <a:gd name="connsiteY2" fmla="*/ 9524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1026057 w 2688170"/>
              <a:gd name="connsiteY3" fmla="*/ 4762 h 5819372"/>
              <a:gd name="connsiteX4" fmla="*/ 2254783 w 2688170"/>
              <a:gd name="connsiteY4" fmla="*/ 0 h 5819372"/>
              <a:gd name="connsiteX5" fmla="*/ 2688170 w 2688170"/>
              <a:gd name="connsiteY5" fmla="*/ 385762 h 5819372"/>
              <a:gd name="connsiteX6" fmla="*/ 2678645 w 2688170"/>
              <a:gd name="connsiteY6" fmla="*/ 5400674 h 5819372"/>
              <a:gd name="connsiteX7" fmla="*/ 2250020 w 2688170"/>
              <a:gd name="connsiteY7" fmla="*/ 5815011 h 5819372"/>
              <a:gd name="connsiteX8" fmla="*/ 330733 w 2688170"/>
              <a:gd name="connsiteY8" fmla="*/ 5805487 h 5819372"/>
              <a:gd name="connsiteX9" fmla="*/ 2120 w 2688170"/>
              <a:gd name="connsiteY9" fmla="*/ 5424488 h 5819372"/>
              <a:gd name="connsiteX10" fmla="*/ 2120 w 2688170"/>
              <a:gd name="connsiteY10" fmla="*/ 538163 h 5819372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1026057 w 2688170"/>
              <a:gd name="connsiteY3" fmla="*/ 9525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373719 w 2688170"/>
              <a:gd name="connsiteY4" fmla="*/ 123826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13154 w 2699204"/>
              <a:gd name="connsiteY0" fmla="*/ 542926 h 5824135"/>
              <a:gd name="connsiteX1" fmla="*/ 294142 w 2699204"/>
              <a:gd name="connsiteY1" fmla="*/ 9526 h 5824135"/>
              <a:gd name="connsiteX2" fmla="*/ 794204 w 2699204"/>
              <a:gd name="connsiteY2" fmla="*/ 9524 h 5824135"/>
              <a:gd name="connsiteX3" fmla="*/ 894216 w 2699204"/>
              <a:gd name="connsiteY3" fmla="*/ 238125 h 5824135"/>
              <a:gd name="connsiteX4" fmla="*/ 1841954 w 2699204"/>
              <a:gd name="connsiteY4" fmla="*/ 233363 h 5824135"/>
              <a:gd name="connsiteX5" fmla="*/ 1899103 w 2699204"/>
              <a:gd name="connsiteY5" fmla="*/ 0 h 5824135"/>
              <a:gd name="connsiteX6" fmla="*/ 2265817 w 2699204"/>
              <a:gd name="connsiteY6" fmla="*/ 4763 h 5824135"/>
              <a:gd name="connsiteX7" fmla="*/ 2699204 w 2699204"/>
              <a:gd name="connsiteY7" fmla="*/ 390525 h 5824135"/>
              <a:gd name="connsiteX8" fmla="*/ 2689679 w 2699204"/>
              <a:gd name="connsiteY8" fmla="*/ 5405437 h 5824135"/>
              <a:gd name="connsiteX9" fmla="*/ 2261054 w 2699204"/>
              <a:gd name="connsiteY9" fmla="*/ 5819774 h 5824135"/>
              <a:gd name="connsiteX10" fmla="*/ 341767 w 2699204"/>
              <a:gd name="connsiteY10" fmla="*/ 5810250 h 5824135"/>
              <a:gd name="connsiteX11" fmla="*/ 13154 w 2699204"/>
              <a:gd name="connsiteY11" fmla="*/ 5429251 h 5824135"/>
              <a:gd name="connsiteX12" fmla="*/ 13154 w 2699204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88171" h="5824135">
                <a:moveTo>
                  <a:pt x="2121" y="542926"/>
                </a:moveTo>
                <a:cubicBezTo>
                  <a:pt x="2121" y="275511"/>
                  <a:pt x="-36694" y="95251"/>
                  <a:pt x="283109" y="9526"/>
                </a:cubicBezTo>
                <a:lnTo>
                  <a:pt x="783171" y="9524"/>
                </a:lnTo>
                <a:cubicBezTo>
                  <a:pt x="789521" y="87312"/>
                  <a:pt x="772057" y="227012"/>
                  <a:pt x="883183" y="238125"/>
                </a:cubicBezTo>
                <a:lnTo>
                  <a:pt x="1830921" y="233363"/>
                </a:lnTo>
                <a:cubicBezTo>
                  <a:pt x="1892833" y="141287"/>
                  <a:pt x="1897596" y="68263"/>
                  <a:pt x="1888070" y="0"/>
                </a:cubicBezTo>
                <a:lnTo>
                  <a:pt x="2254784" y="4763"/>
                </a:lnTo>
                <a:cubicBezTo>
                  <a:pt x="2546012" y="-23812"/>
                  <a:pt x="2688171" y="123110"/>
                  <a:pt x="2688171" y="390525"/>
                </a:cubicBezTo>
                <a:lnTo>
                  <a:pt x="2678646" y="5405437"/>
                </a:lnTo>
                <a:cubicBezTo>
                  <a:pt x="2697696" y="5672852"/>
                  <a:pt x="2564345" y="5843588"/>
                  <a:pt x="2250021" y="5819774"/>
                </a:cubicBezTo>
                <a:cubicBezTo>
                  <a:pt x="1624547" y="5830887"/>
                  <a:pt x="970496" y="5818187"/>
                  <a:pt x="330734" y="5810250"/>
                </a:cubicBezTo>
                <a:cubicBezTo>
                  <a:pt x="159283" y="5824538"/>
                  <a:pt x="-21692" y="5701428"/>
                  <a:pt x="2121" y="5429251"/>
                </a:cubicBezTo>
                <a:lnTo>
                  <a:pt x="2121" y="542926"/>
                </a:lnTo>
                <a:close/>
              </a:path>
            </a:pathLst>
          </a:custGeom>
        </p:spPr>
        <p:txBody>
          <a:bodyPr/>
          <a:lstStyle/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A604CA-E015-4212-A529-F54A7F6B85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00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ndard 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424763"/>
            <a:ext cx="5181600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424763"/>
            <a:ext cx="5181600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3745A42-C741-4E57-9A6B-DD0054CB871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5622250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0C853513-9DAD-48F2-8995-5702733902B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804935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37E5A452-3CB8-4B5A-9BF0-040585B0030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5042412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headline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 dirty="0"/>
              <a:t>Click to edit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4E91B3A-381A-4407-956B-C8D7ED41ABA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872055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581CBBE-6BA1-4A2E-B2C2-E2374CE34291}"/>
              </a:ext>
            </a:extLst>
          </p:cNvPr>
          <p:cNvSpPr txBox="1">
            <a:spLocks/>
          </p:cNvSpPr>
          <p:nvPr userDrawn="1"/>
        </p:nvSpPr>
        <p:spPr>
          <a:xfrm>
            <a:off x="11063162" y="6349027"/>
            <a:ext cx="53975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da-DK"/>
            </a:defPPr>
            <a:lvl1pPr marL="0" algn="r" defTabSz="914400" rtl="0" eaLnBrk="1" latinLnBrk="0" hangingPunct="1">
              <a:defRPr sz="800" b="0" i="0" kern="12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D004A2-5536-0C42-B66B-9F3A06C21F3A}" type="slidenum">
              <a:rPr lang="en-DK" smtClean="0">
                <a:solidFill>
                  <a:schemeClr val="tx2"/>
                </a:solidFill>
              </a:rPr>
              <a:pPr/>
              <a:t>‹№›</a:t>
            </a:fld>
            <a:endParaRPr lang="en-DK" dirty="0">
              <a:solidFill>
                <a:schemeClr val="tx2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C87EDB7-DFE8-4A96-AF21-3D9CB39E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49" y="371476"/>
            <a:ext cx="1090612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368E6D1-4CBE-4A9B-B825-A26F9010A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49" y="1697039"/>
            <a:ext cx="10515600" cy="480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7EA7DD-8323-9CB4-B898-55CAB1747F9F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5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0" r:id="rId2"/>
    <p:sldLayoutId id="2147483663" r:id="rId3"/>
    <p:sldLayoutId id="2147483747" r:id="rId4"/>
    <p:sldLayoutId id="2147483736" r:id="rId5"/>
    <p:sldLayoutId id="2147483744" r:id="rId6"/>
    <p:sldLayoutId id="2147483738" r:id="rId7"/>
    <p:sldLayoutId id="2147483739" r:id="rId8"/>
    <p:sldLayoutId id="2147483722" r:id="rId9"/>
    <p:sldLayoutId id="2147483742" r:id="rId10"/>
    <p:sldLayoutId id="2147483743" r:id="rId11"/>
    <p:sldLayoutId id="2147483688" r:id="rId12"/>
    <p:sldLayoutId id="2147483689" r:id="rId13"/>
    <p:sldLayoutId id="2147483724" r:id="rId14"/>
    <p:sldLayoutId id="2147483719" r:id="rId15"/>
    <p:sldLayoutId id="2147483720" r:id="rId16"/>
    <p:sldLayoutId id="2147483745" r:id="rId17"/>
    <p:sldLayoutId id="2147483717" r:id="rId18"/>
    <p:sldLayoutId id="2147483733" r:id="rId19"/>
    <p:sldLayoutId id="2147483672" r:id="rId20"/>
    <p:sldLayoutId id="2147483673" r:id="rId21"/>
    <p:sldLayoutId id="2147483674" r:id="rId22"/>
    <p:sldLayoutId id="2147483675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56565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3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gif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ідзаголовок 3">
            <a:extLst>
              <a:ext uri="{FF2B5EF4-FFF2-40B4-BE49-F238E27FC236}">
                <a16:creationId xmlns:a16="http://schemas.microsoft.com/office/drawing/2014/main" id="{EC53F530-3074-6497-6EEF-434B2076D1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Знижки</a:t>
            </a:r>
          </a:p>
        </p:txBody>
      </p:sp>
    </p:spTree>
    <p:extLst>
      <p:ext uri="{BB962C8B-B14F-4D97-AF65-F5344CB8AC3E}">
        <p14:creationId xmlns:p14="http://schemas.microsoft.com/office/powerpoint/2010/main" val="2647749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C8F535F-ECAB-76D0-0ACA-3CCCB7B70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571"/>
            <a:ext cx="10515600" cy="910782"/>
          </a:xfrm>
        </p:spPr>
        <p:txBody>
          <a:bodyPr/>
          <a:lstStyle/>
          <a:p>
            <a:r>
              <a:rPr lang="uk-UA" dirty="0"/>
              <a:t>Знижки по магазинам та кодам: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5BFD9A2-ADA6-EE25-BB87-38EFD882DE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6792BA17-E22C-7E4E-702D-D19183BE88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29802" y="1424763"/>
            <a:ext cx="11332396" cy="48378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16">
            <a:extLst>
              <a:ext uri="{FF2B5EF4-FFF2-40B4-BE49-F238E27FC236}">
                <a16:creationId xmlns:a16="http://schemas.microsoft.com/office/drawing/2014/main" id="{B6B86E7A-7B18-12A0-8E23-8DE7AF7B07A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7056" y="216271"/>
            <a:ext cx="1187331" cy="9876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Блок-схема: альтернативний процес 8">
            <a:extLst>
              <a:ext uri="{FF2B5EF4-FFF2-40B4-BE49-F238E27FC236}">
                <a16:creationId xmlns:a16="http://schemas.microsoft.com/office/drawing/2014/main" id="{131540C6-5CBD-C3D4-B5E8-F765523FA2B7}"/>
              </a:ext>
            </a:extLst>
          </p:cNvPr>
          <p:cNvSpPr/>
          <p:nvPr/>
        </p:nvSpPr>
        <p:spPr>
          <a:xfrm>
            <a:off x="3685853" y="2917860"/>
            <a:ext cx="574997" cy="288890"/>
          </a:xfrm>
          <a:prstGeom prst="flowChartAlternateProcess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Блок-схема: альтернативний процес 9">
            <a:extLst>
              <a:ext uri="{FF2B5EF4-FFF2-40B4-BE49-F238E27FC236}">
                <a16:creationId xmlns:a16="http://schemas.microsoft.com/office/drawing/2014/main" id="{045EAAA2-8649-7AEB-DF5C-59E469039DB0}"/>
              </a:ext>
            </a:extLst>
          </p:cNvPr>
          <p:cNvSpPr/>
          <p:nvPr/>
        </p:nvSpPr>
        <p:spPr>
          <a:xfrm>
            <a:off x="3685852" y="4699847"/>
            <a:ext cx="574997" cy="288890"/>
          </a:xfrm>
          <a:prstGeom prst="flowChartAlternateProcess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Блок-схема: альтернативний процес 10">
            <a:extLst>
              <a:ext uri="{FF2B5EF4-FFF2-40B4-BE49-F238E27FC236}">
                <a16:creationId xmlns:a16="http://schemas.microsoft.com/office/drawing/2014/main" id="{DB09D4FE-70A7-8D71-CD5F-20931EE3C92D}"/>
              </a:ext>
            </a:extLst>
          </p:cNvPr>
          <p:cNvSpPr/>
          <p:nvPr/>
        </p:nvSpPr>
        <p:spPr>
          <a:xfrm>
            <a:off x="3685852" y="4993147"/>
            <a:ext cx="574997" cy="288890"/>
          </a:xfrm>
          <a:prstGeom prst="flowChartAlternateProcess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Блок-схема: альтернативний процес 11">
            <a:extLst>
              <a:ext uri="{FF2B5EF4-FFF2-40B4-BE49-F238E27FC236}">
                <a16:creationId xmlns:a16="http://schemas.microsoft.com/office/drawing/2014/main" id="{2C0A45D2-B57B-99ED-EA36-C82A9050B0A2}"/>
              </a:ext>
            </a:extLst>
          </p:cNvPr>
          <p:cNvSpPr/>
          <p:nvPr/>
        </p:nvSpPr>
        <p:spPr>
          <a:xfrm>
            <a:off x="3685852" y="4192085"/>
            <a:ext cx="574997" cy="288890"/>
          </a:xfrm>
          <a:prstGeom prst="flowChartAlternateProcess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Блок-схема: альтернативний процес 12">
            <a:extLst>
              <a:ext uri="{FF2B5EF4-FFF2-40B4-BE49-F238E27FC236}">
                <a16:creationId xmlns:a16="http://schemas.microsoft.com/office/drawing/2014/main" id="{A849F84A-F272-0A04-9ADF-568C5529781F}"/>
              </a:ext>
            </a:extLst>
          </p:cNvPr>
          <p:cNvSpPr/>
          <p:nvPr/>
        </p:nvSpPr>
        <p:spPr>
          <a:xfrm>
            <a:off x="5175986" y="4699847"/>
            <a:ext cx="574997" cy="288890"/>
          </a:xfrm>
          <a:prstGeom prst="flowChartAlternateProcess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Блок-схема: альтернативний процес 13">
            <a:extLst>
              <a:ext uri="{FF2B5EF4-FFF2-40B4-BE49-F238E27FC236}">
                <a16:creationId xmlns:a16="http://schemas.microsoft.com/office/drawing/2014/main" id="{95BC1886-D5F9-C22B-CBCA-BFE8421D5F40}"/>
              </a:ext>
            </a:extLst>
          </p:cNvPr>
          <p:cNvSpPr/>
          <p:nvPr/>
        </p:nvSpPr>
        <p:spPr>
          <a:xfrm>
            <a:off x="6903186" y="5220794"/>
            <a:ext cx="522081" cy="274074"/>
          </a:xfrm>
          <a:prstGeom prst="flowChartAlternateProcess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Блок-схема: альтернативний процес 15">
            <a:extLst>
              <a:ext uri="{FF2B5EF4-FFF2-40B4-BE49-F238E27FC236}">
                <a16:creationId xmlns:a16="http://schemas.microsoft.com/office/drawing/2014/main" id="{2EA952AE-F3EB-CCA3-CD0F-824B5A606AE4}"/>
              </a:ext>
            </a:extLst>
          </p:cNvPr>
          <p:cNvSpPr/>
          <p:nvPr/>
        </p:nvSpPr>
        <p:spPr>
          <a:xfrm>
            <a:off x="6869320" y="5741685"/>
            <a:ext cx="522081" cy="274074"/>
          </a:xfrm>
          <a:prstGeom prst="flowChartAlternateProcess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Блок-схема: альтернативний процес 16">
            <a:extLst>
              <a:ext uri="{FF2B5EF4-FFF2-40B4-BE49-F238E27FC236}">
                <a16:creationId xmlns:a16="http://schemas.microsoft.com/office/drawing/2014/main" id="{B9818041-050A-6932-FD6A-A89352E4D744}"/>
              </a:ext>
            </a:extLst>
          </p:cNvPr>
          <p:cNvSpPr/>
          <p:nvPr/>
        </p:nvSpPr>
        <p:spPr>
          <a:xfrm>
            <a:off x="8257853" y="5493299"/>
            <a:ext cx="522081" cy="274074"/>
          </a:xfrm>
          <a:prstGeom prst="flowChartAlternateProcess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6015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FCF51A-15E4-3829-BE9A-A5A1972EA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7 код по групам товарів: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561CC85-C58D-FB91-CDCD-52D8F4F862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J010 </a:t>
            </a:r>
            <a:r>
              <a:rPr lang="uk-UA" dirty="0"/>
              <a:t>та </a:t>
            </a:r>
            <a:r>
              <a:rPr lang="en-US" dirty="0"/>
              <a:t>J030 –</a:t>
            </a:r>
            <a:r>
              <a:rPr lang="uk-UA" dirty="0"/>
              <a:t>помилки використання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US" dirty="0"/>
              <a:t>J0</a:t>
            </a:r>
            <a:r>
              <a:rPr lang="uk-UA" dirty="0"/>
              <a:t>61,</a:t>
            </a:r>
            <a:r>
              <a:rPr lang="en-US" dirty="0"/>
              <a:t> J0</a:t>
            </a:r>
            <a:r>
              <a:rPr lang="uk-UA" dirty="0"/>
              <a:t>68,</a:t>
            </a:r>
            <a:r>
              <a:rPr lang="en-US" dirty="0"/>
              <a:t> J0</a:t>
            </a:r>
            <a:r>
              <a:rPr lang="uk-UA" dirty="0"/>
              <a:t>97,</a:t>
            </a:r>
            <a:r>
              <a:rPr lang="en-US" dirty="0"/>
              <a:t> J0</a:t>
            </a:r>
            <a:r>
              <a:rPr lang="uk-UA" dirty="0"/>
              <a:t>99 – зверніть увагу на % використання 7 коду в сервісних зонах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US" dirty="0"/>
              <a:t>J01</a:t>
            </a:r>
            <a:r>
              <a:rPr lang="uk-UA" dirty="0"/>
              <a:t>9- не використали 7-код в ковдрах та подушках 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US" dirty="0"/>
              <a:t>J0</a:t>
            </a:r>
            <a:r>
              <a:rPr lang="uk-UA" dirty="0"/>
              <a:t>63,</a:t>
            </a:r>
            <a:r>
              <a:rPr lang="en-US" dirty="0"/>
              <a:t> J0</a:t>
            </a:r>
            <a:r>
              <a:rPr lang="uk-UA" dirty="0"/>
              <a:t>68,</a:t>
            </a:r>
            <a:r>
              <a:rPr lang="en-US" dirty="0"/>
              <a:t> J0</a:t>
            </a:r>
            <a:r>
              <a:rPr lang="uk-UA" dirty="0"/>
              <a:t>80 не використали 7-код в матрацах</a:t>
            </a:r>
          </a:p>
          <a:p>
            <a:pPr marL="0" indent="0">
              <a:buNone/>
            </a:pPr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876308-4D44-1440-77E5-871000AD8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65126"/>
            <a:ext cx="5677692" cy="61825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6">
            <a:extLst>
              <a:ext uri="{FF2B5EF4-FFF2-40B4-BE49-F238E27FC236}">
                <a16:creationId xmlns:a16="http://schemas.microsoft.com/office/drawing/2014/main" id="{D68F6AE4-2145-6776-3DA6-A52C6BDEEFA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5004" y="5433237"/>
            <a:ext cx="1187331" cy="9876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6B913CF-ABE6-C842-4EB5-2C4655DD3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12" y="5478219"/>
            <a:ext cx="962899" cy="94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0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ідзаголовок 8">
            <a:extLst>
              <a:ext uri="{FF2B5EF4-FFF2-40B4-BE49-F238E27FC236}">
                <a16:creationId xmlns:a16="http://schemas.microsoft.com/office/drawing/2014/main" id="{39CC5C93-B0D8-C42B-A562-52DA183CF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81582" y="1939159"/>
            <a:ext cx="3801438" cy="1951197"/>
          </a:xfrm>
        </p:spPr>
        <p:txBody>
          <a:bodyPr/>
          <a:lstStyle/>
          <a:p>
            <a:r>
              <a:rPr lang="uk-UA" dirty="0"/>
              <a:t>Сервіс</a:t>
            </a:r>
          </a:p>
          <a:p>
            <a:r>
              <a:rPr lang="uk-UA" dirty="0"/>
              <a:t>‘‘Комплексні продажі’’</a:t>
            </a:r>
          </a:p>
        </p:txBody>
      </p:sp>
    </p:spTree>
    <p:extLst>
      <p:ext uri="{BB962C8B-B14F-4D97-AF65-F5344CB8AC3E}">
        <p14:creationId xmlns:p14="http://schemas.microsoft.com/office/powerpoint/2010/main" val="3589420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392001F-A93A-71E5-E0C3-2BDF3613C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Комплекси 01.07-31.07</a:t>
            </a:r>
          </a:p>
        </p:txBody>
      </p:sp>
      <p:pic>
        <p:nvPicPr>
          <p:cNvPr id="6" name="Місце для вмісту 5" descr="Зображення, що містить текст, знімок екрана, число, ряд">
            <a:extLst>
              <a:ext uri="{FF2B5EF4-FFF2-40B4-BE49-F238E27FC236}">
                <a16:creationId xmlns:a16="http://schemas.microsoft.com/office/drawing/2014/main" id="{CF513DEC-E88D-C4B6-A11E-84DDD37177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36" y="1352550"/>
            <a:ext cx="11790328" cy="4743449"/>
          </a:xfrm>
        </p:spPr>
      </p:pic>
      <p:sp>
        <p:nvSpPr>
          <p:cNvPr id="7" name="Блок-схема: альтернативний процес 6">
            <a:extLst>
              <a:ext uri="{FF2B5EF4-FFF2-40B4-BE49-F238E27FC236}">
                <a16:creationId xmlns:a16="http://schemas.microsoft.com/office/drawing/2014/main" id="{361C1BEA-8A37-59D8-3DE9-B0419D23A3DC}"/>
              </a:ext>
            </a:extLst>
          </p:cNvPr>
          <p:cNvSpPr/>
          <p:nvPr/>
        </p:nvSpPr>
        <p:spPr>
          <a:xfrm>
            <a:off x="5219700" y="1381125"/>
            <a:ext cx="1905000" cy="4886325"/>
          </a:xfrm>
          <a:prstGeom prst="flowChartAlternateProcess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Блок-схема: альтернативний процес 7">
            <a:extLst>
              <a:ext uri="{FF2B5EF4-FFF2-40B4-BE49-F238E27FC236}">
                <a16:creationId xmlns:a16="http://schemas.microsoft.com/office/drawing/2014/main" id="{0BF296E7-96BF-F6C8-8951-9C09444A2B2A}"/>
              </a:ext>
            </a:extLst>
          </p:cNvPr>
          <p:cNvSpPr/>
          <p:nvPr/>
        </p:nvSpPr>
        <p:spPr>
          <a:xfrm>
            <a:off x="8524876" y="5343525"/>
            <a:ext cx="1085850" cy="238125"/>
          </a:xfrm>
          <a:prstGeom prst="flowChartAlternateProcess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Блок-схема: альтернативний процес 8">
            <a:extLst>
              <a:ext uri="{FF2B5EF4-FFF2-40B4-BE49-F238E27FC236}">
                <a16:creationId xmlns:a16="http://schemas.microsoft.com/office/drawing/2014/main" id="{2F7D6378-8DD7-3C7B-1FCE-CBD6B95E28A2}"/>
              </a:ext>
            </a:extLst>
          </p:cNvPr>
          <p:cNvSpPr/>
          <p:nvPr/>
        </p:nvSpPr>
        <p:spPr>
          <a:xfrm>
            <a:off x="8524876" y="4591051"/>
            <a:ext cx="1085850" cy="238125"/>
          </a:xfrm>
          <a:prstGeom prst="flowChartAlternateProcess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Блок-схема: альтернативний процес 9">
            <a:extLst>
              <a:ext uri="{FF2B5EF4-FFF2-40B4-BE49-F238E27FC236}">
                <a16:creationId xmlns:a16="http://schemas.microsoft.com/office/drawing/2014/main" id="{D62AD6C0-5D1F-A9E9-6416-76B7038A951F}"/>
              </a:ext>
            </a:extLst>
          </p:cNvPr>
          <p:cNvSpPr/>
          <p:nvPr/>
        </p:nvSpPr>
        <p:spPr>
          <a:xfrm>
            <a:off x="8524876" y="3533774"/>
            <a:ext cx="1085850" cy="290513"/>
          </a:xfrm>
          <a:prstGeom prst="flowChartAlternateProcess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04C138-514B-2380-768C-33B633F55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121" y="1637760"/>
            <a:ext cx="5487166" cy="386769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54032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49E5F8-40B7-C571-CC96-132C07467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 магазинам:</a:t>
            </a: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3474D007-4FF4-23EA-8BD0-9DDF60CC1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106" y="851642"/>
            <a:ext cx="10007029" cy="51547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Місце для вмісту 6">
            <a:extLst>
              <a:ext uri="{FF2B5EF4-FFF2-40B4-BE49-F238E27FC236}">
                <a16:creationId xmlns:a16="http://schemas.microsoft.com/office/drawing/2014/main" id="{EAE04BB1-BADE-62A1-AE59-5E2EB6CA6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669" y="1167153"/>
            <a:ext cx="9201560" cy="49479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Місце для вмісту 8">
            <a:extLst>
              <a:ext uri="{FF2B5EF4-FFF2-40B4-BE49-F238E27FC236}">
                <a16:creationId xmlns:a16="http://schemas.microsoft.com/office/drawing/2014/main" id="{C0DC5327-0708-98BE-6B71-19784424B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327" y="1487930"/>
            <a:ext cx="8733033" cy="48339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Місце для вмісту 5">
            <a:extLst>
              <a:ext uri="{FF2B5EF4-FFF2-40B4-BE49-F238E27FC236}">
                <a16:creationId xmlns:a16="http://schemas.microsoft.com/office/drawing/2014/main" id="{200315A9-BFBB-F137-F294-4C87A068E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726" y="1762424"/>
            <a:ext cx="7970634" cy="48339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187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0B4BF0FA-64B5-299C-B221-F746484994DF}"/>
              </a:ext>
            </a:extLst>
          </p:cNvPr>
          <p:cNvSpPr/>
          <p:nvPr/>
        </p:nvSpPr>
        <p:spPr>
          <a:xfrm>
            <a:off x="972954" y="474345"/>
            <a:ext cx="10454039" cy="59093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Комплексний</a:t>
            </a:r>
            <a:r>
              <a:rPr lang="ru-RU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продаж у </a:t>
            </a:r>
            <a:r>
              <a:rPr lang="ru-RU" sz="5400" b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нашому</a:t>
            </a:r>
            <a:r>
              <a:rPr lang="ru-RU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r>
              <a:rPr lang="ru-RU" sz="5400" b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випадку</a:t>
            </a:r>
            <a:r>
              <a:rPr lang="ru-RU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— </a:t>
            </a:r>
            <a:r>
              <a:rPr lang="ru-RU" sz="5400" b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це</a:t>
            </a:r>
            <a:r>
              <a:rPr lang="ru-RU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не просто "</a:t>
            </a:r>
            <a:r>
              <a:rPr lang="ru-RU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ось матрац, </a:t>
            </a:r>
            <a:r>
              <a:rPr lang="ru-RU" sz="5400" b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тримайте</a:t>
            </a:r>
            <a:r>
              <a:rPr lang="ru-RU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чек</a:t>
            </a:r>
            <a:r>
              <a:rPr lang="ru-RU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". </a:t>
            </a:r>
          </a:p>
          <a:p>
            <a:pPr algn="ctr"/>
            <a:r>
              <a:rPr lang="ru-RU" sz="5400" i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Це</a:t>
            </a:r>
            <a:r>
              <a:rPr lang="ru-RU" sz="5400" i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r>
              <a:rPr lang="ru-RU" sz="5400" i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стратегія</a:t>
            </a:r>
            <a:r>
              <a:rPr lang="ru-RU" sz="5400" i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, де </a:t>
            </a:r>
            <a:r>
              <a:rPr lang="ru-RU" sz="5400" i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ти</a:t>
            </a:r>
            <a:r>
              <a:rPr lang="ru-RU" sz="5400" i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r>
              <a:rPr lang="ru-RU" sz="5400" i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продаєш</a:t>
            </a:r>
            <a:r>
              <a:rPr lang="ru-RU" sz="5400" i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сон як продукт, а не </a:t>
            </a:r>
            <a:r>
              <a:rPr lang="ru-RU" sz="5400" i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окремі</a:t>
            </a:r>
            <a:r>
              <a:rPr lang="ru-RU" sz="5400" i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r>
              <a:rPr lang="ru-RU" sz="5400" i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товари</a:t>
            </a:r>
            <a:r>
              <a:rPr lang="ru-RU" sz="5400" i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.</a:t>
            </a:r>
            <a:endParaRPr lang="uk-UA" sz="5400" i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accent1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33174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Списання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01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 adj. </a:t>
            </a:r>
            <a:r>
              <a:rPr lang="uk-UA" dirty="0"/>
              <a:t>Липень</a:t>
            </a:r>
            <a:endParaRPr lang="en-US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331" y="200994"/>
            <a:ext cx="3414833" cy="619523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38201" y="2373921"/>
            <a:ext cx="4525108" cy="307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251331" y="1639375"/>
            <a:ext cx="5407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J017.J030.J061.J099 – </a:t>
            </a:r>
            <a:r>
              <a:rPr lang="uk-UA" dirty="0"/>
              <a:t>перевищили показник за місяць</a:t>
            </a:r>
          </a:p>
          <a:p>
            <a:endParaRPr lang="uk-UA" dirty="0"/>
          </a:p>
          <a:p>
            <a:r>
              <a:rPr lang="uk-UA" dirty="0" err="1"/>
              <a:t>Аккумульовано</a:t>
            </a:r>
            <a:r>
              <a:rPr lang="uk-UA" dirty="0"/>
              <a:t> всі магазини в цілі - БРАВО</a:t>
            </a:r>
            <a:endParaRPr lang="en-US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3293599"/>
            <a:ext cx="5334000" cy="256818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962C4E0-9E53-F1AD-56AB-7692782E0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10" y="984649"/>
            <a:ext cx="5144218" cy="50218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" name="Picture 16">
            <a:extLst>
              <a:ext uri="{FF2B5EF4-FFF2-40B4-BE49-F238E27FC236}">
                <a16:creationId xmlns:a16="http://schemas.microsoft.com/office/drawing/2014/main" id="{42289B24-383C-4177-9F66-AE86FEF47B0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8795" y="210214"/>
            <a:ext cx="1445332" cy="1202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30029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 adj.</a:t>
            </a:r>
            <a:r>
              <a:rPr lang="uk-UA" dirty="0"/>
              <a:t> по групам товарів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310" y="55364"/>
            <a:ext cx="4468480" cy="61952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577" y="1585670"/>
            <a:ext cx="2857500" cy="1924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4577" y="3938954"/>
            <a:ext cx="35257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Зверніть увагу  на доцільність списань 81 кодом.</a:t>
            </a:r>
          </a:p>
          <a:p>
            <a:r>
              <a:rPr lang="uk-UA" dirty="0"/>
              <a:t>Значні списання Текстилю та КПБ- це якість наших арт таймів)</a:t>
            </a:r>
            <a:endParaRPr lang="en-US" dirty="0"/>
          </a:p>
        </p:txBody>
      </p:sp>
      <p:pic>
        <p:nvPicPr>
          <p:cNvPr id="5" name="Рисунок 4" descr="Зображення, що містить текст, знімок екрана, число, Паралель">
            <a:extLst>
              <a:ext uri="{FF2B5EF4-FFF2-40B4-BE49-F238E27FC236}">
                <a16:creationId xmlns:a16="http://schemas.microsoft.com/office/drawing/2014/main" id="{912ECDF0-0505-DD83-6735-197517E6C1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62" y="1203692"/>
            <a:ext cx="7122694" cy="49372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16">
            <a:extLst>
              <a:ext uri="{FF2B5EF4-FFF2-40B4-BE49-F238E27FC236}">
                <a16:creationId xmlns:a16="http://schemas.microsoft.com/office/drawing/2014/main" id="{42289B24-383C-4177-9F66-AE86FEF47B0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9928" y="5574408"/>
            <a:ext cx="1187331" cy="9876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784354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0AB92-2A8B-2242-0E0A-CFC9DF55F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811620-B941-6DD1-0AC0-C9A877B7A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 adj.</a:t>
            </a:r>
            <a:r>
              <a:rPr lang="uk-UA" dirty="0"/>
              <a:t> по місячно: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8C011C-AECE-CEE0-6625-A39704CFA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310" y="55364"/>
            <a:ext cx="4468480" cy="619523"/>
          </a:xfrm>
          <a:prstGeom prst="rect">
            <a:avLst/>
          </a:prstGeom>
        </p:spPr>
      </p:pic>
      <p:pic>
        <p:nvPicPr>
          <p:cNvPr id="6" name="Рисунок 5" descr="Зображення, що містить текст, знімок екрана, число, ряд">
            <a:extLst>
              <a:ext uri="{FF2B5EF4-FFF2-40B4-BE49-F238E27FC236}">
                <a16:creationId xmlns:a16="http://schemas.microsoft.com/office/drawing/2014/main" id="{C0EB2CE6-D72E-D431-9C25-CE0567F24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12" y="1068404"/>
            <a:ext cx="11454062" cy="5014762"/>
          </a:xfrm>
          <a:prstGeom prst="rect">
            <a:avLst/>
          </a:prstGeom>
        </p:spPr>
      </p:pic>
      <p:sp>
        <p:nvSpPr>
          <p:cNvPr id="7" name="Блок-схема: альтернативний процес 6">
            <a:extLst>
              <a:ext uri="{FF2B5EF4-FFF2-40B4-BE49-F238E27FC236}">
                <a16:creationId xmlns:a16="http://schemas.microsoft.com/office/drawing/2014/main" id="{F112FF9E-7B3D-D7AB-DCF6-0D36A3A82292}"/>
              </a:ext>
            </a:extLst>
          </p:cNvPr>
          <p:cNvSpPr/>
          <p:nvPr/>
        </p:nvSpPr>
        <p:spPr>
          <a:xfrm>
            <a:off x="4350620" y="1068404"/>
            <a:ext cx="683394" cy="5014762"/>
          </a:xfrm>
          <a:prstGeom prst="flowChartAlternateProcess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Блок-схема: альтернативний процес 7">
            <a:extLst>
              <a:ext uri="{FF2B5EF4-FFF2-40B4-BE49-F238E27FC236}">
                <a16:creationId xmlns:a16="http://schemas.microsoft.com/office/drawing/2014/main" id="{C92C31D7-0E93-B63A-27EA-E86993FC890C}"/>
              </a:ext>
            </a:extLst>
          </p:cNvPr>
          <p:cNvSpPr/>
          <p:nvPr/>
        </p:nvSpPr>
        <p:spPr>
          <a:xfrm>
            <a:off x="6198669" y="1068404"/>
            <a:ext cx="1232034" cy="5014762"/>
          </a:xfrm>
          <a:prstGeom prst="flowChartAlternateProcess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893623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E5833-DCFA-9D5C-F6F6-B45350329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Робота з мінусовими залишками: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CC8135-6D10-554A-9CDF-620F13336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47" y="1195303"/>
            <a:ext cx="10689232" cy="265784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4B2F5B-12EE-EBAE-E4AD-BC1E39A40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47" y="1195303"/>
            <a:ext cx="10689232" cy="499179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3C6516C-FE84-183F-8733-81C68670F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46" y="1195302"/>
            <a:ext cx="10689231" cy="499179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45D52FC-1DC9-6DDD-A217-2F77FD867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45" y="914400"/>
            <a:ext cx="10873800" cy="52727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4EA601A-1596-FAC1-8B2F-21AA8219F8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890" y="914399"/>
            <a:ext cx="10900910" cy="52727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BEDCA1D-7198-7133-9E02-87B72E56CA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890" y="914399"/>
            <a:ext cx="10991548" cy="5178394"/>
          </a:xfrm>
          <a:prstGeom prst="rect">
            <a:avLst/>
          </a:prstGeom>
        </p:spPr>
      </p:pic>
      <p:graphicFrame>
        <p:nvGraphicFramePr>
          <p:cNvPr id="18" name="Таблиця 17">
            <a:extLst>
              <a:ext uri="{FF2B5EF4-FFF2-40B4-BE49-F238E27FC236}">
                <a16:creationId xmlns:a16="http://schemas.microsoft.com/office/drawing/2014/main" id="{45C111BC-D03C-B74A-3C97-FF69C0054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659052"/>
              </p:ext>
            </p:extLst>
          </p:nvPr>
        </p:nvGraphicFramePr>
        <p:xfrm>
          <a:off x="1987550" y="2027000"/>
          <a:ext cx="8216900" cy="3314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42157872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39362368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3158536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9811903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81794663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0385546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84278807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4359746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4912365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Vase ROY Ø16xH30cm khaki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22.05.2025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21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-3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-108,24 UAH /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-324,72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1578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23.05.2025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21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-3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-108,24 UAH /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-324,72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1766417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4962700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Basket INFINITY 4,5L plastic grey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18.07.2025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-2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-40,95 UAH /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-81,90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082327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19.07.2025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-2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-40,95 UAH /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-81,90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827633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20.07.2025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-3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-40,95 UAH /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-122,85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2783109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5703800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VIN HAREMAT 140cm flower mix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17.07.2025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-3 M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-61,69 UAH / M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-154,23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728077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18.07.2025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-3 M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-61,69 UAH / M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-154,23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728240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19.07.2025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-3 M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-61,69 UAH / M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-154,23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8068947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20.07.2025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-3 M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-61,69 UAH / M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-154,23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0020761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5703900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VIN BRANNUL 140cm flower mix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18.07.2025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-2 M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-61,54 UAH / M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-147,70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9539071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19.07.2025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-2 M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-61,54 UAH / M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-147,70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870179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20.07.2025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-3 M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-61,54 UAH / M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-209,24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918269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6435101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Solar lamp JAKTFALK Ø6xH36cm black SDP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09.05.2025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21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-6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-20,11 UAH /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-120,66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104429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22.05.2025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21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-3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-20,11 UAH /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-60,33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071390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6514100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Rug TYSBAST 60x90 ass.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19.07.2025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-1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-86,31 UAH /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-86,31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180823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20.07.2025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-1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-86,31 UAH /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-86,31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000209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6518344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DM VITSIPPA 50x80x0,7 brown/beige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19.07.2025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-1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-137,54 UAH /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-137,54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5995682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800" u="none" strike="noStrike">
                          <a:effectLst/>
                        </a:rPr>
                        <a:t> 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20.07.2025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>
                          <a:effectLst/>
                        </a:rPr>
                        <a:t>11</a:t>
                      </a:r>
                      <a:endParaRPr lang="uk-UA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-1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-137,54 UAH / ST</a:t>
                      </a:r>
                      <a:endParaRPr lang="en-US" sz="8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800" u="none" strike="noStrike" dirty="0">
                          <a:effectLst/>
                        </a:rPr>
                        <a:t>-137,54</a:t>
                      </a:r>
                      <a:endParaRPr lang="uk-UA" sz="800" b="0" i="0" u="none" strike="noStrike" dirty="0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63217909"/>
                  </a:ext>
                </a:extLst>
              </a:tr>
            </a:tbl>
          </a:graphicData>
        </a:graphic>
      </p:graphicFrame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C5856F8-4255-8908-A3B8-D5C8571CD2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443" y="914398"/>
            <a:ext cx="10991548" cy="528676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F0DDC72-AD93-B2E7-313F-4C09ECA171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443" y="835837"/>
            <a:ext cx="10991548" cy="5365325"/>
          </a:xfrm>
          <a:prstGeom prst="rect">
            <a:avLst/>
          </a:prstGeom>
        </p:spPr>
      </p:pic>
      <p:graphicFrame>
        <p:nvGraphicFramePr>
          <p:cNvPr id="23" name="Таблиця 22">
            <a:extLst>
              <a:ext uri="{FF2B5EF4-FFF2-40B4-BE49-F238E27FC236}">
                <a16:creationId xmlns:a16="http://schemas.microsoft.com/office/drawing/2014/main" id="{C3FF0E8C-9960-BBD4-BA01-09DFBB568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793227"/>
              </p:ext>
            </p:extLst>
          </p:nvPr>
        </p:nvGraphicFramePr>
        <p:xfrm>
          <a:off x="1987548" y="1028700"/>
          <a:ext cx="7993849" cy="49918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052">
                  <a:extLst>
                    <a:ext uri="{9D8B030D-6E8A-4147-A177-3AD203B41FA5}">
                      <a16:colId xmlns:a16="http://schemas.microsoft.com/office/drawing/2014/main" val="3189406673"/>
                    </a:ext>
                  </a:extLst>
                </a:gridCol>
                <a:gridCol w="593052">
                  <a:extLst>
                    <a:ext uri="{9D8B030D-6E8A-4147-A177-3AD203B41FA5}">
                      <a16:colId xmlns:a16="http://schemas.microsoft.com/office/drawing/2014/main" val="4162381975"/>
                    </a:ext>
                  </a:extLst>
                </a:gridCol>
                <a:gridCol w="2631669">
                  <a:extLst>
                    <a:ext uri="{9D8B030D-6E8A-4147-A177-3AD203B41FA5}">
                      <a16:colId xmlns:a16="http://schemas.microsoft.com/office/drawing/2014/main" val="3264670490"/>
                    </a:ext>
                  </a:extLst>
                </a:gridCol>
                <a:gridCol w="790737">
                  <a:extLst>
                    <a:ext uri="{9D8B030D-6E8A-4147-A177-3AD203B41FA5}">
                      <a16:colId xmlns:a16="http://schemas.microsoft.com/office/drawing/2014/main" val="1706569094"/>
                    </a:ext>
                  </a:extLst>
                </a:gridCol>
                <a:gridCol w="1087262">
                  <a:extLst>
                    <a:ext uri="{9D8B030D-6E8A-4147-A177-3AD203B41FA5}">
                      <a16:colId xmlns:a16="http://schemas.microsoft.com/office/drawing/2014/main" val="1352806638"/>
                    </a:ext>
                  </a:extLst>
                </a:gridCol>
                <a:gridCol w="593052">
                  <a:extLst>
                    <a:ext uri="{9D8B030D-6E8A-4147-A177-3AD203B41FA5}">
                      <a16:colId xmlns:a16="http://schemas.microsoft.com/office/drawing/2014/main" val="2119832165"/>
                    </a:ext>
                  </a:extLst>
                </a:gridCol>
                <a:gridCol w="1111973">
                  <a:extLst>
                    <a:ext uri="{9D8B030D-6E8A-4147-A177-3AD203B41FA5}">
                      <a16:colId xmlns:a16="http://schemas.microsoft.com/office/drawing/2014/main" val="1441447613"/>
                    </a:ext>
                  </a:extLst>
                </a:gridCol>
                <a:gridCol w="593052">
                  <a:extLst>
                    <a:ext uri="{9D8B030D-6E8A-4147-A177-3AD203B41FA5}">
                      <a16:colId xmlns:a16="http://schemas.microsoft.com/office/drawing/2014/main" val="1696609193"/>
                    </a:ext>
                  </a:extLst>
                </a:gridCol>
              </a:tblGrid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3725030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Camping chair HOLMDALEN grey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08.07.2025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-419,21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-419,21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1009609290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09.07.2025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-419,21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-419,21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459314296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4332471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CUS 330g KARITINDEN fibre 50x50cm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02.05.2025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-46,37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-46,37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2347864956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14.05.2025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-48,08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-48,08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4121710942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15.05.2025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-48,08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-48,08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4291453867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21.05.2025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-48,08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-48,08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1321452716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22.05.2025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-2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-48,08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-96,16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1457392000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4900182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Umbrella TINO Ø105xH82cm black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26.05.2025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-2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-83,23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-166,46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3391375553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27.05.2025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-6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-83,23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-499,38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122032560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28.05.2025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-7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-83,23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-582,61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885618036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4911018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Vase FRANK Ø15xH30cm clear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14.05.2025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12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-2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-151,63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-303,26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2383230487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22.05.2025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12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-4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-150,97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-603,88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325615518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27.05.2025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12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-2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-149,84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-299,68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4267390520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28.05.2025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12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-4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-149,84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-599,36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1308226473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4911264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Clothes pegs WILLHEM wood 20pcs/pk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30.05.2025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-23,52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-23,52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2822772931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31.05.2025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-23,52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-23,52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729413621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01.06.2025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-23,52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-23,52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1660636906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4911691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Basket INFINITY 1,4L plastic white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30.06.2025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-22,60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-22,60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2083646682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01.07.2025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-22,60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-22,60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903496577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4912504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Candlestick DENNIS Ø8xH24cm gold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30.05.2025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-3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-79,06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-237,18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2059574773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31.05.2025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-3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-79,06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-237,18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1524103072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01.06.2025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-3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-79,06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-237,18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4063850388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4912545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700" u="none" strike="noStrike">
                          <a:effectLst/>
                        </a:rPr>
                        <a:t>Basket EJNO W22xL31xH15cm w/fabric</a:t>
                      </a:r>
                      <a:endParaRPr lang="pl-PL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27.05.2025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-112,32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-112,32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2263868156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28.05.2025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-112,32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-112,32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1850267845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5701800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COA RAGGMURE 135cm  jacq. beige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09.06.2025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81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-0 M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-113,64 UAH / M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-28,41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2266693583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10.06.2025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81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-0 M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-113,64 UAH / M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-28,41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1510655979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11.06.2025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81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-0 M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-113,64 UAH / M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-28,41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3574077435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26.06.2025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81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-0 M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-113,64 UAH / M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-28,41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1356187763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6403102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Hanging plant pot STORSKARV Ø27xH19 ass.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30.05.2025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-105,50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-105,50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1256690590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31.05.2025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-105,50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-105,50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4278110325"/>
                  </a:ext>
                </a:extLst>
              </a:tr>
              <a:tr h="161026"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1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700" u="none" strike="noStrike">
                          <a:effectLst/>
                        </a:rPr>
                        <a:t> 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01.06.2025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>
                          <a:effectLst/>
                        </a:rPr>
                        <a:t>21</a:t>
                      </a:r>
                      <a:endParaRPr lang="uk-UA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-105,50 UAH / ST</a:t>
                      </a:r>
                      <a:endParaRPr lang="en-US" sz="700" b="0" i="0" u="none" strike="noStrike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700" u="none" strike="noStrike" dirty="0">
                          <a:effectLst/>
                        </a:rPr>
                        <a:t>-105,50</a:t>
                      </a:r>
                      <a:endParaRPr lang="uk-UA" sz="700" b="0" i="0" u="none" strike="noStrike" dirty="0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342" marR="5342" marT="5342" marB="0" anchor="ctr"/>
                </a:tc>
                <a:extLst>
                  <a:ext uri="{0D108BD9-81ED-4DB2-BD59-A6C34878D82A}">
                    <a16:rowId xmlns:a16="http://schemas.microsoft.com/office/drawing/2014/main" val="4135731128"/>
                  </a:ext>
                </a:extLst>
              </a:tr>
            </a:tbl>
          </a:graphicData>
        </a:graphic>
      </p:graphicFrame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5271603E-4AB8-9269-2C6C-B5417718D3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443" y="820517"/>
            <a:ext cx="10977995" cy="5286765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D5E7A7F-535C-E0FE-33D5-C2462A26D0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442" y="834581"/>
            <a:ext cx="10977995" cy="5351261"/>
          </a:xfrm>
          <a:prstGeom prst="rect">
            <a:avLst/>
          </a:prstGeom>
        </p:spPr>
      </p:pic>
      <p:pic>
        <p:nvPicPr>
          <p:cNvPr id="3" name="Picture 16">
            <a:extLst>
              <a:ext uri="{FF2B5EF4-FFF2-40B4-BE49-F238E27FC236}">
                <a16:creationId xmlns:a16="http://schemas.microsoft.com/office/drawing/2014/main" id="{AE634538-C67D-91F2-4636-C98DF6D726B6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4482" y="146544"/>
            <a:ext cx="1282828" cy="10670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352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3E857D-B34D-E70E-2EF2-E7A9E408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Висновки/Підсумки:</a:t>
            </a: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9E615D57-D9A2-EB3E-DBA2-75F5C9524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381" y="1072614"/>
            <a:ext cx="5043638" cy="52800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088954-2CDF-E018-C2B5-7F9313DC582C}"/>
              </a:ext>
            </a:extLst>
          </p:cNvPr>
          <p:cNvSpPr txBox="1"/>
          <p:nvPr/>
        </p:nvSpPr>
        <p:spPr>
          <a:xfrm>
            <a:off x="6096000" y="1072614"/>
            <a:ext cx="54072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/>
              <a:t>Телеграм- група:</a:t>
            </a:r>
          </a:p>
          <a:p>
            <a:r>
              <a:rPr lang="uk-UA" dirty="0"/>
              <a:t>-  Підготовка до </a:t>
            </a:r>
            <a:r>
              <a:rPr lang="uk-UA" dirty="0" err="1"/>
              <a:t>інв</a:t>
            </a:r>
            <a:endParaRPr lang="uk-UA" dirty="0"/>
          </a:p>
          <a:p>
            <a:pPr marL="285750" indent="-285750">
              <a:buFontTx/>
              <a:buChar char="-"/>
            </a:pPr>
            <a:r>
              <a:rPr lang="uk-UA" dirty="0"/>
              <a:t>Коментарі корегувань( більше 1000 грн)</a:t>
            </a:r>
          </a:p>
          <a:p>
            <a:pPr marL="285750" indent="-285750">
              <a:buFontTx/>
              <a:buChar char="-"/>
            </a:pPr>
            <a:r>
              <a:rPr lang="uk-UA" dirty="0"/>
              <a:t>Мінусові залишки ( коментарі, аналіз)</a:t>
            </a:r>
          </a:p>
          <a:p>
            <a:pPr marL="285750" indent="-285750">
              <a:buFontTx/>
              <a:buChar char="-"/>
            </a:pPr>
            <a:r>
              <a:rPr lang="uk-UA" dirty="0"/>
              <a:t>Списання 81 код та корегування</a:t>
            </a:r>
          </a:p>
          <a:p>
            <a:pPr marL="285750" indent="-285750">
              <a:buFontTx/>
              <a:buChar char="-"/>
            </a:pPr>
            <a:endParaRPr lang="uk-UA" dirty="0"/>
          </a:p>
          <a:p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A4FC1C-0443-389D-B0C1-0C2B302E29D0}"/>
              </a:ext>
            </a:extLst>
          </p:cNvPr>
          <p:cNvSpPr txBox="1"/>
          <p:nvPr/>
        </p:nvSpPr>
        <p:spPr>
          <a:xfrm>
            <a:off x="6095999" y="2938311"/>
            <a:ext cx="54072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uk-UA" dirty="0"/>
              <a:t>Очікуємо значні корегування та списання 81 кодом. На початку Вересня</a:t>
            </a:r>
          </a:p>
          <a:p>
            <a:pPr marL="285750" indent="-285750">
              <a:buFontTx/>
              <a:buChar char="-"/>
            </a:pPr>
            <a:endParaRPr lang="uk-UA" dirty="0"/>
          </a:p>
          <a:p>
            <a:pPr marL="285750" indent="-285750">
              <a:buFontTx/>
              <a:buChar char="-"/>
            </a:pPr>
            <a:r>
              <a:rPr lang="uk-UA" dirty="0"/>
              <a:t>Низький % по візитам аудит</a:t>
            </a:r>
          </a:p>
          <a:p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B6B96-7F0A-B062-7614-F8F56CEF9347}"/>
              </a:ext>
            </a:extLst>
          </p:cNvPr>
          <p:cNvSpPr txBox="1"/>
          <p:nvPr/>
        </p:nvSpPr>
        <p:spPr>
          <a:xfrm>
            <a:off x="6095999" y="4766342"/>
            <a:ext cx="5407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uk-UA" b="1" dirty="0"/>
              <a:t>Мінусові залишки:</a:t>
            </a:r>
          </a:p>
          <a:p>
            <a:r>
              <a:rPr lang="en-US" dirty="0"/>
              <a:t>J022, J061, J080, J087 </a:t>
            </a:r>
            <a:r>
              <a:rPr lang="uk-UA" dirty="0"/>
              <a:t>– звернути увагу на велику кількість повторних корегувань та не якісної роботи з залишками.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42289B24-383C-4177-9F66-AE86FEF47B0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01734" y="191145"/>
            <a:ext cx="1304131" cy="1084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EB8A1B-A870-4063-BD3A-7274C909E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358" b="95987" l="9524" r="89744">
                        <a14:foregroundMark x1="49817" y1="7692" x2="49817" y2="7692"/>
                        <a14:foregroundMark x1="43956" y1="73913" x2="43956" y2="73913"/>
                        <a14:foregroundMark x1="52015" y1="72910" x2="52015" y2="72910"/>
                        <a14:foregroundMark x1="62271" y1="74247" x2="62271" y2="74247"/>
                        <a14:foregroundMark x1="72894" y1="72910" x2="72894" y2="72910"/>
                        <a14:foregroundMark x1="84249" y1="72910" x2="84249" y2="72910"/>
                        <a14:foregroundMark x1="34799" y1="76254" x2="34799" y2="76254"/>
                        <a14:foregroundMark x1="29304" y1="75585" x2="29304" y2="75585"/>
                        <a14:foregroundMark x1="19048" y1="72910" x2="19048" y2="72910"/>
                        <a14:foregroundMark x1="33333" y1="92308" x2="33333" y2="92308"/>
                        <a14:foregroundMark x1="41026" y1="91639" x2="41026" y2="91639"/>
                        <a14:foregroundMark x1="45055" y1="91639" x2="45055" y2="91639"/>
                        <a14:foregroundMark x1="41026" y1="95987" x2="41026" y2="95987"/>
                        <a14:foregroundMark x1="54945" y1="90970" x2="54945" y2="90970"/>
                        <a14:foregroundMark x1="65934" y1="87960" x2="65934" y2="87960"/>
                        <a14:foregroundMark x1="48718" y1="32107" x2="48718" y2="321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22474" y="220351"/>
            <a:ext cx="963769" cy="10555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05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ідзаголовок 3">
            <a:extLst>
              <a:ext uri="{FF2B5EF4-FFF2-40B4-BE49-F238E27FC236}">
                <a16:creationId xmlns:a16="http://schemas.microsoft.com/office/drawing/2014/main" id="{27818862-211A-F049-0343-79A3E4D9BC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Зони відповідальності</a:t>
            </a:r>
          </a:p>
        </p:txBody>
      </p:sp>
    </p:spTree>
    <p:extLst>
      <p:ext uri="{BB962C8B-B14F-4D97-AF65-F5344CB8AC3E}">
        <p14:creationId xmlns:p14="http://schemas.microsoft.com/office/powerpoint/2010/main" val="109400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9E48E6-34D6-29B7-1A27-0A6B14E74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968494"/>
            <a:ext cx="9160053" cy="440894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F2E10B1-C00E-40CF-345D-9E69BDB80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753" y="438911"/>
            <a:ext cx="9869277" cy="546811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BE3DFC3-C9E3-CF15-2110-E86060118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753" y="328180"/>
            <a:ext cx="9859751" cy="584402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7D72E37-5FB7-4766-D671-3316C698E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753" y="328180"/>
            <a:ext cx="9997367" cy="584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8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ідзаголовок 3">
            <a:extLst>
              <a:ext uri="{FF2B5EF4-FFF2-40B4-BE49-F238E27FC236}">
                <a16:creationId xmlns:a16="http://schemas.microsoft.com/office/drawing/2014/main" id="{E0B64670-62B1-D802-0267-ACF3DAE555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MY</a:t>
            </a:r>
          </a:p>
          <a:p>
            <a:r>
              <a:rPr lang="en-US" dirty="0"/>
              <a:t>development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98267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216A910-442A-2C0E-2D1A-56FA64958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Комунікація:</a:t>
            </a:r>
            <a:br>
              <a:rPr lang="uk-UA" dirty="0"/>
            </a:br>
            <a:endParaRPr lang="uk-UA" dirty="0"/>
          </a:p>
        </p:txBody>
      </p:sp>
      <p:pic>
        <p:nvPicPr>
          <p:cNvPr id="8" name="Місце для вмісту 7">
            <a:extLst>
              <a:ext uri="{FF2B5EF4-FFF2-40B4-BE49-F238E27FC236}">
                <a16:creationId xmlns:a16="http://schemas.microsoft.com/office/drawing/2014/main" id="{01BA2162-811E-BE5B-5EE7-4B8942AAD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6412" y="1194699"/>
            <a:ext cx="4258856" cy="4833938"/>
          </a:xfr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A22FCF0-5D8B-CD8A-3640-D274C0C8C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054" y="1275908"/>
            <a:ext cx="4575511" cy="475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455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D5BD57-93CC-7668-83D9-382D34575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Виконали завдання:</a:t>
            </a:r>
          </a:p>
        </p:txBody>
      </p:sp>
      <p:sp>
        <p:nvSpPr>
          <p:cNvPr id="21" name="Місце для вмісту 20">
            <a:extLst>
              <a:ext uri="{FF2B5EF4-FFF2-40B4-BE49-F238E27FC236}">
                <a16:creationId xmlns:a16="http://schemas.microsoft.com/office/drawing/2014/main" id="{6B84BE0A-D1CF-40A2-D6F3-0759514B5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B87AB28-E533-95BA-09B2-33EABB6C0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92" y="963729"/>
            <a:ext cx="11786616" cy="256585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4BE13C9-FE84-6750-F051-1A1429DDB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92" y="3529584"/>
            <a:ext cx="11786616" cy="269748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9A7D838-656F-EE14-632E-3752D5B1D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692" y="963729"/>
            <a:ext cx="11786616" cy="287540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2B523E1-C291-6CDB-857E-04F6DED8C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692" y="2583128"/>
            <a:ext cx="11786616" cy="3500541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овца, трава, пингвин, на открытом воздух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96CA6A2-FED3-A8F8-0016-850870F7A3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75" y="2194932"/>
            <a:ext cx="4315257" cy="241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69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2A67F5-7D1B-AB0F-382A-A637A6563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Всі інші…</a:t>
            </a: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0794B8F5-5DD1-035F-0441-F7600B11B1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20840650">
            <a:off x="265540" y="1113618"/>
            <a:ext cx="6166012" cy="166008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0EE9202-2DF2-F416-2D5E-23E9F1996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31015">
            <a:off x="4914877" y="1474357"/>
            <a:ext cx="7136914" cy="163038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F76754E-3A6D-53FE-E90B-F4C8910CB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642" y="2207556"/>
            <a:ext cx="8468907" cy="262926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E4C5113-BC14-A171-999A-B1E329A28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48985">
            <a:off x="251001" y="4209278"/>
            <a:ext cx="6666985" cy="216247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FFD304-DF93-D382-B1FC-8A588D3C63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930776">
            <a:off x="4464914" y="4111554"/>
            <a:ext cx="7456197" cy="188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9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itle">
  <a:themeElements>
    <a:clrScheme name="JYSK template">
      <a:dk1>
        <a:srgbClr val="565655"/>
      </a:dk1>
      <a:lt1>
        <a:sysClr val="window" lastClr="FFFFFF"/>
      </a:lt1>
      <a:dk2>
        <a:srgbClr val="565655"/>
      </a:dk2>
      <a:lt2>
        <a:srgbClr val="D0CECE"/>
      </a:lt2>
      <a:accent1>
        <a:srgbClr val="143C8A"/>
      </a:accent1>
      <a:accent2>
        <a:srgbClr val="4BA4DF"/>
      </a:accent2>
      <a:accent3>
        <a:srgbClr val="9CC3E5"/>
      </a:accent3>
      <a:accent4>
        <a:srgbClr val="2E75B5"/>
      </a:accent4>
      <a:accent5>
        <a:srgbClr val="48A1FA"/>
      </a:accent5>
      <a:accent6>
        <a:srgbClr val="034A90"/>
      </a:accent6>
      <a:hlink>
        <a:srgbClr val="0563C1"/>
      </a:hlink>
      <a:folHlink>
        <a:srgbClr val="4BA4DF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YSK outdoor FY25_final" id="{8100059A-FE25-D74A-ABE1-ABA0C8FCE5E2}" vid="{3B21D9F9-7C3B-C446-9012-831E7041AB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4F66457922CD439B4C537E3463C4CC" ma:contentTypeVersion="6" ma:contentTypeDescription="Create a new document." ma:contentTypeScope="" ma:versionID="c8d6c77a410fa0bd3f420563346993da">
  <xsd:schema xmlns:xsd="http://www.w3.org/2001/XMLSchema" xmlns:xs="http://www.w3.org/2001/XMLSchema" xmlns:p="http://schemas.microsoft.com/office/2006/metadata/properties" xmlns:ns2="5cae242a-ff90-464e-a0a2-2418b7e71834" xmlns:ns3="33f7f070-486a-46d9-a80b-dc499a041972" targetNamespace="http://schemas.microsoft.com/office/2006/metadata/properties" ma:root="true" ma:fieldsID="7cfe056fc2c5cf27e494002764c97e6b" ns2:_="" ns3:_="">
    <xsd:import namespace="5cae242a-ff90-464e-a0a2-2418b7e71834"/>
    <xsd:import namespace="33f7f070-486a-46d9-a80b-dc499a04197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ae242a-ff90-464e-a0a2-2418b7e7183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7f070-486a-46d9-a80b-dc499a0419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F195D3-AA43-47D5-B789-72A185EB4E16}">
  <ds:schemaRefs>
    <ds:schemaRef ds:uri="http://schemas.microsoft.com/office/2006/documentManagement/types"/>
    <ds:schemaRef ds:uri="33f7f070-486a-46d9-a80b-dc499a041972"/>
    <ds:schemaRef ds:uri="5cae242a-ff90-464e-a0a2-2418b7e71834"/>
    <ds:schemaRef ds:uri="http://purl.org/dc/dcmitype/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3961E08-7722-4D45-A65D-7F516A026F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DFC219-5C63-44C3-9B0E-2D344DD5FE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ae242a-ff90-464e-a0a2-2418b7e71834"/>
    <ds:schemaRef ds:uri="33f7f070-486a-46d9-a80b-dc499a0419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</Template>
  <TotalTime>1380</TotalTime>
  <Words>1054</Words>
  <Application>Microsoft Office PowerPoint</Application>
  <PresentationFormat>Широкий екран</PresentationFormat>
  <Paragraphs>435</Paragraphs>
  <Slides>19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19</vt:i4>
      </vt:variant>
    </vt:vector>
  </HeadingPairs>
  <TitlesOfParts>
    <vt:vector size="24" baseType="lpstr">
      <vt:lpstr>Arial</vt:lpstr>
      <vt:lpstr>Calibri</vt:lpstr>
      <vt:lpstr>Verdana</vt:lpstr>
      <vt:lpstr>Verdana Pro</vt:lpstr>
      <vt:lpstr>Title</vt:lpstr>
      <vt:lpstr>Презентація PowerPoint</vt:lpstr>
      <vt:lpstr>Знижки по магазинам та кодам:</vt:lpstr>
      <vt:lpstr>7 код по групам товарів:</vt:lpstr>
      <vt:lpstr>Презентація PowerPoint</vt:lpstr>
      <vt:lpstr>Комплекси 01.07-31.07</vt:lpstr>
      <vt:lpstr>По магазинам:</vt:lpstr>
      <vt:lpstr>Презентація PowerPoint</vt:lpstr>
      <vt:lpstr>Презентація PowerPoint</vt:lpstr>
      <vt:lpstr>Stock adj. Липень</vt:lpstr>
      <vt:lpstr>Stock adj. по групам товарів</vt:lpstr>
      <vt:lpstr>Stock adj. по місячно:</vt:lpstr>
      <vt:lpstr>Робота з мінусовими залишками:</vt:lpstr>
      <vt:lpstr>Висновки/Підсумки:</vt:lpstr>
      <vt:lpstr>Презентація PowerPoint</vt:lpstr>
      <vt:lpstr>Презентація PowerPoint</vt:lpstr>
      <vt:lpstr>Презентація PowerPoint</vt:lpstr>
      <vt:lpstr>Комунікація: </vt:lpstr>
      <vt:lpstr>Виконали завдання:</vt:lpstr>
      <vt:lpstr>Всі інші…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Marc Nicholas Bech Fruergaard</dc:creator>
  <cp:lastModifiedBy>Adam Sadkevich (J087)</cp:lastModifiedBy>
  <cp:revision>82</cp:revision>
  <dcterms:created xsi:type="dcterms:W3CDTF">2025-02-07T14:46:24Z</dcterms:created>
  <dcterms:modified xsi:type="dcterms:W3CDTF">2025-08-10T14:08:59Z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0x010100704F66457922CD439B4C537E3463C4CC</vt:lpwstr>
  </property>
</Properties>
</file>