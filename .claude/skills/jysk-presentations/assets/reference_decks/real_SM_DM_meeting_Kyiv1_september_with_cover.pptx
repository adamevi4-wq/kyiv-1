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7"/>
  </p:notesMasterIdLst>
  <p:handoutMasterIdLst>
    <p:handoutMasterId r:id="rId18"/>
  </p:handoutMasterIdLst>
  <p:sldIdLst>
    <p:sldId id="256" r:id="rId5"/>
    <p:sldId id="260" r:id="rId6"/>
    <p:sldId id="272" r:id="rId7"/>
    <p:sldId id="2147483634" r:id="rId8"/>
    <p:sldId id="2147483635" r:id="rId9"/>
    <p:sldId id="2147483602" r:id="rId10"/>
    <p:sldId id="2147483636" r:id="rId11"/>
    <p:sldId id="284" r:id="rId12"/>
    <p:sldId id="2147483637" r:id="rId13"/>
    <p:sldId id="2147483638" r:id="rId14"/>
    <p:sldId id="2147483639" r:id="rId15"/>
    <p:sldId id="292" r:id="rId16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3D88"/>
    <a:srgbClr val="796650"/>
    <a:srgbClr val="143C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A62EDC-2F71-4553-99F0-6DCFE1F33ECF}" v="1" dt="2026-09-03T13:28:46.4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6301" autoAdjust="0"/>
  </p:normalViewPr>
  <p:slideViewPr>
    <p:cSldViewPr snapToGrid="0">
      <p:cViewPr varScale="1">
        <p:scale>
          <a:sx n="91" d="100"/>
          <a:sy n="91" d="100"/>
        </p:scale>
        <p:origin x="2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110" d="100"/>
          <a:sy n="110" d="100"/>
        </p:scale>
        <p:origin x="3336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B8B90A9-72E6-ADCD-32D1-6BD45348D89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53A405-DCAC-259B-0B2A-2D52A03EA8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A2B490-A9E2-468B-BF45-7A385C5581B0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0A538-931F-E7AA-2366-777FBE7FD99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51AC9-0389-85E5-7FC9-DB70B46F26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BC4405-7BB2-4967-AA21-1BEC70774A7D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46800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CB3BA-6D19-4791-B90A-7BCACC129D79}" type="datetimeFigureOut">
              <a:rPr lang="en-GB" smtClean="0"/>
              <a:t>03/09/2026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230B7-F7D9-462B-9D82-1201BD8A139C}" type="slidenum">
              <a:rPr lang="en-GB" smtClean="0"/>
              <a:t>‹№›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79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uk-UA" dirty="0"/>
              <a:t>Виділити магазини </a:t>
            </a:r>
            <a:r>
              <a:rPr lang="uk-UA" dirty="0" err="1"/>
              <a:t>аккумульовано</a:t>
            </a:r>
            <a:r>
              <a:rPr lang="uk-UA" dirty="0"/>
              <a:t>.</a:t>
            </a:r>
          </a:p>
          <a:p>
            <a:r>
              <a:rPr lang="uk-UA" dirty="0"/>
              <a:t>Сказати, що маємо гарну тенденцію по -місячно</a:t>
            </a:r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3230B7-F7D9-462B-9D82-1201BD8A139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87027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sv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jpe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4BAE88-8D4C-8B8A-6E71-2DCFF94C552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0"/>
            <a:ext cx="12191999" cy="6865951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6A2AB264-0DDD-4213-AF4A-DEF5673070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02564" y="3751333"/>
            <a:ext cx="5325796" cy="713987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title</a:t>
            </a:r>
            <a:endParaRPr lang="en-DK" dirty="0"/>
          </a:p>
        </p:txBody>
      </p:sp>
      <p:sp>
        <p:nvSpPr>
          <p:cNvPr id="8" name="Title 6">
            <a:extLst>
              <a:ext uri="{FF2B5EF4-FFF2-40B4-BE49-F238E27FC236}">
                <a16:creationId xmlns:a16="http://schemas.microsoft.com/office/drawing/2014/main" id="{494D6453-18A4-43B8-826C-0775693EC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50" y="2081451"/>
            <a:ext cx="5360670" cy="1484709"/>
          </a:xfrm>
        </p:spPr>
        <p:txBody>
          <a:bodyPr anchor="b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DK" dirty="0"/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AB6F159B-DA78-4C80-9405-B73BD9FAD0E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CA64632-625C-CB89-3418-E41306FB4D8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2D30CA04-B88D-426B-1120-2FBD1044C69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964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81832BB-DF19-DB39-D5AD-1F39EA82E15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0" y="0"/>
            <a:ext cx="12214331" cy="6865952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265262" y="6433794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AD3C34B-A5BC-40D3-8A13-AB5D7F42FB15}" type="slidenum">
              <a:rPr lang="en-GB" noProof="0" smtClean="0"/>
              <a:t>‹№›</a:t>
            </a:fld>
            <a:endParaRPr lang="en-GB" noProof="0" dirty="0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FFBE7AF3-E254-44A9-B79F-0093CB194E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0493" y="824789"/>
            <a:ext cx="4179671" cy="208121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pPr lvl="0"/>
            <a:r>
              <a:rPr lang="en-GB" noProof="0" dirty="0"/>
              <a:t>Click to edit agenda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F1ECAA83-CFCE-4788-8809-758BC6D4411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04154" y="909391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0C5854CB-21B6-4E68-B06C-086DE2601B3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15075" y="1466103"/>
            <a:ext cx="5693387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tx2"/>
              </a:buClr>
              <a:defRPr sz="2000"/>
            </a:lvl1pPr>
            <a:lvl2pPr>
              <a:buClr>
                <a:schemeClr val="tx2"/>
              </a:buClr>
              <a:defRPr sz="1800"/>
            </a:lvl2pPr>
            <a:lvl3pPr>
              <a:buClr>
                <a:schemeClr val="tx2"/>
              </a:buClr>
              <a:defRPr sz="1600"/>
            </a:lvl3pPr>
            <a:lvl4pPr>
              <a:buClr>
                <a:schemeClr val="tx2"/>
              </a:buClr>
              <a:defRPr sz="1400"/>
            </a:lvl4pPr>
            <a:lvl5pPr>
              <a:buClr>
                <a:schemeClr val="tx2"/>
              </a:buCl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48D65B76-0D7D-4B87-9354-B26B83D8793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064DFB3-1D05-3DE4-0D78-0107F3E86B6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724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95794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For Auditorium/ very bright screen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74B668-7C12-9AC7-2FE4-1E14F302813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428346"/>
            <a:ext cx="10515600" cy="4834231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F9FFB1-EFB4-D484-8F3E-CB8F83DB23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220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 of tod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FFF6EEF8-79E6-9824-32A8-802F66F2D2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2353" y="1"/>
            <a:ext cx="12194353" cy="686595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1B12AB1E-30FC-5FDB-DC0D-79C992177FF1}"/>
              </a:ext>
            </a:extLst>
          </p:cNvPr>
          <p:cNvSpPr/>
          <p:nvPr userDrawn="1"/>
        </p:nvSpPr>
        <p:spPr>
          <a:xfrm>
            <a:off x="822041" y="1492954"/>
            <a:ext cx="3822908" cy="468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8586A7-B45C-A7DA-E192-454D3512C520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3211" y="2436709"/>
            <a:ext cx="5672854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2442CAE1-4C03-4CE9-8FE5-E6BA0EC5AED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8AC9C985-5E6C-3F79-CEC3-61031E69C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233356" y="978750"/>
            <a:ext cx="6577012" cy="13834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 marL="9144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36DFDB1E-52D5-F885-4E89-60D09A71D79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33356" y="2938888"/>
            <a:ext cx="6577012" cy="137473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9" name="Text Placeholder 46">
            <a:extLst>
              <a:ext uri="{FF2B5EF4-FFF2-40B4-BE49-F238E27FC236}">
                <a16:creationId xmlns:a16="http://schemas.microsoft.com/office/drawing/2014/main" id="{68125BE6-78E3-7D54-6FA9-BD50EE5E04C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33356" y="4972658"/>
            <a:ext cx="6577012" cy="1374733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C6749F60-752A-AB08-293C-D85669634C2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623050" y="6494382"/>
            <a:ext cx="5568950" cy="385967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1439DE-8C0C-323C-F052-AF93DCB176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8EF9CEB-706C-1B7D-FD75-A69EAC4A7E8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4399752" y="1080359"/>
            <a:ext cx="731027" cy="93240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2673094-B13F-368C-D9AB-18DC2C2542D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4390970" y="3069157"/>
            <a:ext cx="731027" cy="9324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25568D60-005B-09A8-EA09-CFDF2FC6D8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4396854" y="5044741"/>
            <a:ext cx="731027" cy="932400"/>
          </a:xfrm>
          <a:prstGeom prst="rect">
            <a:avLst/>
          </a:prstGeom>
        </p:spPr>
      </p:pic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F22EA8B-7DDD-C766-452B-1AFF0255505A}"/>
              </a:ext>
            </a:extLst>
          </p:cNvPr>
          <p:cNvCxnSpPr>
            <a:cxnSpLocks/>
          </p:cNvCxnSpPr>
          <p:nvPr userDrawn="1"/>
        </p:nvCxnSpPr>
        <p:spPr>
          <a:xfrm flipH="1">
            <a:off x="4553211" y="4422085"/>
            <a:ext cx="5672854" cy="0"/>
          </a:xfrm>
          <a:prstGeom prst="line">
            <a:avLst/>
          </a:prstGeom>
          <a:ln w="12700">
            <a:solidFill>
              <a:schemeClr val="bg1">
                <a:alpha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8A8972-8610-505D-7AC5-C5822C154E5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27390" y="2012760"/>
            <a:ext cx="3498850" cy="2805691"/>
          </a:xfrm>
        </p:spPr>
        <p:txBody>
          <a:bodyPr wrap="square" anchor="ctr" anchorCtr="0">
            <a:no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buFontTx/>
              <a:buNone/>
              <a:defRPr sz="40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Focus </a:t>
            </a:r>
            <a:br>
              <a:rPr lang="en-GB" dirty="0"/>
            </a:br>
            <a:r>
              <a:rPr lang="en-GB" dirty="0"/>
              <a:t>of today</a:t>
            </a:r>
            <a:endParaRPr lang="en-DK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9AF7955-B6E2-4551-7F67-A5ACEF1860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27638" y="583568"/>
            <a:ext cx="6738937" cy="427038"/>
          </a:xfrm>
        </p:spPr>
        <p:txBody>
          <a:bodyPr>
            <a:normAutofit/>
          </a:bodyPr>
          <a:lstStyle>
            <a:lvl1pPr>
              <a:buFontTx/>
              <a:buNone/>
              <a:defRPr sz="2000" b="1">
                <a:solidFill>
                  <a:schemeClr val="bg1"/>
                </a:solidFill>
              </a:defRPr>
            </a:lvl1pPr>
            <a:lvl2pPr>
              <a:buFontTx/>
              <a:buNone/>
              <a:defRPr b="1">
                <a:solidFill>
                  <a:schemeClr val="bg1"/>
                </a:solidFill>
              </a:defRPr>
            </a:lvl2pPr>
            <a:lvl3pPr>
              <a:buFontTx/>
              <a:buNone/>
              <a:defRPr b="1">
                <a:solidFill>
                  <a:schemeClr val="bg1"/>
                </a:solidFill>
              </a:defRPr>
            </a:lvl3pPr>
            <a:lvl4pPr>
              <a:buFontTx/>
              <a:buNone/>
              <a:defRPr b="1">
                <a:solidFill>
                  <a:schemeClr val="bg1"/>
                </a:solidFill>
              </a:defRPr>
            </a:lvl4pPr>
            <a:lvl5pPr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What do we want to inform about?</a:t>
            </a:r>
            <a:endParaRPr lang="en-DK" dirty="0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A912D6EF-DC28-E846-3F49-4E1E1EC8C4A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33356" y="2543706"/>
            <a:ext cx="6738937" cy="427038"/>
          </a:xfrm>
        </p:spPr>
        <p:txBody>
          <a:bodyPr>
            <a:normAutofit/>
          </a:bodyPr>
          <a:lstStyle>
            <a:lvl1pPr>
              <a:buFontTx/>
              <a:buNone/>
              <a:defRPr sz="2000" b="1">
                <a:solidFill>
                  <a:schemeClr val="bg1"/>
                </a:solidFill>
              </a:defRPr>
            </a:lvl1pPr>
            <a:lvl2pPr>
              <a:buFontTx/>
              <a:buNone/>
              <a:defRPr b="1">
                <a:solidFill>
                  <a:schemeClr val="bg1"/>
                </a:solidFill>
              </a:defRPr>
            </a:lvl2pPr>
            <a:lvl3pPr>
              <a:buFontTx/>
              <a:buNone/>
              <a:defRPr b="1">
                <a:solidFill>
                  <a:schemeClr val="bg1"/>
                </a:solidFill>
              </a:defRPr>
            </a:lvl3pPr>
            <a:lvl4pPr>
              <a:buFontTx/>
              <a:buNone/>
              <a:defRPr b="1">
                <a:solidFill>
                  <a:schemeClr val="bg1"/>
                </a:solidFill>
              </a:defRPr>
            </a:lvl4pPr>
            <a:lvl5pPr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What do we need to discuss?</a:t>
            </a:r>
            <a:endParaRPr lang="en-DK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79BABA0D-8287-5A28-5897-6FFB40BE2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227637" y="4585390"/>
            <a:ext cx="6738937" cy="427038"/>
          </a:xfrm>
        </p:spPr>
        <p:txBody>
          <a:bodyPr>
            <a:normAutofit/>
          </a:bodyPr>
          <a:lstStyle>
            <a:lvl1pPr>
              <a:buFontTx/>
              <a:buNone/>
              <a:defRPr sz="2000" b="1">
                <a:solidFill>
                  <a:schemeClr val="bg1"/>
                </a:solidFill>
              </a:defRPr>
            </a:lvl1pPr>
            <a:lvl2pPr>
              <a:buFontTx/>
              <a:buNone/>
              <a:defRPr b="1">
                <a:solidFill>
                  <a:schemeClr val="bg1"/>
                </a:solidFill>
              </a:defRPr>
            </a:lvl2pPr>
            <a:lvl3pPr>
              <a:buFontTx/>
              <a:buNone/>
              <a:defRPr b="1">
                <a:solidFill>
                  <a:schemeClr val="bg1"/>
                </a:solidFill>
              </a:defRPr>
            </a:lvl3pPr>
            <a:lvl4pPr>
              <a:buFontTx/>
              <a:buNone/>
              <a:defRPr b="1">
                <a:solidFill>
                  <a:schemeClr val="bg1"/>
                </a:solidFill>
              </a:defRPr>
            </a:lvl4pPr>
            <a:lvl5pPr>
              <a:buFontTx/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What do we need to decide?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59430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866900" y="2453401"/>
            <a:ext cx="8458199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56467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tement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 descr="A blue and white gradient&#10;&#10;Description automatically generated">
            <a:extLst>
              <a:ext uri="{FF2B5EF4-FFF2-40B4-BE49-F238E27FC236}">
                <a16:creationId xmlns:a16="http://schemas.microsoft.com/office/drawing/2014/main" id="{1C5CA42E-C3A8-989F-762D-8EBB0F2439C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12614" y="2309542"/>
            <a:ext cx="6057900" cy="2238914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Important message goes here…</a:t>
            </a:r>
            <a:endParaRPr lang="en-DK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E6A438-202B-9729-2614-ADC57B54DE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CB1E56F-0588-2EAD-D71A-95A1AD0CD1D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5414" y="6374125"/>
            <a:ext cx="3048000" cy="24130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E1A5D26-4B70-119C-2B81-F62E0035EB3B}"/>
              </a:ext>
            </a:extLst>
          </p:cNvPr>
          <p:cNvCxnSpPr/>
          <p:nvPr userDrawn="1"/>
        </p:nvCxnSpPr>
        <p:spPr>
          <a:xfrm>
            <a:off x="4779038" y="2031999"/>
            <a:ext cx="0" cy="279400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AB49C8D4-EFEB-A434-5535-E2AA2818DFF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4716" y="2898485"/>
            <a:ext cx="3405655" cy="1061028"/>
          </a:xfrm>
          <a:ln>
            <a:noFill/>
          </a:ln>
        </p:spPr>
        <p:txBody>
          <a:bodyPr anchor="ctr"/>
          <a:lstStyle>
            <a:lvl1pPr algn="ctr">
              <a:lnSpc>
                <a:spcPct val="100000"/>
              </a:lnSpc>
              <a:buNone/>
              <a:defRPr sz="24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7769733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6168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97400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045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32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23813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EBDFB037-EAFC-A29C-7CFB-E7517294DA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1999" cy="686197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18DD05-0BCB-DA0C-05C3-0CAE932F08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8" name="Subtitle 2">
            <a:extLst>
              <a:ext uri="{FF2B5EF4-FFF2-40B4-BE49-F238E27FC236}">
                <a16:creationId xmlns:a16="http://schemas.microsoft.com/office/drawing/2014/main" id="{D22FDDF0-36F7-405F-96E9-C43F53162FB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D57C8-C430-09F9-48EB-6502AA3DA8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9042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D8C03DC-57CE-C67D-6BF6-123584E3B3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193"/>
          <a:stretch>
            <a:fillRect/>
          </a:stretch>
        </p:blipFill>
        <p:spPr>
          <a:xfrm>
            <a:off x="0" y="-6243"/>
            <a:ext cx="12192000" cy="6872194"/>
          </a:xfrm>
          <a:prstGeom prst="rect">
            <a:avLst/>
          </a:prstGeom>
        </p:spPr>
      </p:pic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9BE73129-3E9A-4A8E-882E-6E877818BF7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0EC476-6AC8-F84F-1E3A-8D2BD4FFCDE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E4E6FC86-C1B9-F5D1-0490-9100F8B948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DADA3C-5EEE-FD5B-162B-2977DACEFAA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741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er Small Speech Bubb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D4585E-9BD5-9B39-0AD0-87D63DD2480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3471" cy="6858000"/>
          </a:xfrm>
          <a:prstGeom prst="rect">
            <a:avLst/>
          </a:prstGeom>
        </p:spPr>
      </p:pic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29425EAC-F417-4243-8CBE-7815E902BD3D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8B1374-9077-22D5-A1B2-8AFD137FD7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098894" y="907868"/>
            <a:ext cx="3955025" cy="5042263"/>
          </a:xfrm>
          <a:prstGeom prst="rect">
            <a:avLst/>
          </a:prstGeom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7AAB4446-B862-DA1A-2B17-FE0F4900C176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447947" y="1939159"/>
            <a:ext cx="3296105" cy="19511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i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</a:t>
            </a:r>
            <a:br>
              <a:rPr lang="en-GB" dirty="0"/>
            </a:br>
            <a:r>
              <a:rPr lang="en-GB" dirty="0"/>
              <a:t>breaker headline</a:t>
            </a:r>
            <a:endParaRPr lang="en-DK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68D4677-6A3C-A568-8EC2-054814303F6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430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7D11DE8-2273-6B65-DDC3-ED4868A3F9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7803" y="0"/>
            <a:ext cx="12207607" cy="6865951"/>
          </a:xfrm>
          <a:prstGeom prst="rect">
            <a:avLst/>
          </a:prstGeom>
        </p:spPr>
      </p:pic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876925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solidFill>
            <a:schemeClr val="bg1">
              <a:alpha val="90000"/>
            </a:schemeClr>
          </a:solid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tx2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9F51785-B66B-D3E7-C7E2-776B671D58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56365D8-4FDA-DD41-EB2C-14BC2F53CB5B}"/>
              </a:ext>
            </a:extLst>
          </p:cNvPr>
          <p:cNvSpPr txBox="1"/>
          <p:nvPr userDrawn="1"/>
        </p:nvSpPr>
        <p:spPr>
          <a:xfrm>
            <a:off x="13450529" y="17009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179157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reaker Large Placeholder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138F53-9B17-02AC-B8DC-687A1ADB3F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982"/>
          <a:stretch>
            <a:fillRect/>
          </a:stretch>
        </p:blipFill>
        <p:spPr>
          <a:xfrm>
            <a:off x="-7087" y="1"/>
            <a:ext cx="12206177" cy="6851632"/>
          </a:xfrm>
          <a:prstGeom prst="rect">
            <a:avLst/>
          </a:prstGeom>
        </p:spPr>
      </p:pic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41AA3531-8B9A-48FA-BF4C-4B90C907393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2D44A09F-00DC-4E86-938B-597D425EC5F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96000" y="908064"/>
            <a:ext cx="6110177" cy="5949936"/>
          </a:xfrm>
          <a:custGeom>
            <a:avLst/>
            <a:gdLst>
              <a:gd name="connsiteX0" fmla="*/ 979507 w 6096000"/>
              <a:gd name="connsiteY0" fmla="*/ 0 h 5876925"/>
              <a:gd name="connsiteX1" fmla="*/ 5116493 w 6096000"/>
              <a:gd name="connsiteY1" fmla="*/ 0 h 5876925"/>
              <a:gd name="connsiteX2" fmla="*/ 6096000 w 6096000"/>
              <a:gd name="connsiteY2" fmla="*/ 979507 h 5876925"/>
              <a:gd name="connsiteX3" fmla="*/ 6096000 w 6096000"/>
              <a:gd name="connsiteY3" fmla="*/ 5876925 h 5876925"/>
              <a:gd name="connsiteX4" fmla="*/ 609600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5876925 h 5876925"/>
              <a:gd name="connsiteX7" fmla="*/ 0 w 6096000"/>
              <a:gd name="connsiteY7" fmla="*/ 979507 h 5876925"/>
              <a:gd name="connsiteX8" fmla="*/ 979507 w 6096000"/>
              <a:gd name="connsiteY8" fmla="*/ 0 h 5876925"/>
              <a:gd name="connsiteX0" fmla="*/ 979507 w 6096000"/>
              <a:gd name="connsiteY0" fmla="*/ 0 h 5876925"/>
              <a:gd name="connsiteX1" fmla="*/ 6096000 w 6096000"/>
              <a:gd name="connsiteY1" fmla="*/ 979507 h 5876925"/>
              <a:gd name="connsiteX2" fmla="*/ 6096000 w 6096000"/>
              <a:gd name="connsiteY2" fmla="*/ 5876925 h 5876925"/>
              <a:gd name="connsiteX3" fmla="*/ 6096000 w 6096000"/>
              <a:gd name="connsiteY3" fmla="*/ 5876925 h 5876925"/>
              <a:gd name="connsiteX4" fmla="*/ 0 w 6096000"/>
              <a:gd name="connsiteY4" fmla="*/ 5876925 h 5876925"/>
              <a:gd name="connsiteX5" fmla="*/ 0 w 6096000"/>
              <a:gd name="connsiteY5" fmla="*/ 5876925 h 5876925"/>
              <a:gd name="connsiteX6" fmla="*/ 0 w 6096000"/>
              <a:gd name="connsiteY6" fmla="*/ 979507 h 5876925"/>
              <a:gd name="connsiteX7" fmla="*/ 979507 w 6096000"/>
              <a:gd name="connsiteY7" fmla="*/ 0 h 5876925"/>
              <a:gd name="connsiteX0" fmla="*/ 979507 w 6110177"/>
              <a:gd name="connsiteY0" fmla="*/ 0 h 5876925"/>
              <a:gd name="connsiteX1" fmla="*/ 6110177 w 6110177"/>
              <a:gd name="connsiteY1" fmla="*/ 8400 h 5876925"/>
              <a:gd name="connsiteX2" fmla="*/ 6096000 w 6110177"/>
              <a:gd name="connsiteY2" fmla="*/ 5876925 h 5876925"/>
              <a:gd name="connsiteX3" fmla="*/ 6096000 w 6110177"/>
              <a:gd name="connsiteY3" fmla="*/ 5876925 h 5876925"/>
              <a:gd name="connsiteX4" fmla="*/ 0 w 6110177"/>
              <a:gd name="connsiteY4" fmla="*/ 5876925 h 5876925"/>
              <a:gd name="connsiteX5" fmla="*/ 0 w 6110177"/>
              <a:gd name="connsiteY5" fmla="*/ 5876925 h 5876925"/>
              <a:gd name="connsiteX6" fmla="*/ 0 w 6110177"/>
              <a:gd name="connsiteY6" fmla="*/ 979507 h 5876925"/>
              <a:gd name="connsiteX7" fmla="*/ 979507 w 6110177"/>
              <a:gd name="connsiteY7" fmla="*/ 0 h 5876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10177" h="5876925">
                <a:moveTo>
                  <a:pt x="979507" y="0"/>
                </a:moveTo>
                <a:lnTo>
                  <a:pt x="6110177" y="8400"/>
                </a:lnTo>
                <a:cubicBezTo>
                  <a:pt x="6105451" y="1964575"/>
                  <a:pt x="6100726" y="3920750"/>
                  <a:pt x="6096000" y="5876925"/>
                </a:cubicBezTo>
                <a:lnTo>
                  <a:pt x="6096000" y="5876925"/>
                </a:lnTo>
                <a:lnTo>
                  <a:pt x="0" y="5876925"/>
                </a:lnTo>
                <a:lnTo>
                  <a:pt x="0" y="5876925"/>
                </a:lnTo>
                <a:lnTo>
                  <a:pt x="0" y="979507"/>
                </a:lnTo>
                <a:cubicBezTo>
                  <a:pt x="0" y="438540"/>
                  <a:pt x="438540" y="0"/>
                  <a:pt x="979507" y="0"/>
                </a:cubicBez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>
                <a:solidFill>
                  <a:schemeClr val="tx2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10BE0553-E197-4288-B30F-1451CC657C5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584927" y="3352800"/>
            <a:ext cx="5360670" cy="3684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sub headline</a:t>
            </a:r>
            <a:endParaRPr lang="en-DK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2E4EB121-471C-4EE2-A827-BBC0FAA69E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84927" y="2386251"/>
            <a:ext cx="536067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912E2A-3B02-0482-37FA-993FC2A267D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13027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Ipad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D957898A-9EF0-8D9C-4E6F-5B1A0013D5F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16201"/>
            <a:ext cx="12190670" cy="6856425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227012B-92E0-9227-F0C2-21AA505C7A06}"/>
              </a:ext>
            </a:extLst>
          </p:cNvPr>
          <p:cNvSpPr/>
          <p:nvPr userDrawn="1"/>
        </p:nvSpPr>
        <p:spPr>
          <a:xfrm>
            <a:off x="4829696" y="1219549"/>
            <a:ext cx="6201294" cy="44497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BC00F2C-AEB6-4598-84A8-23D79B2BF1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829696" y="1236252"/>
            <a:ext cx="6201294" cy="430599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1B2806-E722-4CDF-8444-83E50EEAEFC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517" y="1024371"/>
            <a:ext cx="6597651" cy="4736869"/>
          </a:xfrm>
          <a:prstGeom prst="roundRect">
            <a:avLst>
              <a:gd name="adj" fmla="val 6747"/>
            </a:avLst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63CAAA9-3098-CADD-2B83-10154856708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9899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eaker phone Placehol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C1FF0E2-6BCA-2D35-3D2F-CB027BEFBAD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787"/>
            <a:ext cx="12192000" cy="6856425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4BFE87E-0B5B-A963-7113-EE93A4818243}"/>
              </a:ext>
            </a:extLst>
          </p:cNvPr>
          <p:cNvSpPr/>
          <p:nvPr userDrawn="1"/>
        </p:nvSpPr>
        <p:spPr>
          <a:xfrm rot="16200000">
            <a:off x="2997512" y="2047818"/>
            <a:ext cx="6053999" cy="282552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8" name="Picture 7" descr="Shape&#10;&#10;Description automatically generated with medium confidence">
            <a:extLst>
              <a:ext uri="{FF2B5EF4-FFF2-40B4-BE49-F238E27FC236}">
                <a16:creationId xmlns:a16="http://schemas.microsoft.com/office/drawing/2014/main" id="{E8BA05A4-F97C-D367-B970-935B7356691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96291" y="400761"/>
            <a:ext cx="2985910" cy="6103200"/>
          </a:xfrm>
          <a:prstGeom prst="rect">
            <a:avLst/>
          </a:prstGeom>
        </p:spPr>
      </p:pic>
      <p:sp>
        <p:nvSpPr>
          <p:cNvPr id="16" name="Title 6">
            <a:extLst>
              <a:ext uri="{FF2B5EF4-FFF2-40B4-BE49-F238E27FC236}">
                <a16:creationId xmlns:a16="http://schemas.microsoft.com/office/drawing/2014/main" id="{240AE1D0-FAF9-4C20-A886-202F5EBA81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1500" y="1219549"/>
            <a:ext cx="3124200" cy="966549"/>
          </a:xfrm>
        </p:spPr>
        <p:txBody>
          <a:bodyPr anchor="t">
            <a:noAutofit/>
          </a:bodyPr>
          <a:lstStyle>
            <a:lvl1pPr>
              <a:defRPr sz="2800" baseline="0">
                <a:solidFill>
                  <a:schemeClr val="bg1"/>
                </a:solidFill>
                <a:latin typeface="Verdana" panose="020B0604030504040204" pitchFamily="34" charset="0"/>
              </a:defRPr>
            </a:lvl1pPr>
          </a:lstStyle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0" name="Text Placeholder 20">
            <a:extLst>
              <a:ext uri="{FF2B5EF4-FFF2-40B4-BE49-F238E27FC236}">
                <a16:creationId xmlns:a16="http://schemas.microsoft.com/office/drawing/2014/main" id="{69C391EB-B116-46AE-A3B5-B362F3FB1DA4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11E92668-8672-9949-2A08-BEC0721EFAC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45161" y="538162"/>
            <a:ext cx="2688171" cy="5824135"/>
          </a:xfrm>
          <a:custGeom>
            <a:avLst/>
            <a:gdLst>
              <a:gd name="connsiteX0" fmla="*/ 0 w 2905125"/>
              <a:gd name="connsiteY0" fmla="*/ 484197 h 6088063"/>
              <a:gd name="connsiteX1" fmla="*/ 484197 w 2905125"/>
              <a:gd name="connsiteY1" fmla="*/ 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0 w 2905125"/>
              <a:gd name="connsiteY0" fmla="*/ 484197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0 w 2905125"/>
              <a:gd name="connsiteY8" fmla="*/ 484197 h 6088063"/>
              <a:gd name="connsiteX0" fmla="*/ 153987 w 2905125"/>
              <a:gd name="connsiteY0" fmla="*/ 681038 h 6088063"/>
              <a:gd name="connsiteX1" fmla="*/ 501650 w 2905125"/>
              <a:gd name="connsiteY1" fmla="*/ 152400 h 6088063"/>
              <a:gd name="connsiteX2" fmla="*/ 2420928 w 2905125"/>
              <a:gd name="connsiteY2" fmla="*/ 0 h 6088063"/>
              <a:gd name="connsiteX3" fmla="*/ 2905125 w 2905125"/>
              <a:gd name="connsiteY3" fmla="*/ 484197 h 6088063"/>
              <a:gd name="connsiteX4" fmla="*/ 2905125 w 2905125"/>
              <a:gd name="connsiteY4" fmla="*/ 5603866 h 6088063"/>
              <a:gd name="connsiteX5" fmla="*/ 2420928 w 2905125"/>
              <a:gd name="connsiteY5" fmla="*/ 6088063 h 6088063"/>
              <a:gd name="connsiteX6" fmla="*/ 484197 w 2905125"/>
              <a:gd name="connsiteY6" fmla="*/ 6088063 h 6088063"/>
              <a:gd name="connsiteX7" fmla="*/ 0 w 2905125"/>
              <a:gd name="connsiteY7" fmla="*/ 5603866 h 6088063"/>
              <a:gd name="connsiteX8" fmla="*/ 153987 w 2905125"/>
              <a:gd name="connsiteY8" fmla="*/ 681038 h 6088063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905125 w 2905125"/>
              <a:gd name="connsiteY3" fmla="*/ 34132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905125"/>
              <a:gd name="connsiteY0" fmla="*/ 538163 h 5945188"/>
              <a:gd name="connsiteX1" fmla="*/ 501650 w 2905125"/>
              <a:gd name="connsiteY1" fmla="*/ 9525 h 5945188"/>
              <a:gd name="connsiteX2" fmla="*/ 2406650 w 2905125"/>
              <a:gd name="connsiteY2" fmla="*/ 0 h 5945188"/>
              <a:gd name="connsiteX3" fmla="*/ 2840037 w 2905125"/>
              <a:gd name="connsiteY3" fmla="*/ 385762 h 5945188"/>
              <a:gd name="connsiteX4" fmla="*/ 2905125 w 2905125"/>
              <a:gd name="connsiteY4" fmla="*/ 5460991 h 5945188"/>
              <a:gd name="connsiteX5" fmla="*/ 2420928 w 2905125"/>
              <a:gd name="connsiteY5" fmla="*/ 5945188 h 5945188"/>
              <a:gd name="connsiteX6" fmla="*/ 484197 w 2905125"/>
              <a:gd name="connsiteY6" fmla="*/ 5945188 h 5945188"/>
              <a:gd name="connsiteX7" fmla="*/ 0 w 2905125"/>
              <a:gd name="connsiteY7" fmla="*/ 5460991 h 5945188"/>
              <a:gd name="connsiteX8" fmla="*/ 153987 w 2905125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28 w 2840037"/>
              <a:gd name="connsiteY5" fmla="*/ 5945188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945188"/>
              <a:gd name="connsiteX1" fmla="*/ 501650 w 2840037"/>
              <a:gd name="connsiteY1" fmla="*/ 9525 h 5945188"/>
              <a:gd name="connsiteX2" fmla="*/ 2406650 w 2840037"/>
              <a:gd name="connsiteY2" fmla="*/ 0 h 5945188"/>
              <a:gd name="connsiteX3" fmla="*/ 2840037 w 2840037"/>
              <a:gd name="connsiteY3" fmla="*/ 385762 h 5945188"/>
              <a:gd name="connsiteX4" fmla="*/ 2840037 w 2840037"/>
              <a:gd name="connsiteY4" fmla="*/ 5400674 h 5945188"/>
              <a:gd name="connsiteX5" fmla="*/ 2420937 w 2840037"/>
              <a:gd name="connsiteY5" fmla="*/ 5824537 h 5945188"/>
              <a:gd name="connsiteX6" fmla="*/ 484197 w 2840037"/>
              <a:gd name="connsiteY6" fmla="*/ 5945188 h 5945188"/>
              <a:gd name="connsiteX7" fmla="*/ 0 w 2840037"/>
              <a:gd name="connsiteY7" fmla="*/ 5460991 h 5945188"/>
              <a:gd name="connsiteX8" fmla="*/ 153987 w 2840037"/>
              <a:gd name="connsiteY8" fmla="*/ 538163 h 5945188"/>
              <a:gd name="connsiteX0" fmla="*/ 153987 w 2840037"/>
              <a:gd name="connsiteY0" fmla="*/ 538163 h 5824537"/>
              <a:gd name="connsiteX1" fmla="*/ 501650 w 2840037"/>
              <a:gd name="connsiteY1" fmla="*/ 9525 h 5824537"/>
              <a:gd name="connsiteX2" fmla="*/ 2406650 w 2840037"/>
              <a:gd name="connsiteY2" fmla="*/ 0 h 5824537"/>
              <a:gd name="connsiteX3" fmla="*/ 2840037 w 2840037"/>
              <a:gd name="connsiteY3" fmla="*/ 385762 h 5824537"/>
              <a:gd name="connsiteX4" fmla="*/ 2840037 w 2840037"/>
              <a:gd name="connsiteY4" fmla="*/ 5400674 h 5824537"/>
              <a:gd name="connsiteX5" fmla="*/ 2420937 w 2840037"/>
              <a:gd name="connsiteY5" fmla="*/ 5824537 h 5824537"/>
              <a:gd name="connsiteX6" fmla="*/ 482600 w 2840037"/>
              <a:gd name="connsiteY6" fmla="*/ 5805487 h 5824537"/>
              <a:gd name="connsiteX7" fmla="*/ 0 w 2840037"/>
              <a:gd name="connsiteY7" fmla="*/ 5460991 h 5824537"/>
              <a:gd name="connsiteX8" fmla="*/ 153987 w 2840037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0 w 2686050"/>
              <a:gd name="connsiteY0" fmla="*/ 538163 h 5824537"/>
              <a:gd name="connsiteX1" fmla="*/ 347663 w 2686050"/>
              <a:gd name="connsiteY1" fmla="*/ 9525 h 5824537"/>
              <a:gd name="connsiteX2" fmla="*/ 2252663 w 2686050"/>
              <a:gd name="connsiteY2" fmla="*/ 0 h 5824537"/>
              <a:gd name="connsiteX3" fmla="*/ 2686050 w 2686050"/>
              <a:gd name="connsiteY3" fmla="*/ 385762 h 5824537"/>
              <a:gd name="connsiteX4" fmla="*/ 2686050 w 2686050"/>
              <a:gd name="connsiteY4" fmla="*/ 5400674 h 5824537"/>
              <a:gd name="connsiteX5" fmla="*/ 2266950 w 2686050"/>
              <a:gd name="connsiteY5" fmla="*/ 5824537 h 5824537"/>
              <a:gd name="connsiteX6" fmla="*/ 328613 w 2686050"/>
              <a:gd name="connsiteY6" fmla="*/ 5805487 h 5824537"/>
              <a:gd name="connsiteX7" fmla="*/ 0 w 2686050"/>
              <a:gd name="connsiteY7" fmla="*/ 5424488 h 5824537"/>
              <a:gd name="connsiteX8" fmla="*/ 0 w 2686050"/>
              <a:gd name="connsiteY8" fmla="*/ 538163 h 5824537"/>
              <a:gd name="connsiteX0" fmla="*/ 2120 w 2688170"/>
              <a:gd name="connsiteY0" fmla="*/ 538163 h 5824537"/>
              <a:gd name="connsiteX1" fmla="*/ 349783 w 2688170"/>
              <a:gd name="connsiteY1" fmla="*/ 9525 h 5824537"/>
              <a:gd name="connsiteX2" fmla="*/ 2254783 w 2688170"/>
              <a:gd name="connsiteY2" fmla="*/ 0 h 5824537"/>
              <a:gd name="connsiteX3" fmla="*/ 2688170 w 2688170"/>
              <a:gd name="connsiteY3" fmla="*/ 385762 h 5824537"/>
              <a:gd name="connsiteX4" fmla="*/ 2688170 w 2688170"/>
              <a:gd name="connsiteY4" fmla="*/ 5400674 h 5824537"/>
              <a:gd name="connsiteX5" fmla="*/ 2269070 w 2688170"/>
              <a:gd name="connsiteY5" fmla="*/ 5824537 h 5824537"/>
              <a:gd name="connsiteX6" fmla="*/ 330733 w 2688170"/>
              <a:gd name="connsiteY6" fmla="*/ 5805487 h 5824537"/>
              <a:gd name="connsiteX7" fmla="*/ 2120 w 2688170"/>
              <a:gd name="connsiteY7" fmla="*/ 5424488 h 5824537"/>
              <a:gd name="connsiteX8" fmla="*/ 2120 w 2688170"/>
              <a:gd name="connsiteY8" fmla="*/ 538163 h 5824537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29299"/>
              <a:gd name="connsiteX1" fmla="*/ 349783 w 2688170"/>
              <a:gd name="connsiteY1" fmla="*/ 9525 h 5829299"/>
              <a:gd name="connsiteX2" fmla="*/ 2254783 w 2688170"/>
              <a:gd name="connsiteY2" fmla="*/ 0 h 5829299"/>
              <a:gd name="connsiteX3" fmla="*/ 2688170 w 2688170"/>
              <a:gd name="connsiteY3" fmla="*/ 385762 h 5829299"/>
              <a:gd name="connsiteX4" fmla="*/ 2688170 w 2688170"/>
              <a:gd name="connsiteY4" fmla="*/ 5400674 h 5829299"/>
              <a:gd name="connsiteX5" fmla="*/ 2250020 w 2688170"/>
              <a:gd name="connsiteY5" fmla="*/ 5829299 h 5829299"/>
              <a:gd name="connsiteX6" fmla="*/ 330733 w 2688170"/>
              <a:gd name="connsiteY6" fmla="*/ 5805487 h 5829299"/>
              <a:gd name="connsiteX7" fmla="*/ 2120 w 2688170"/>
              <a:gd name="connsiteY7" fmla="*/ 5424488 h 5829299"/>
              <a:gd name="connsiteX8" fmla="*/ 2120 w 2688170"/>
              <a:gd name="connsiteY8" fmla="*/ 538163 h 5829299"/>
              <a:gd name="connsiteX0" fmla="*/ 2120 w 2688170"/>
              <a:gd name="connsiteY0" fmla="*/ 538163 h 5815011"/>
              <a:gd name="connsiteX1" fmla="*/ 349783 w 2688170"/>
              <a:gd name="connsiteY1" fmla="*/ 9525 h 5815011"/>
              <a:gd name="connsiteX2" fmla="*/ 2254783 w 2688170"/>
              <a:gd name="connsiteY2" fmla="*/ 0 h 5815011"/>
              <a:gd name="connsiteX3" fmla="*/ 2688170 w 2688170"/>
              <a:gd name="connsiteY3" fmla="*/ 385762 h 5815011"/>
              <a:gd name="connsiteX4" fmla="*/ 2688170 w 2688170"/>
              <a:gd name="connsiteY4" fmla="*/ 5400674 h 5815011"/>
              <a:gd name="connsiteX5" fmla="*/ 2250020 w 2688170"/>
              <a:gd name="connsiteY5" fmla="*/ 5815011 h 5815011"/>
              <a:gd name="connsiteX6" fmla="*/ 330733 w 2688170"/>
              <a:gd name="connsiteY6" fmla="*/ 5805487 h 5815011"/>
              <a:gd name="connsiteX7" fmla="*/ 2120 w 2688170"/>
              <a:gd name="connsiteY7" fmla="*/ 5424488 h 5815011"/>
              <a:gd name="connsiteX8" fmla="*/ 2120 w 2688170"/>
              <a:gd name="connsiteY8" fmla="*/ 538163 h 5815011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88170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2254783 w 2688170"/>
              <a:gd name="connsiteY2" fmla="*/ 0 h 5819372"/>
              <a:gd name="connsiteX3" fmla="*/ 2688170 w 2688170"/>
              <a:gd name="connsiteY3" fmla="*/ 385762 h 5819372"/>
              <a:gd name="connsiteX4" fmla="*/ 2678645 w 2688170"/>
              <a:gd name="connsiteY4" fmla="*/ 5400674 h 5819372"/>
              <a:gd name="connsiteX5" fmla="*/ 2250020 w 2688170"/>
              <a:gd name="connsiteY5" fmla="*/ 5815011 h 5819372"/>
              <a:gd name="connsiteX6" fmla="*/ 330733 w 2688170"/>
              <a:gd name="connsiteY6" fmla="*/ 5805487 h 5819372"/>
              <a:gd name="connsiteX7" fmla="*/ 2120 w 2688170"/>
              <a:gd name="connsiteY7" fmla="*/ 5424488 h 5819372"/>
              <a:gd name="connsiteX8" fmla="*/ 2120 w 2688170"/>
              <a:gd name="connsiteY8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445032 w 2688170"/>
              <a:gd name="connsiteY2" fmla="*/ 9524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2254783 w 2688170"/>
              <a:gd name="connsiteY3" fmla="*/ 0 h 5819372"/>
              <a:gd name="connsiteX4" fmla="*/ 2688170 w 2688170"/>
              <a:gd name="connsiteY4" fmla="*/ 385762 h 5819372"/>
              <a:gd name="connsiteX5" fmla="*/ 2678645 w 2688170"/>
              <a:gd name="connsiteY5" fmla="*/ 5400674 h 5819372"/>
              <a:gd name="connsiteX6" fmla="*/ 2250020 w 2688170"/>
              <a:gd name="connsiteY6" fmla="*/ 5815011 h 5819372"/>
              <a:gd name="connsiteX7" fmla="*/ 330733 w 2688170"/>
              <a:gd name="connsiteY7" fmla="*/ 5805487 h 5819372"/>
              <a:gd name="connsiteX8" fmla="*/ 2120 w 2688170"/>
              <a:gd name="connsiteY8" fmla="*/ 5424488 h 5819372"/>
              <a:gd name="connsiteX9" fmla="*/ 2120 w 2688170"/>
              <a:gd name="connsiteY9" fmla="*/ 538163 h 5819372"/>
              <a:gd name="connsiteX0" fmla="*/ 2120 w 2688170"/>
              <a:gd name="connsiteY0" fmla="*/ 538163 h 5819372"/>
              <a:gd name="connsiteX1" fmla="*/ 349783 w 2688170"/>
              <a:gd name="connsiteY1" fmla="*/ 9525 h 5819372"/>
              <a:gd name="connsiteX2" fmla="*/ 806982 w 2688170"/>
              <a:gd name="connsiteY2" fmla="*/ 4761 h 5819372"/>
              <a:gd name="connsiteX3" fmla="*/ 1026057 w 2688170"/>
              <a:gd name="connsiteY3" fmla="*/ 4762 h 5819372"/>
              <a:gd name="connsiteX4" fmla="*/ 2254783 w 2688170"/>
              <a:gd name="connsiteY4" fmla="*/ 0 h 5819372"/>
              <a:gd name="connsiteX5" fmla="*/ 2688170 w 2688170"/>
              <a:gd name="connsiteY5" fmla="*/ 385762 h 5819372"/>
              <a:gd name="connsiteX6" fmla="*/ 2678645 w 2688170"/>
              <a:gd name="connsiteY6" fmla="*/ 5400674 h 5819372"/>
              <a:gd name="connsiteX7" fmla="*/ 2250020 w 2688170"/>
              <a:gd name="connsiteY7" fmla="*/ 5815011 h 5819372"/>
              <a:gd name="connsiteX8" fmla="*/ 330733 w 2688170"/>
              <a:gd name="connsiteY8" fmla="*/ 5805487 h 5819372"/>
              <a:gd name="connsiteX9" fmla="*/ 2120 w 2688170"/>
              <a:gd name="connsiteY9" fmla="*/ 5424488 h 5819372"/>
              <a:gd name="connsiteX10" fmla="*/ 2120 w 2688170"/>
              <a:gd name="connsiteY10" fmla="*/ 538163 h 5819372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1026057 w 2688170"/>
              <a:gd name="connsiteY3" fmla="*/ 9525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916644 w 2688170"/>
              <a:gd name="connsiteY4" fmla="*/ 0 h 5824135"/>
              <a:gd name="connsiteX5" fmla="*/ 2254783 w 2688170"/>
              <a:gd name="connsiteY5" fmla="*/ 4763 h 5824135"/>
              <a:gd name="connsiteX6" fmla="*/ 2688170 w 2688170"/>
              <a:gd name="connsiteY6" fmla="*/ 390525 h 5824135"/>
              <a:gd name="connsiteX7" fmla="*/ 2678645 w 2688170"/>
              <a:gd name="connsiteY7" fmla="*/ 5405437 h 5824135"/>
              <a:gd name="connsiteX8" fmla="*/ 2250020 w 2688170"/>
              <a:gd name="connsiteY8" fmla="*/ 5819774 h 5824135"/>
              <a:gd name="connsiteX9" fmla="*/ 330733 w 2688170"/>
              <a:gd name="connsiteY9" fmla="*/ 5810250 h 5824135"/>
              <a:gd name="connsiteX10" fmla="*/ 2120 w 2688170"/>
              <a:gd name="connsiteY10" fmla="*/ 5429251 h 5824135"/>
              <a:gd name="connsiteX11" fmla="*/ 2120 w 2688170"/>
              <a:gd name="connsiteY11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373719 w 2688170"/>
              <a:gd name="connsiteY4" fmla="*/ 123826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806982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26032 w 2688170"/>
              <a:gd name="connsiteY3" fmla="*/ 242888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16632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916644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73645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2120 w 2688170"/>
              <a:gd name="connsiteY0" fmla="*/ 542926 h 5824135"/>
              <a:gd name="connsiteX1" fmla="*/ 349783 w 2688170"/>
              <a:gd name="connsiteY1" fmla="*/ 14288 h 5824135"/>
              <a:gd name="connsiteX2" fmla="*/ 783170 w 2688170"/>
              <a:gd name="connsiteY2" fmla="*/ 9524 h 5824135"/>
              <a:gd name="connsiteX3" fmla="*/ 883182 w 2688170"/>
              <a:gd name="connsiteY3" fmla="*/ 238125 h 5824135"/>
              <a:gd name="connsiteX4" fmla="*/ 1830920 w 2688170"/>
              <a:gd name="connsiteY4" fmla="*/ 233363 h 5824135"/>
              <a:gd name="connsiteX5" fmla="*/ 1888069 w 2688170"/>
              <a:gd name="connsiteY5" fmla="*/ 0 h 5824135"/>
              <a:gd name="connsiteX6" fmla="*/ 2254783 w 2688170"/>
              <a:gd name="connsiteY6" fmla="*/ 4763 h 5824135"/>
              <a:gd name="connsiteX7" fmla="*/ 2688170 w 2688170"/>
              <a:gd name="connsiteY7" fmla="*/ 390525 h 5824135"/>
              <a:gd name="connsiteX8" fmla="*/ 2678645 w 2688170"/>
              <a:gd name="connsiteY8" fmla="*/ 5405437 h 5824135"/>
              <a:gd name="connsiteX9" fmla="*/ 2250020 w 2688170"/>
              <a:gd name="connsiteY9" fmla="*/ 5819774 h 5824135"/>
              <a:gd name="connsiteX10" fmla="*/ 330733 w 2688170"/>
              <a:gd name="connsiteY10" fmla="*/ 5810250 h 5824135"/>
              <a:gd name="connsiteX11" fmla="*/ 2120 w 2688170"/>
              <a:gd name="connsiteY11" fmla="*/ 5429251 h 5824135"/>
              <a:gd name="connsiteX12" fmla="*/ 2120 w 2688170"/>
              <a:gd name="connsiteY12" fmla="*/ 542926 h 5824135"/>
              <a:gd name="connsiteX0" fmla="*/ 13154 w 2699204"/>
              <a:gd name="connsiteY0" fmla="*/ 542926 h 5824135"/>
              <a:gd name="connsiteX1" fmla="*/ 294142 w 2699204"/>
              <a:gd name="connsiteY1" fmla="*/ 9526 h 5824135"/>
              <a:gd name="connsiteX2" fmla="*/ 794204 w 2699204"/>
              <a:gd name="connsiteY2" fmla="*/ 9524 h 5824135"/>
              <a:gd name="connsiteX3" fmla="*/ 894216 w 2699204"/>
              <a:gd name="connsiteY3" fmla="*/ 238125 h 5824135"/>
              <a:gd name="connsiteX4" fmla="*/ 1841954 w 2699204"/>
              <a:gd name="connsiteY4" fmla="*/ 233363 h 5824135"/>
              <a:gd name="connsiteX5" fmla="*/ 1899103 w 2699204"/>
              <a:gd name="connsiteY5" fmla="*/ 0 h 5824135"/>
              <a:gd name="connsiteX6" fmla="*/ 2265817 w 2699204"/>
              <a:gd name="connsiteY6" fmla="*/ 4763 h 5824135"/>
              <a:gd name="connsiteX7" fmla="*/ 2699204 w 2699204"/>
              <a:gd name="connsiteY7" fmla="*/ 390525 h 5824135"/>
              <a:gd name="connsiteX8" fmla="*/ 2689679 w 2699204"/>
              <a:gd name="connsiteY8" fmla="*/ 5405437 h 5824135"/>
              <a:gd name="connsiteX9" fmla="*/ 2261054 w 2699204"/>
              <a:gd name="connsiteY9" fmla="*/ 5819774 h 5824135"/>
              <a:gd name="connsiteX10" fmla="*/ 341767 w 2699204"/>
              <a:gd name="connsiteY10" fmla="*/ 5810250 h 5824135"/>
              <a:gd name="connsiteX11" fmla="*/ 13154 w 2699204"/>
              <a:gd name="connsiteY11" fmla="*/ 5429251 h 5824135"/>
              <a:gd name="connsiteX12" fmla="*/ 13154 w 2699204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  <a:gd name="connsiteX0" fmla="*/ 2121 w 2688171"/>
              <a:gd name="connsiteY0" fmla="*/ 542926 h 5824135"/>
              <a:gd name="connsiteX1" fmla="*/ 283109 w 2688171"/>
              <a:gd name="connsiteY1" fmla="*/ 9526 h 5824135"/>
              <a:gd name="connsiteX2" fmla="*/ 783171 w 2688171"/>
              <a:gd name="connsiteY2" fmla="*/ 9524 h 5824135"/>
              <a:gd name="connsiteX3" fmla="*/ 883183 w 2688171"/>
              <a:gd name="connsiteY3" fmla="*/ 238125 h 5824135"/>
              <a:gd name="connsiteX4" fmla="*/ 1830921 w 2688171"/>
              <a:gd name="connsiteY4" fmla="*/ 233363 h 5824135"/>
              <a:gd name="connsiteX5" fmla="*/ 1888070 w 2688171"/>
              <a:gd name="connsiteY5" fmla="*/ 0 h 5824135"/>
              <a:gd name="connsiteX6" fmla="*/ 2254784 w 2688171"/>
              <a:gd name="connsiteY6" fmla="*/ 4763 h 5824135"/>
              <a:gd name="connsiteX7" fmla="*/ 2688171 w 2688171"/>
              <a:gd name="connsiteY7" fmla="*/ 390525 h 5824135"/>
              <a:gd name="connsiteX8" fmla="*/ 2678646 w 2688171"/>
              <a:gd name="connsiteY8" fmla="*/ 5405437 h 5824135"/>
              <a:gd name="connsiteX9" fmla="*/ 2250021 w 2688171"/>
              <a:gd name="connsiteY9" fmla="*/ 5819774 h 5824135"/>
              <a:gd name="connsiteX10" fmla="*/ 330734 w 2688171"/>
              <a:gd name="connsiteY10" fmla="*/ 5810250 h 5824135"/>
              <a:gd name="connsiteX11" fmla="*/ 2121 w 2688171"/>
              <a:gd name="connsiteY11" fmla="*/ 5429251 h 5824135"/>
              <a:gd name="connsiteX12" fmla="*/ 2121 w 2688171"/>
              <a:gd name="connsiteY12" fmla="*/ 542926 h 58241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688171" h="5824135">
                <a:moveTo>
                  <a:pt x="2121" y="542926"/>
                </a:moveTo>
                <a:cubicBezTo>
                  <a:pt x="2121" y="275511"/>
                  <a:pt x="-36694" y="95251"/>
                  <a:pt x="283109" y="9526"/>
                </a:cubicBezTo>
                <a:lnTo>
                  <a:pt x="783171" y="9524"/>
                </a:lnTo>
                <a:cubicBezTo>
                  <a:pt x="789521" y="87312"/>
                  <a:pt x="772057" y="227012"/>
                  <a:pt x="883183" y="238125"/>
                </a:cubicBezTo>
                <a:lnTo>
                  <a:pt x="1830921" y="233363"/>
                </a:lnTo>
                <a:cubicBezTo>
                  <a:pt x="1892833" y="141287"/>
                  <a:pt x="1897596" y="68263"/>
                  <a:pt x="1888070" y="0"/>
                </a:cubicBezTo>
                <a:lnTo>
                  <a:pt x="2254784" y="4763"/>
                </a:lnTo>
                <a:cubicBezTo>
                  <a:pt x="2546012" y="-23812"/>
                  <a:pt x="2688171" y="123110"/>
                  <a:pt x="2688171" y="390525"/>
                </a:cubicBezTo>
                <a:lnTo>
                  <a:pt x="2678646" y="5405437"/>
                </a:lnTo>
                <a:cubicBezTo>
                  <a:pt x="2697696" y="5672852"/>
                  <a:pt x="2564345" y="5843588"/>
                  <a:pt x="2250021" y="5819774"/>
                </a:cubicBezTo>
                <a:cubicBezTo>
                  <a:pt x="1624547" y="5830887"/>
                  <a:pt x="970496" y="5818187"/>
                  <a:pt x="330734" y="5810250"/>
                </a:cubicBezTo>
                <a:cubicBezTo>
                  <a:pt x="159283" y="5824538"/>
                  <a:pt x="-21692" y="5701428"/>
                  <a:pt x="2121" y="5429251"/>
                </a:cubicBezTo>
                <a:lnTo>
                  <a:pt x="2121" y="542926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A604CA-E015-4212-A529-F54A7F6B85C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6509" y="6355353"/>
            <a:ext cx="568207" cy="26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700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tandard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424763"/>
            <a:ext cx="5181600" cy="483781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3745A42-C741-4E57-9A6B-DD0054CB8713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56222505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6"/>
            <a:ext cx="10515600" cy="91078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</a:t>
            </a:r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0C853513-9DAD-48F2-8995-5702733902B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2804935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0">
            <a:extLst>
              <a:ext uri="{FF2B5EF4-FFF2-40B4-BE49-F238E27FC236}">
                <a16:creationId xmlns:a16="http://schemas.microsoft.com/office/drawing/2014/main" id="{37E5A452-3CB8-4B5A-9BF0-040585B0030B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5042412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Head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Click to edit headline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2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 noProof="0" dirty="0"/>
              <a:t>Click to edit text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r>
              <a:rPr lang="en-GB" noProof="0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 noProof="0" dirty="0"/>
              <a:t>Click to edit text</a:t>
            </a: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4E91B3A-381A-4407-956B-C8D7ED41ABAE}"/>
              </a:ext>
            </a:extLst>
          </p:cNvPr>
          <p:cNvSpPr txBox="1">
            <a:spLocks/>
          </p:cNvSpPr>
          <p:nvPr userDrawn="1"/>
        </p:nvSpPr>
        <p:spPr>
          <a:xfrm>
            <a:off x="0" y="6784989"/>
            <a:ext cx="12192000" cy="80962"/>
          </a:xfrm>
          <a:prstGeom prst="rect">
            <a:avLst/>
          </a:prstGeom>
          <a:solidFill>
            <a:srgbClr val="143C8A"/>
          </a:solidFill>
          <a:ln>
            <a:noFill/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2">
                    <a:alpha val="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43C8A"/>
              </a:buClr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8720553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F0024-13C3-CDA9-BB6D-A3408745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D50E1B84-AFD9-1854-3B8B-D0ED0C811B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</a:p>
        </p:txBody>
      </p:sp>
    </p:spTree>
    <p:extLst>
      <p:ext uri="{BB962C8B-B14F-4D97-AF65-F5344CB8AC3E}">
        <p14:creationId xmlns:p14="http://schemas.microsoft.com/office/powerpoint/2010/main" val="3867220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581CBBE-6BA1-4A2E-B2C2-E2374CE34291}"/>
              </a:ext>
            </a:extLst>
          </p:cNvPr>
          <p:cNvSpPr txBox="1">
            <a:spLocks/>
          </p:cNvSpPr>
          <p:nvPr userDrawn="1"/>
        </p:nvSpPr>
        <p:spPr>
          <a:xfrm>
            <a:off x="11063162" y="6349027"/>
            <a:ext cx="539750" cy="365125"/>
          </a:xfrm>
          <a:prstGeom prst="rect">
            <a:avLst/>
          </a:prstGeom>
        </p:spPr>
        <p:txBody>
          <a:bodyPr vert="horz" lIns="91440" tIns="45720" rIns="91440" bIns="45720" rtlCol="0" anchor="t" anchorCtr="0"/>
          <a:lstStyle>
            <a:defPPr>
              <a:defRPr lang="da-DK"/>
            </a:defPPr>
            <a:lvl1pPr marL="0" algn="r" defTabSz="914400" rtl="0" eaLnBrk="1" latinLnBrk="0" hangingPunct="1">
              <a:defRPr sz="800" b="0" i="0" kern="120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3D004A2-5536-0C42-B66B-9F3A06C21F3A}" type="slidenum">
              <a:rPr lang="en-DK" smtClean="0">
                <a:solidFill>
                  <a:schemeClr val="tx2"/>
                </a:solidFill>
              </a:rPr>
              <a:pPr/>
              <a:t>‹№›</a:t>
            </a:fld>
            <a:endParaRPr lang="en-DK" dirty="0">
              <a:solidFill>
                <a:schemeClr val="tx2"/>
              </a:solidFill>
            </a:endParaRP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AC87EDB7-DFE8-4A96-AF21-3D9CB39EC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0549" y="371476"/>
            <a:ext cx="10906125" cy="132556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 dirty="0"/>
              <a:t>CLICK TO EDIT HEADLINE</a:t>
            </a:r>
            <a:endParaRPr lang="en-DK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368E6D1-4CBE-4A9B-B825-A26F9010A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0549" y="1697039"/>
            <a:ext cx="10515600" cy="48021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Text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57EA7DD-8323-9CB4-B898-55CAB1747F9F}"/>
              </a:ext>
            </a:extLst>
          </p:cNvPr>
          <p:cNvPicPr>
            <a:picLocks noChangeAspect="1"/>
          </p:cNvPicPr>
          <p:nvPr userDrawn="1"/>
        </p:nvPicPr>
        <p:blipFill>
          <a:blip r:embed="rId2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6513" y="6355353"/>
            <a:ext cx="568206" cy="25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156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0" r:id="rId2"/>
    <p:sldLayoutId id="2147483663" r:id="rId3"/>
    <p:sldLayoutId id="2147483747" r:id="rId4"/>
    <p:sldLayoutId id="2147483736" r:id="rId5"/>
    <p:sldLayoutId id="2147483744" r:id="rId6"/>
    <p:sldLayoutId id="2147483748" r:id="rId7"/>
    <p:sldLayoutId id="2147483751" r:id="rId8"/>
    <p:sldLayoutId id="2147483749" r:id="rId9"/>
    <p:sldLayoutId id="2147483750" r:id="rId10"/>
    <p:sldLayoutId id="2147483738" r:id="rId11"/>
    <p:sldLayoutId id="2147483722" r:id="rId12"/>
    <p:sldLayoutId id="2147483739" r:id="rId13"/>
    <p:sldLayoutId id="2147483720" r:id="rId14"/>
    <p:sldLayoutId id="2147483745" r:id="rId15"/>
    <p:sldLayoutId id="2147483717" r:id="rId16"/>
    <p:sldLayoutId id="2147483733" r:id="rId17"/>
    <p:sldLayoutId id="2147483672" r:id="rId18"/>
    <p:sldLayoutId id="2147483673" r:id="rId19"/>
    <p:sldLayoutId id="2147483674" r:id="rId20"/>
    <p:sldLayoutId id="2147483675" r:id="rId21"/>
    <p:sldLayoutId id="2147483752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565655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565655"/>
        </a:buClr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25.png"/><Relationship Id="rId5" Type="http://schemas.microsoft.com/office/2007/relationships/hdphoto" Target="../media/hdphoto2.wdp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2.xml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39.png"/><Relationship Id="rId5" Type="http://schemas.openxmlformats.org/officeDocument/2006/relationships/image" Target="../media/image25.png"/><Relationship Id="rId4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DEBC483-A9E2-9C72-F0AB-5F25454379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dirty="0"/>
              <a:t>Показники Вересня</a:t>
            </a: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094E45-E83A-42FE-960B-912C6C1AB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Kyiv 1</a:t>
            </a:r>
          </a:p>
        </p:txBody>
      </p:sp>
    </p:spTree>
    <p:extLst>
      <p:ext uri="{BB962C8B-B14F-4D97-AF65-F5344CB8AC3E}">
        <p14:creationId xmlns:p14="http://schemas.microsoft.com/office/powerpoint/2010/main" val="1546062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6">
            <a:extLst>
              <a:ext uri="{FF2B5EF4-FFF2-40B4-BE49-F238E27FC236}">
                <a16:creationId xmlns:a16="http://schemas.microsoft.com/office/drawing/2014/main" id="{86FD3BED-4D47-9848-79FA-81336B2F3E9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8932" y="1102119"/>
            <a:ext cx="4957068" cy="4123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BE17B39-F35E-7233-40C4-47C3BFA717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249" y="394143"/>
            <a:ext cx="4906488" cy="6252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12494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18B84-84F1-95C2-1EFD-D4D4A947C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>
            <a:extLst>
              <a:ext uri="{FF2B5EF4-FFF2-40B4-BE49-F238E27FC236}">
                <a16:creationId xmlns:a16="http://schemas.microsoft.com/office/drawing/2014/main" id="{4DF4406C-FEB6-4F34-2958-B53078BEB2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434" t="5250" r="6980" b="9708"/>
          <a:stretch/>
        </p:blipFill>
        <p:spPr bwMode="auto">
          <a:xfrm>
            <a:off x="3027871" y="916066"/>
            <a:ext cx="5408763" cy="5416776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5944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2" descr="Эмодзи вечеринки PNG - Эмодзи вечеринки Праздник Счастливый прозрачная  иллюстрация">
            <a:extLst>
              <a:ext uri="{FF2B5EF4-FFF2-40B4-BE49-F238E27FC236}">
                <a16:creationId xmlns:a16="http://schemas.microsoft.com/office/drawing/2014/main" id="{C1336874-0864-5EC9-22AB-671C4F206E2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uk-UA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4AE097E-9EA2-6150-40C5-163F2A6AF2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089" b="97128" l="1325" r="98455">
                        <a14:foregroundMark x1="3974" y1="33159" x2="9272" y2="45692"/>
                        <a14:foregroundMark x1="12583" y1="44909" x2="19647" y2="43603"/>
                        <a14:foregroundMark x1="14790" y1="97128" x2="21854" y2="92428"/>
                        <a14:foregroundMark x1="37969" y1="2089" x2="34437" y2="20366"/>
                        <a14:foregroundMark x1="41943" y1="3394" x2="41943" y2="3394"/>
                        <a14:foregroundMark x1="94260" y1="52219" x2="94260" y2="59008"/>
                        <a14:foregroundMark x1="87196" y1="64491" x2="87196" y2="64491"/>
                        <a14:foregroundMark x1="83444" y1="64230" x2="88962" y2="63708"/>
                        <a14:foregroundMark x1="94481" y1="47258" x2="94481" y2="47258"/>
                        <a14:foregroundMark x1="92715" y1="47520" x2="94702" y2="54047"/>
                        <a14:foregroundMark x1="96689" y1="54830" x2="98675" y2="56397"/>
                        <a14:foregroundMark x1="95143" y1="61619" x2="95143" y2="61619"/>
                        <a14:foregroundMark x1="84327" y1="11227" x2="84327" y2="11227"/>
                        <a14:foregroundMark x1="83885" y1="11227" x2="82340" y2="11227"/>
                        <a14:foregroundMark x1="1325" y1="32115" x2="1987" y2="4047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648474" y="4950254"/>
            <a:ext cx="1118303" cy="945497"/>
          </a:xfrm>
          <a:prstGeom prst="rect">
            <a:avLst/>
          </a:prstGeom>
        </p:spPr>
      </p:pic>
      <p:pic>
        <p:nvPicPr>
          <p:cNvPr id="14" name="Picture 2" descr="JUA - Принесіть відданість. Зустрічайте можливості.">
            <a:extLst>
              <a:ext uri="{FF2B5EF4-FFF2-40B4-BE49-F238E27FC236}">
                <a16:creationId xmlns:a16="http://schemas.microsoft.com/office/drawing/2014/main" id="{92840F9A-97B7-AB7A-8946-069CA7B96F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823" y="282962"/>
            <a:ext cx="1217411" cy="1553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Рисунок 14" descr="Зображення, що містить текст, Шрифт, Графіка, знімок екрана&#10;&#10;Автоматично згенерований опис">
            <a:extLst>
              <a:ext uri="{FF2B5EF4-FFF2-40B4-BE49-F238E27FC236}">
                <a16:creationId xmlns:a16="http://schemas.microsoft.com/office/drawing/2014/main" id="{A30B79CF-4AE2-CFE0-84E9-018D25B29E9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822" y="2372974"/>
            <a:ext cx="1217411" cy="1553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BD577F4-78EC-63F2-538A-1D2359AC0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83" y="148804"/>
            <a:ext cx="10515600" cy="910782"/>
          </a:xfrm>
        </p:spPr>
        <p:txBody>
          <a:bodyPr/>
          <a:lstStyle/>
          <a:p>
            <a:r>
              <a:rPr lang="uk-UA" dirty="0"/>
              <a:t>Домовленості:</a:t>
            </a:r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C44A4541-C544-FD5E-AB74-C4E0B7545A08}"/>
              </a:ext>
            </a:extLst>
          </p:cNvPr>
          <p:cNvSpPr txBox="1">
            <a:spLocks/>
          </p:cNvSpPr>
          <p:nvPr/>
        </p:nvSpPr>
        <p:spPr>
          <a:xfrm>
            <a:off x="504766" y="1424312"/>
            <a:ext cx="8639234" cy="48240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Оберіть зону відповідальності- </a:t>
            </a:r>
            <a:r>
              <a:rPr lang="uk-UA" sz="2000" dirty="0" err="1"/>
              <a:t>Прокомунікуйте</a:t>
            </a:r>
            <a:r>
              <a:rPr lang="uk-UA" sz="2000" dirty="0"/>
              <a:t> з </a:t>
            </a:r>
            <a:r>
              <a:rPr lang="en-US" sz="2000" dirty="0"/>
              <a:t>DM</a:t>
            </a:r>
            <a:r>
              <a:rPr lang="uk-UA" sz="2000" dirty="0"/>
              <a:t>  </a:t>
            </a:r>
            <a:r>
              <a:rPr lang="en-US" sz="2000" dirty="0"/>
              <a:t>( </a:t>
            </a:r>
            <a:r>
              <a:rPr lang="uk-UA" sz="2000" dirty="0"/>
              <a:t>Прописуємо коментарі)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Прописуємо коментар та причину по оформленні безкоштовної доставки( в групу</a:t>
            </a:r>
            <a:r>
              <a:rPr lang="en-US" sz="2000" dirty="0"/>
              <a:t> DM\SM\</a:t>
            </a:r>
            <a:r>
              <a:rPr lang="en-US" sz="2000" dirty="0" err="1"/>
              <a:t>DepSM</a:t>
            </a:r>
            <a:r>
              <a:rPr lang="en-US" sz="2000" dirty="0"/>
              <a:t>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Фокус на закриття штату( </a:t>
            </a:r>
            <a:r>
              <a:rPr lang="uk-UA" sz="2000" dirty="0" err="1"/>
              <a:t>калькулятор+вакансії</a:t>
            </a:r>
            <a:r>
              <a:rPr lang="uk-UA" sz="2000" dirty="0"/>
              <a:t>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 err="1"/>
              <a:t>Індор</a:t>
            </a:r>
            <a:r>
              <a:rPr lang="uk-UA" sz="2000" dirty="0"/>
              <a:t>- </a:t>
            </a:r>
            <a:r>
              <a:rPr lang="uk-UA" sz="2000" dirty="0" err="1"/>
              <a:t>ондісплей</a:t>
            </a:r>
            <a:r>
              <a:rPr lang="uk-UA" sz="2000" dirty="0"/>
              <a:t> ( виставка артикулів)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uk-UA" sz="2000" dirty="0"/>
              <a:t> Якісна підготовка до візитів ( </a:t>
            </a:r>
            <a:r>
              <a:rPr lang="en-US" sz="2000" dirty="0"/>
              <a:t>GSM</a:t>
            </a:r>
            <a:r>
              <a:rPr lang="uk-UA" sz="2000" dirty="0"/>
              <a:t>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56954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Cha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66E6B00-8D3A-94AB-D22D-2BC030FCC9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3538" y="291389"/>
            <a:ext cx="4179671" cy="2081213"/>
          </a:xfrm>
        </p:spPr>
        <p:txBody>
          <a:bodyPr/>
          <a:lstStyle/>
          <a:p>
            <a:r>
              <a:rPr lang="en-US" dirty="0"/>
              <a:t>AGENDA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BF05B-AE48-D3B1-6C6F-C7B84BC40A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13872" y="2182483"/>
            <a:ext cx="6900459" cy="4603833"/>
          </a:xfrm>
        </p:spPr>
        <p:txBody>
          <a:bodyPr/>
          <a:lstStyle/>
          <a:p>
            <a:endParaRPr lang="en-GB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7D0642B8-B849-AEF5-4649-F6049D84781C}"/>
              </a:ext>
            </a:extLst>
          </p:cNvPr>
          <p:cNvGraphicFramePr>
            <a:graphicFrameLocks noGrp="1"/>
          </p:cNvGraphicFramePr>
          <p:nvPr/>
        </p:nvGraphicFramePr>
        <p:xfrm>
          <a:off x="5848708" y="2751826"/>
          <a:ext cx="5960853" cy="278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9945">
                  <a:extLst>
                    <a:ext uri="{9D8B030D-6E8A-4147-A177-3AD203B41FA5}">
                      <a16:colId xmlns:a16="http://schemas.microsoft.com/office/drawing/2014/main" val="732667075"/>
                    </a:ext>
                  </a:extLst>
                </a:gridCol>
                <a:gridCol w="1640908">
                  <a:extLst>
                    <a:ext uri="{9D8B030D-6E8A-4147-A177-3AD203B41FA5}">
                      <a16:colId xmlns:a16="http://schemas.microsoft.com/office/drawing/2014/main" val="2722804424"/>
                    </a:ext>
                  </a:extLst>
                </a:gridCol>
              </a:tblGrid>
              <a:tr h="456299">
                <a:tc>
                  <a:txBody>
                    <a:bodyPr/>
                    <a:lstStyle/>
                    <a:p>
                      <a:r>
                        <a:rPr lang="uk-UA" sz="1200" dirty="0"/>
                        <a:t>Тема</a:t>
                      </a:r>
                    </a:p>
                  </a:txBody>
                  <a:tcPr>
                    <a:solidFill>
                      <a:schemeClr val="accent1"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200" dirty="0"/>
                        <a:t>Час</a:t>
                      </a:r>
                    </a:p>
                  </a:txBody>
                  <a:tcPr>
                    <a:solidFill>
                      <a:schemeClr val="accent1"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8550727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uk-UA" sz="1400" dirty="0"/>
                        <a:t>Результати лютого основні КРІ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25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6621030"/>
                  </a:ext>
                </a:extLst>
              </a:tr>
              <a:tr h="50290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Stock Taking</a:t>
                      </a:r>
                      <a:r>
                        <a:rPr lang="uk-UA" sz="1400" dirty="0"/>
                        <a:t> </a:t>
                      </a:r>
                      <a:r>
                        <a:rPr lang="en-US" sz="1400" dirty="0"/>
                        <a:t>-</a:t>
                      </a:r>
                      <a:r>
                        <a:rPr lang="uk-UA" sz="1400" dirty="0"/>
                        <a:t> воркшоп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30 хв</a:t>
                      </a:r>
                    </a:p>
                  </a:txBody>
                  <a:tcPr>
                    <a:solidFill>
                      <a:schemeClr val="accent1">
                        <a:tint val="2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9112705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en-US" sz="1400" dirty="0"/>
                        <a:t>Sales Attitude </a:t>
                      </a:r>
                      <a:r>
                        <a:rPr lang="uk-UA" sz="1400" dirty="0"/>
                        <a:t>та його  «індикатори»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25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849553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uk-UA" sz="1400" dirty="0"/>
                        <a:t>Операційні питання 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90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46194"/>
                  </a:ext>
                </a:extLst>
              </a:tr>
              <a:tr h="456299">
                <a:tc>
                  <a:txBody>
                    <a:bodyPr/>
                    <a:lstStyle/>
                    <a:p>
                      <a:r>
                        <a:rPr lang="uk-UA" sz="1400" dirty="0"/>
                        <a:t>Підсумки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uk-UA" sz="1400" dirty="0"/>
                        <a:t>10 хв</a:t>
                      </a:r>
                    </a:p>
                  </a:txBody>
                  <a:tcPr>
                    <a:solidFill>
                      <a:schemeClr val="accent1">
                        <a:tint val="40000"/>
                        <a:alpha val="71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347902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18A92956-9283-9080-E7B9-63BCED46A379}"/>
              </a:ext>
            </a:extLst>
          </p:cNvPr>
          <p:cNvSpPr txBox="1"/>
          <p:nvPr/>
        </p:nvSpPr>
        <p:spPr>
          <a:xfrm>
            <a:off x="10023894" y="6452053"/>
            <a:ext cx="1914307" cy="3693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uk-UA" dirty="0"/>
              <a:t>ТРИ години </a:t>
            </a:r>
            <a:r>
              <a:rPr lang="uk-UA" dirty="0">
                <a:sym typeface="Wingdings" panose="05000000000000000000" pitchFamily="2" charset="2"/>
              </a:rPr>
              <a:t> 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6508583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ідзаголовок 1">
            <a:extLst>
              <a:ext uri="{FF2B5EF4-FFF2-40B4-BE49-F238E27FC236}">
                <a16:creationId xmlns:a16="http://schemas.microsoft.com/office/drawing/2014/main" id="{8A41CA09-94EC-B2A4-8E01-D64E64B20E2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uk-UA" sz="2400" dirty="0"/>
              <a:t>Результати Вересня основні КРІ</a:t>
            </a:r>
          </a:p>
        </p:txBody>
      </p:sp>
    </p:spTree>
    <p:extLst>
      <p:ext uri="{BB962C8B-B14F-4D97-AF65-F5344CB8AC3E}">
        <p14:creationId xmlns:p14="http://schemas.microsoft.com/office/powerpoint/2010/main" val="11180181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70C8A5B-8D39-499A-226A-C4C988B6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9914" y="245383"/>
            <a:ext cx="10515600" cy="910782"/>
          </a:xfrm>
        </p:spPr>
        <p:txBody>
          <a:bodyPr/>
          <a:lstStyle/>
          <a:p>
            <a:r>
              <a:rPr lang="uk-UA" dirty="0"/>
              <a:t>Виторг основна </a:t>
            </a:r>
            <a:r>
              <a:rPr lang="uk-UA" dirty="0">
                <a:highlight>
                  <a:srgbClr val="FFFF00"/>
                </a:highlight>
              </a:rPr>
              <a:t>ціль</a:t>
            </a:r>
            <a:endParaRPr lang="en-GB" dirty="0">
              <a:highlight>
                <a:srgbClr val="FFFF00"/>
              </a:highlight>
            </a:endParaRPr>
          </a:p>
        </p:txBody>
      </p:sp>
      <p:sp>
        <p:nvSpPr>
          <p:cNvPr id="4" name="Title 4">
            <a:extLst>
              <a:ext uri="{FF2B5EF4-FFF2-40B4-BE49-F238E27FC236}">
                <a16:creationId xmlns:a16="http://schemas.microsoft.com/office/drawing/2014/main" id="{41E38F4E-1A79-6D81-7FE8-230205BD907D}"/>
              </a:ext>
            </a:extLst>
          </p:cNvPr>
          <p:cNvSpPr txBox="1">
            <a:spLocks/>
          </p:cNvSpPr>
          <p:nvPr/>
        </p:nvSpPr>
        <p:spPr>
          <a:xfrm>
            <a:off x="660336" y="1561607"/>
            <a:ext cx="6141517" cy="91078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uk-UA" sz="1800" dirty="0">
                <a:solidFill>
                  <a:schemeClr val="accent1"/>
                </a:solidFill>
              </a:rPr>
              <a:t>Всі решта </a:t>
            </a:r>
            <a:r>
              <a:rPr lang="en-US" sz="1800" dirty="0">
                <a:solidFill>
                  <a:schemeClr val="accent1"/>
                </a:solidFill>
              </a:rPr>
              <a:t>KPI – </a:t>
            </a:r>
            <a:r>
              <a:rPr lang="uk-UA" sz="1800" dirty="0">
                <a:solidFill>
                  <a:schemeClr val="accent1"/>
                </a:solidFill>
              </a:rPr>
              <a:t>як індикатор на що потрібно звернути увагу та ВПЛИВАТИ для ВИТОРГУ</a:t>
            </a:r>
            <a:endParaRPr lang="en-GB" sz="1800" dirty="0">
              <a:solidFill>
                <a:schemeClr val="accent1"/>
              </a:solidFill>
              <a:highlight>
                <a:srgbClr val="FFFF00"/>
              </a:highlight>
            </a:endParaRPr>
          </a:p>
        </p:txBody>
      </p:sp>
      <p:pic>
        <p:nvPicPr>
          <p:cNvPr id="1026" name="Picture 2" descr="46 500+ стокових фото, фото роялті-фрі та зображень на тему ...">
            <a:extLst>
              <a:ext uri="{FF2B5EF4-FFF2-40B4-BE49-F238E27FC236}">
                <a16:creationId xmlns:a16="http://schemas.microsoft.com/office/drawing/2014/main" id="{21F07B85-3576-00F7-5CF5-366C42BBF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203" y="2582779"/>
            <a:ext cx="4819611" cy="4147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Об'єкт 1">
            <a:extLst>
              <a:ext uri="{FF2B5EF4-FFF2-40B4-BE49-F238E27FC236}">
                <a16:creationId xmlns:a16="http://schemas.microsoft.com/office/drawing/2014/main" id="{2090A643-426C-97CC-3DAF-FC7634E22BE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3358" y="639814"/>
          <a:ext cx="3870325" cy="5418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3" imgW="10797332" imgH="15117756" progId="AcroExch.Document.DC">
                  <p:embed/>
                </p:oleObj>
              </mc:Choice>
              <mc:Fallback>
                <p:oleObj name="Acrobat Document" r:id="rId3" imgW="10797332" imgH="15117756" progId="AcroExch.Document.DC">
                  <p:embed/>
                  <p:pic>
                    <p:nvPicPr>
                      <p:cNvPr id="2" name="Об'єкт 1">
                        <a:extLst>
                          <a:ext uri="{FF2B5EF4-FFF2-40B4-BE49-F238E27FC236}">
                            <a16:creationId xmlns:a16="http://schemas.microsoft.com/office/drawing/2014/main" id="{2090A643-426C-97CC-3DAF-FC7634E22BE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813358" y="639814"/>
                        <a:ext cx="3870325" cy="54181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039747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3DAA6F-0309-611A-1E9C-24D71247F3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Index - Monthly Development</a:t>
            </a:r>
            <a:r>
              <a:rPr lang="uk-UA" dirty="0"/>
              <a:t> ПЛАН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DEB7B3-4FA7-7AF9-0C37-7BCC148253B5}"/>
              </a:ext>
            </a:extLst>
          </p:cNvPr>
          <p:cNvSpPr txBox="1"/>
          <p:nvPr/>
        </p:nvSpPr>
        <p:spPr>
          <a:xfrm>
            <a:off x="635000" y="941243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 by month and store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8" name="Picture 19">
            <a:extLst>
              <a:ext uri="{FF2B5EF4-FFF2-40B4-BE49-F238E27FC236}">
                <a16:creationId xmlns:a16="http://schemas.microsoft.com/office/drawing/2014/main" id="{2D5C01AC-4E9C-98FE-0490-D7615B72D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8347" y="138022"/>
            <a:ext cx="1444406" cy="139654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0CD1C3-13B2-E47F-E147-9398B61053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26091" y="4245713"/>
            <a:ext cx="1788917" cy="1959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16">
            <a:extLst>
              <a:ext uri="{FF2B5EF4-FFF2-40B4-BE49-F238E27FC236}">
                <a16:creationId xmlns:a16="http://schemas.microsoft.com/office/drawing/2014/main" id="{F0CA8681-DEA9-25AD-1594-6B94C93211E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6091" y="2146137"/>
            <a:ext cx="1788916" cy="1488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C512B6F-F939-B1AA-7FFF-A7FAC1F7D4B6}"/>
              </a:ext>
            </a:extLst>
          </p:cNvPr>
          <p:cNvSpPr txBox="1"/>
          <p:nvPr/>
        </p:nvSpPr>
        <p:spPr>
          <a:xfrm>
            <a:off x="936796" y="5760714"/>
            <a:ext cx="95615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b="1" dirty="0">
                <a:solidFill>
                  <a:srgbClr val="000000"/>
                </a:solidFill>
                <a:latin typeface="Verdana" panose="020B0604030504040204" pitchFamily="34" charset="0"/>
              </a:rPr>
              <a:t>Маємо гарну тенденцію!!! Пам’ятаємо про інфляцію і намагаємося збільшувати виторги на кожному магазині/кожного дня. </a:t>
            </a:r>
            <a:endParaRPr lang="uk-UA" dirty="0"/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6ABF968D-1854-6682-D87D-A6FDFDD375EE}"/>
              </a:ext>
            </a:extLst>
          </p:cNvPr>
          <p:cNvGraphicFramePr>
            <a:graphicFrameLocks noGrp="1"/>
          </p:cNvGraphicFramePr>
          <p:nvPr/>
        </p:nvGraphicFramePr>
        <p:xfrm>
          <a:off x="336884" y="1315453"/>
          <a:ext cx="9561550" cy="4062416"/>
        </p:xfrm>
        <a:graphic>
          <a:graphicData uri="http://schemas.openxmlformats.org/drawingml/2006/table">
            <a:tbl>
              <a:tblPr/>
              <a:tblGrid>
                <a:gridCol w="874327">
                  <a:extLst>
                    <a:ext uri="{9D8B030D-6E8A-4147-A177-3AD203B41FA5}">
                      <a16:colId xmlns:a16="http://schemas.microsoft.com/office/drawing/2014/main" val="2055191906"/>
                    </a:ext>
                  </a:extLst>
                </a:gridCol>
                <a:gridCol w="964001">
                  <a:extLst>
                    <a:ext uri="{9D8B030D-6E8A-4147-A177-3AD203B41FA5}">
                      <a16:colId xmlns:a16="http://schemas.microsoft.com/office/drawing/2014/main" val="708489802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98196650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867800704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71883821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891380895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901274027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92553371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695746306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334459896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43118223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822723403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4245620603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3714966069"/>
                    </a:ext>
                  </a:extLst>
                </a:gridCol>
                <a:gridCol w="594094">
                  <a:extLst>
                    <a:ext uri="{9D8B030D-6E8A-4147-A177-3AD203B41FA5}">
                      <a16:colId xmlns:a16="http://schemas.microsoft.com/office/drawing/2014/main" val="2733064798"/>
                    </a:ext>
                  </a:extLst>
                </a:gridCol>
              </a:tblGrid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Calendar month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SEP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OCT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NOV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DEC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JAN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FEB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MAR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APR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JUN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JUL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Total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7785342"/>
                  </a:ext>
                </a:extLst>
              </a:tr>
              <a:tr h="62233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 err="1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  <a:endParaRPr lang="uk-UA" sz="800" b="1" i="0" u="none" strike="noStrike" dirty="0">
                        <a:solidFill>
                          <a:srgbClr val="1F497D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7952412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J015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6829884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     J027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Kvadrat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,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Kyiv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170,6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37,8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79205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J029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3857487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J104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143,2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821722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J109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34,4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6299116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J120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558187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J009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137,2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0782065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     J035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Hollywood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,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Chernigiv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Verdana" panose="020B0604030504040204" pitchFamily="34" charset="0"/>
                      </a:endParaRP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56,8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55,7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86,7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72,4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158,3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9769345"/>
                  </a:ext>
                </a:extLst>
              </a:tr>
              <a:tr h="24834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J050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66,4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65,6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72,4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5448363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J121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7839908"/>
                  </a:ext>
                </a:extLst>
              </a:tr>
              <a:tr h="40167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     Overall Result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397" marR="7397" marT="7397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128,5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119,4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116,0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100,8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101,9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144,2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111,6</a:t>
                      </a:r>
                    </a:p>
                  </a:txBody>
                  <a:tcPr marL="7397" marR="7397" marT="7397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9756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88187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B20C2-FC17-EEA5-8D47-A8B57A61C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69D8B6-2829-63CA-5FD9-A64E60BE7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District </a:t>
            </a:r>
            <a:endParaRPr lang="uk-UA" dirty="0"/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6B6F0090-BFBE-38A9-EC0B-2C459C0546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05" y="0"/>
            <a:ext cx="902547" cy="954119"/>
          </a:xfrm>
          <a:prstGeom prst="rect">
            <a:avLst/>
          </a:prstGeom>
        </p:spPr>
      </p:pic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7FD48696-D72C-FC29-201B-28DA223EC38E}"/>
              </a:ext>
            </a:extLst>
          </p:cNvPr>
          <p:cNvGraphicFramePr>
            <a:graphicFrameLocks noGrp="1"/>
          </p:cNvGraphicFramePr>
          <p:nvPr/>
        </p:nvGraphicFramePr>
        <p:xfrm>
          <a:off x="320843" y="1010653"/>
          <a:ext cx="11191708" cy="5069309"/>
        </p:xfrm>
        <a:graphic>
          <a:graphicData uri="http://schemas.openxmlformats.org/drawingml/2006/table">
            <a:tbl>
              <a:tblPr/>
              <a:tblGrid>
                <a:gridCol w="1113371">
                  <a:extLst>
                    <a:ext uri="{9D8B030D-6E8A-4147-A177-3AD203B41FA5}">
                      <a16:colId xmlns:a16="http://schemas.microsoft.com/office/drawing/2014/main" val="3939142572"/>
                    </a:ext>
                  </a:extLst>
                </a:gridCol>
                <a:gridCol w="1554081">
                  <a:extLst>
                    <a:ext uri="{9D8B030D-6E8A-4147-A177-3AD203B41FA5}">
                      <a16:colId xmlns:a16="http://schemas.microsoft.com/office/drawing/2014/main" val="599017144"/>
                    </a:ext>
                  </a:extLst>
                </a:gridCol>
                <a:gridCol w="626272">
                  <a:extLst>
                    <a:ext uri="{9D8B030D-6E8A-4147-A177-3AD203B41FA5}">
                      <a16:colId xmlns:a16="http://schemas.microsoft.com/office/drawing/2014/main" val="4041460555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3436918035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714099742"/>
                    </a:ext>
                  </a:extLst>
                </a:gridCol>
                <a:gridCol w="533491">
                  <a:extLst>
                    <a:ext uri="{9D8B030D-6E8A-4147-A177-3AD203B41FA5}">
                      <a16:colId xmlns:a16="http://schemas.microsoft.com/office/drawing/2014/main" val="3898612396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3539269939"/>
                    </a:ext>
                  </a:extLst>
                </a:gridCol>
                <a:gridCol w="661065">
                  <a:extLst>
                    <a:ext uri="{9D8B030D-6E8A-4147-A177-3AD203B41FA5}">
                      <a16:colId xmlns:a16="http://schemas.microsoft.com/office/drawing/2014/main" val="548723256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2175747578"/>
                    </a:ext>
                  </a:extLst>
                </a:gridCol>
                <a:gridCol w="626272">
                  <a:extLst>
                    <a:ext uri="{9D8B030D-6E8A-4147-A177-3AD203B41FA5}">
                      <a16:colId xmlns:a16="http://schemas.microsoft.com/office/drawing/2014/main" val="3438346361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2159185820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1733957721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233316240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529261247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1562569729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3411590813"/>
                    </a:ext>
                  </a:extLst>
                </a:gridCol>
              </a:tblGrid>
              <a:tr h="73814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1355002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071019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1017DISTR06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East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70 726,3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AD3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47 806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816 457,2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622 079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1 312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5847197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East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53 407,0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A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40 845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603 052,9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521 019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1 157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70382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1017DISTR07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95 657,7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67 322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1 421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1 068 709,9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852 825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1 253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7591583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South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54 793,0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39 886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1 374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589 855,1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464 515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1 270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859460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1017DISTR10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Dnipro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53 830,6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1D9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38 200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1 409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619 459,1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510 020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6968646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[-] 1017REG01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328 414,5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234 059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3 697 534,3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2 970 458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5053398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North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79 366,3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D0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54 022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946 287,4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716 782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1 320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6925596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1017DISTR04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West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123 938,8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78 257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1 584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1 172 012,4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842 947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1 390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325842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Volyn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86 183,3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CD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56 832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910 654,7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656 481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1 387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50067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1017DISTR03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Podil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93 849,8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CA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62 034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896 406,1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670 359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1 337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40967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[-] 1017DISTR01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Center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76 363,2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3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159,9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51 758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1 475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718 836,8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547 676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34710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[-] 1017REG02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2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459 701,4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137,1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302 903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1 518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4 644 197,3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3 434 245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1 352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650041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101701C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4769995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101701B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98060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J300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Ukraine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501694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 JUA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7858319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7697607"/>
                  </a:ext>
                </a:extLst>
              </a:tr>
              <a:tr h="22795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&amp; Common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842 744,5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547 941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8 930 993,4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6 546 365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1 364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7440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31262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95A90-B840-AAB2-6524-26F46D72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6DCA82-E013-4AD2-D890-553503691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District Kyiv1 stores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DD49CB-23AD-4471-840D-3C09167754E7}"/>
              </a:ext>
            </a:extLst>
          </p:cNvPr>
          <p:cNvSpPr txBox="1"/>
          <p:nvPr/>
        </p:nvSpPr>
        <p:spPr>
          <a:xfrm>
            <a:off x="769878" y="1016905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Total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6" name="Picture 11">
            <a:extLst>
              <a:ext uri="{FF2B5EF4-FFF2-40B4-BE49-F238E27FC236}">
                <a16:creationId xmlns:a16="http://schemas.microsoft.com/office/drawing/2014/main" id="{764B182D-FCAC-C575-702F-8C08FEAC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0605" y="0"/>
            <a:ext cx="902547" cy="954119"/>
          </a:xfrm>
          <a:prstGeom prst="rect">
            <a:avLst/>
          </a:prstGeom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45D36D44-E95A-2D95-8946-B364ADD27C29}"/>
              </a:ext>
            </a:extLst>
          </p:cNvPr>
          <p:cNvGraphicFramePr>
            <a:graphicFrameLocks noGrp="1"/>
          </p:cNvGraphicFramePr>
          <p:nvPr/>
        </p:nvGraphicFramePr>
        <p:xfrm>
          <a:off x="320843" y="1324682"/>
          <a:ext cx="11191705" cy="3512020"/>
        </p:xfrm>
        <a:graphic>
          <a:graphicData uri="http://schemas.openxmlformats.org/drawingml/2006/table">
            <a:tbl>
              <a:tblPr/>
              <a:tblGrid>
                <a:gridCol w="1113371">
                  <a:extLst>
                    <a:ext uri="{9D8B030D-6E8A-4147-A177-3AD203B41FA5}">
                      <a16:colId xmlns:a16="http://schemas.microsoft.com/office/drawing/2014/main" val="3367021749"/>
                    </a:ext>
                  </a:extLst>
                </a:gridCol>
                <a:gridCol w="1554081">
                  <a:extLst>
                    <a:ext uri="{9D8B030D-6E8A-4147-A177-3AD203B41FA5}">
                      <a16:colId xmlns:a16="http://schemas.microsoft.com/office/drawing/2014/main" val="3249484179"/>
                    </a:ext>
                  </a:extLst>
                </a:gridCol>
                <a:gridCol w="626271">
                  <a:extLst>
                    <a:ext uri="{9D8B030D-6E8A-4147-A177-3AD203B41FA5}">
                      <a16:colId xmlns:a16="http://schemas.microsoft.com/office/drawing/2014/main" val="78419148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1606874834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4238467572"/>
                    </a:ext>
                  </a:extLst>
                </a:gridCol>
                <a:gridCol w="533490">
                  <a:extLst>
                    <a:ext uri="{9D8B030D-6E8A-4147-A177-3AD203B41FA5}">
                      <a16:colId xmlns:a16="http://schemas.microsoft.com/office/drawing/2014/main" val="206906890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845624099"/>
                    </a:ext>
                  </a:extLst>
                </a:gridCol>
                <a:gridCol w="661065">
                  <a:extLst>
                    <a:ext uri="{9D8B030D-6E8A-4147-A177-3AD203B41FA5}">
                      <a16:colId xmlns:a16="http://schemas.microsoft.com/office/drawing/2014/main" val="378911924"/>
                    </a:ext>
                  </a:extLst>
                </a:gridCol>
                <a:gridCol w="475503">
                  <a:extLst>
                    <a:ext uri="{9D8B030D-6E8A-4147-A177-3AD203B41FA5}">
                      <a16:colId xmlns:a16="http://schemas.microsoft.com/office/drawing/2014/main" val="794466012"/>
                    </a:ext>
                  </a:extLst>
                </a:gridCol>
                <a:gridCol w="626271">
                  <a:extLst>
                    <a:ext uri="{9D8B030D-6E8A-4147-A177-3AD203B41FA5}">
                      <a16:colId xmlns:a16="http://schemas.microsoft.com/office/drawing/2014/main" val="3621042974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667567983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3416267796"/>
                    </a:ext>
                  </a:extLst>
                </a:gridCol>
                <a:gridCol w="521893">
                  <a:extLst>
                    <a:ext uri="{9D8B030D-6E8A-4147-A177-3AD203B41FA5}">
                      <a16:colId xmlns:a16="http://schemas.microsoft.com/office/drawing/2014/main" val="1331319884"/>
                    </a:ext>
                  </a:extLst>
                </a:gridCol>
                <a:gridCol w="707455">
                  <a:extLst>
                    <a:ext uri="{9D8B030D-6E8A-4147-A177-3AD203B41FA5}">
                      <a16:colId xmlns:a16="http://schemas.microsoft.com/office/drawing/2014/main" val="477002443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3171264524"/>
                    </a:ext>
                  </a:extLst>
                </a:gridCol>
                <a:gridCol w="742248">
                  <a:extLst>
                    <a:ext uri="{9D8B030D-6E8A-4147-A177-3AD203B41FA5}">
                      <a16:colId xmlns:a16="http://schemas.microsoft.com/office/drawing/2014/main" val="207057285"/>
                    </a:ext>
                  </a:extLst>
                </a:gridCol>
              </a:tblGrid>
              <a:tr h="7701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202608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FY 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plan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customers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Acc. compl.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sales/customer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Acc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index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/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customer</a:t>
                      </a:r>
                      <a:b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.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558955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* 1 000 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8670165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J015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3 531,3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2 495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44 606,2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35 088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87,7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1 271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521733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J027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3 875,4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1 115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46 610,3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45 959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95,0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1 014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96,9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64883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J029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9 387,2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7 497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1 252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117 364,4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109 313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1 074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8050550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J104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3 339,2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1 985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98,4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1 682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41 839,6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25 335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1 651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418207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3 994,6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2 740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1 458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48 423,4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37 546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239,0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1 290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80,2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093841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J120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4 044,7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2 801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1 444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4 044,7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2 801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1 444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0807039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J009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8 983,7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5 054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1 778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105 612,4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70 293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72302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J035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4 337,4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79,4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3 548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98,0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1 222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51 981,9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48 284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84,6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1 077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3749469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J050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7 959,7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190,0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6 648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1 197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43 312,0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44 960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88,2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744030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    J121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3 634,3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1980647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101701C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788 115,9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536 962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1 468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8 341 731,6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6 404 703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1 302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255224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1017DISTR98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Online sales JUA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54 628,6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140,9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10 979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4 976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589 261,8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141 662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4 160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9911234"/>
                  </a:ext>
                </a:extLst>
              </a:tr>
              <a:tr h="195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&amp; Common stores</a:t>
                      </a:r>
                    </a:p>
                  </a:txBody>
                  <a:tcPr marL="6538" marR="6538" marT="6538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842 744,5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547 941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1 538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113,6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8 930 993,4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6 546 365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103,3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1 364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112,9</a:t>
                      </a:r>
                    </a:p>
                  </a:txBody>
                  <a:tcPr marL="6538" marR="6538" marT="6538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0567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8527512B-83B3-FF00-3841-F17F1C3EAA38}"/>
              </a:ext>
            </a:extLst>
          </p:cNvPr>
          <p:cNvSpPr txBox="1"/>
          <p:nvPr/>
        </p:nvSpPr>
        <p:spPr>
          <a:xfrm>
            <a:off x="190678" y="5071653"/>
            <a:ext cx="119524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J015 – </a:t>
            </a:r>
            <a:r>
              <a:rPr lang="uk-UA" sz="1400" dirty="0"/>
              <a:t>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та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uk-UA" sz="1200" b="1" dirty="0"/>
          </a:p>
          <a:p>
            <a:r>
              <a:rPr lang="en-US" sz="1400" dirty="0"/>
              <a:t>J027 - </a:t>
            </a:r>
            <a:r>
              <a:rPr lang="uk-UA" sz="1400" dirty="0"/>
              <a:t>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та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/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endParaRPr lang="uk-UA" sz="1200" b="1" dirty="0"/>
          </a:p>
          <a:p>
            <a:r>
              <a:rPr lang="en-US" sz="1400" dirty="0"/>
              <a:t>J</a:t>
            </a:r>
            <a:r>
              <a:rPr lang="uk-UA" sz="1400" dirty="0"/>
              <a:t>109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sales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/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</a:p>
          <a:p>
            <a:r>
              <a:rPr lang="en-US" sz="1400" dirty="0"/>
              <a:t>J</a:t>
            </a:r>
            <a:r>
              <a:rPr lang="uk-UA" sz="1400" dirty="0"/>
              <a:t>035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Index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compl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S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ales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.+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endParaRPr lang="uk-UA" sz="12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sz="1400" dirty="0"/>
              <a:t>J</a:t>
            </a:r>
            <a:r>
              <a:rPr lang="uk-UA" sz="1400" dirty="0"/>
              <a:t>035 – звернути увагу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Acc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. </a:t>
            </a:r>
            <a:r>
              <a:rPr lang="en-US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I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ndex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customers</a:t>
            </a:r>
            <a:r>
              <a:rPr lang="uk-UA" sz="1200" b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prev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45622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1AD83-EBD3-5EB7-A4D5-F4681444D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C13013-A011-C0CA-797C-C751D5D46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Sales Performance by Product area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E6EA63-560C-6252-8E09-F8C828155CBA}"/>
              </a:ext>
            </a:extLst>
          </p:cNvPr>
          <p:cNvSpPr txBox="1"/>
          <p:nvPr/>
        </p:nvSpPr>
        <p:spPr>
          <a:xfrm>
            <a:off x="635000" y="10160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8" name="Picture 10">
            <a:extLst>
              <a:ext uri="{FF2B5EF4-FFF2-40B4-BE49-F238E27FC236}">
                <a16:creationId xmlns:a16="http://schemas.microsoft.com/office/drawing/2014/main" id="{B8E73EE3-4CB6-1CFA-DD8B-87020C799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9338" y="345649"/>
            <a:ext cx="1374729" cy="135139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59D0EFE-9E13-6E9C-12F3-D11E73F87C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326091" y="4245713"/>
            <a:ext cx="1788917" cy="195929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16">
            <a:extLst>
              <a:ext uri="{FF2B5EF4-FFF2-40B4-BE49-F238E27FC236}">
                <a16:creationId xmlns:a16="http://schemas.microsoft.com/office/drawing/2014/main" id="{3D880180-A850-4703-CE19-3AD05432ACA8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26091" y="2146137"/>
            <a:ext cx="1788916" cy="14880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aphicFrame>
        <p:nvGraphicFramePr>
          <p:cNvPr id="3" name="Таблиця 2">
            <a:extLst>
              <a:ext uri="{FF2B5EF4-FFF2-40B4-BE49-F238E27FC236}">
                <a16:creationId xmlns:a16="http://schemas.microsoft.com/office/drawing/2014/main" id="{18D51A33-D57B-B00C-6E27-C21EE8AE3D82}"/>
              </a:ext>
            </a:extLst>
          </p:cNvPr>
          <p:cNvGraphicFramePr>
            <a:graphicFrameLocks noGrp="1"/>
          </p:cNvGraphicFramePr>
          <p:nvPr/>
        </p:nvGraphicFramePr>
        <p:xfrm>
          <a:off x="293156" y="1360376"/>
          <a:ext cx="9828789" cy="3836936"/>
        </p:xfrm>
        <a:graphic>
          <a:graphicData uri="http://schemas.openxmlformats.org/drawingml/2006/table">
            <a:tbl>
              <a:tblPr/>
              <a:tblGrid>
                <a:gridCol w="667657">
                  <a:extLst>
                    <a:ext uri="{9D8B030D-6E8A-4147-A177-3AD203B41FA5}">
                      <a16:colId xmlns:a16="http://schemas.microsoft.com/office/drawing/2014/main" val="1146640661"/>
                    </a:ext>
                  </a:extLst>
                </a:gridCol>
                <a:gridCol w="941287">
                  <a:extLst>
                    <a:ext uri="{9D8B030D-6E8A-4147-A177-3AD203B41FA5}">
                      <a16:colId xmlns:a16="http://schemas.microsoft.com/office/drawing/2014/main" val="4227452340"/>
                    </a:ext>
                  </a:extLst>
                </a:gridCol>
                <a:gridCol w="645766">
                  <a:extLst>
                    <a:ext uri="{9D8B030D-6E8A-4147-A177-3AD203B41FA5}">
                      <a16:colId xmlns:a16="http://schemas.microsoft.com/office/drawing/2014/main" val="465330828"/>
                    </a:ext>
                  </a:extLst>
                </a:gridCol>
                <a:gridCol w="656712">
                  <a:extLst>
                    <a:ext uri="{9D8B030D-6E8A-4147-A177-3AD203B41FA5}">
                      <a16:colId xmlns:a16="http://schemas.microsoft.com/office/drawing/2014/main" val="1100392876"/>
                    </a:ext>
                  </a:extLst>
                </a:gridCol>
                <a:gridCol w="689547">
                  <a:extLst>
                    <a:ext uri="{9D8B030D-6E8A-4147-A177-3AD203B41FA5}">
                      <a16:colId xmlns:a16="http://schemas.microsoft.com/office/drawing/2014/main" val="2631170191"/>
                    </a:ext>
                  </a:extLst>
                </a:gridCol>
                <a:gridCol w="415918">
                  <a:extLst>
                    <a:ext uri="{9D8B030D-6E8A-4147-A177-3AD203B41FA5}">
                      <a16:colId xmlns:a16="http://schemas.microsoft.com/office/drawing/2014/main" val="716605409"/>
                    </a:ext>
                  </a:extLst>
                </a:gridCol>
                <a:gridCol w="864671">
                  <a:extLst>
                    <a:ext uri="{9D8B030D-6E8A-4147-A177-3AD203B41FA5}">
                      <a16:colId xmlns:a16="http://schemas.microsoft.com/office/drawing/2014/main" val="3647574718"/>
                    </a:ext>
                  </a:extLst>
                </a:gridCol>
                <a:gridCol w="580095">
                  <a:extLst>
                    <a:ext uri="{9D8B030D-6E8A-4147-A177-3AD203B41FA5}">
                      <a16:colId xmlns:a16="http://schemas.microsoft.com/office/drawing/2014/main" val="3566326369"/>
                    </a:ext>
                  </a:extLst>
                </a:gridCol>
                <a:gridCol w="853726">
                  <a:extLst>
                    <a:ext uri="{9D8B030D-6E8A-4147-A177-3AD203B41FA5}">
                      <a16:colId xmlns:a16="http://schemas.microsoft.com/office/drawing/2014/main" val="1869216652"/>
                    </a:ext>
                  </a:extLst>
                </a:gridCol>
                <a:gridCol w="996013">
                  <a:extLst>
                    <a:ext uri="{9D8B030D-6E8A-4147-A177-3AD203B41FA5}">
                      <a16:colId xmlns:a16="http://schemas.microsoft.com/office/drawing/2014/main" val="3875873766"/>
                    </a:ext>
                  </a:extLst>
                </a:gridCol>
                <a:gridCol w="788055">
                  <a:extLst>
                    <a:ext uri="{9D8B030D-6E8A-4147-A177-3AD203B41FA5}">
                      <a16:colId xmlns:a16="http://schemas.microsoft.com/office/drawing/2014/main" val="2991895421"/>
                    </a:ext>
                  </a:extLst>
                </a:gridCol>
                <a:gridCol w="974123">
                  <a:extLst>
                    <a:ext uri="{9D8B030D-6E8A-4147-A177-3AD203B41FA5}">
                      <a16:colId xmlns:a16="http://schemas.microsoft.com/office/drawing/2014/main" val="1557037270"/>
                    </a:ext>
                  </a:extLst>
                </a:gridCol>
                <a:gridCol w="755219">
                  <a:extLst>
                    <a:ext uri="{9D8B030D-6E8A-4147-A177-3AD203B41FA5}">
                      <a16:colId xmlns:a16="http://schemas.microsoft.com/office/drawing/2014/main" val="2538369822"/>
                    </a:ext>
                  </a:extLst>
                </a:gridCol>
              </a:tblGrid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J015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J027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J029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J104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J109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J120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J009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J035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J050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J121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Overall Result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507916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035989"/>
                  </a:ext>
                </a:extLst>
              </a:tr>
              <a:tr h="4586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Bed linen and sheets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422,7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271004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Bathroom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382,1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DA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37400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Mattresses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133,0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155,8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170,4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498,2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3400949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Furniture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123,6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238,7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150,2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4244319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Homeware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D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76554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textiles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80,7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90,2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89,8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317,7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139,1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B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7843298"/>
                  </a:ext>
                </a:extLst>
              </a:tr>
              <a:tr h="18140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Window dressing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151,3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209,1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400,1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6017853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Duvets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and</a:t>
                      </a:r>
                      <a:r>
                        <a:rPr lang="uk-UA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</a:t>
                      </a:r>
                      <a:r>
                        <a:rPr lang="uk-UA" sz="7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pillows</a:t>
                      </a:r>
                      <a:endParaRPr lang="uk-UA" sz="7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91,2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highlight>
                            <a:srgbClr val="FFFF00"/>
                          </a:highlight>
                          <a:latin typeface="Verdana" panose="020B0604030504040204" pitchFamily="34" charset="0"/>
                        </a:rPr>
                        <a:t>84,0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364,0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D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428898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Garden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182,8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73,8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145,3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135,0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365804"/>
                  </a:ext>
                </a:extLst>
              </a:tr>
              <a:tr h="222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MMS article structure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271,1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3067919"/>
                  </a:ext>
                </a:extLst>
              </a:tr>
              <a:tr h="34397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Acc. index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compl. sales</a:t>
                      </a:r>
                      <a:b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Bed linen and sheets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184,1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53795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Bathroom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227,1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107,4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028163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Mattresses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90,4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202,0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0476944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Furniture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215,6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08405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Homeware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341,9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106,1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098621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Home textiles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247,2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453449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Window dressing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99,6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164,4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102,9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95,1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98,4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4056576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Duvets and pillows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195,3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119,0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5454255"/>
                  </a:ext>
                </a:extLst>
              </a:tr>
              <a:tr h="14163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Garden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124,6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52,8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110,6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86,2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135,2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94,8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84,1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14357391"/>
                  </a:ext>
                </a:extLst>
              </a:tr>
              <a:tr h="22256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7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MMS article structure</a:t>
                      </a:r>
                    </a:p>
                  </a:txBody>
                  <a:tcPr marL="7026" marR="7026" marT="7026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103,5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92,1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115,2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191,7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116,8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97,3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102,8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7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111,6</a:t>
                      </a:r>
                    </a:p>
                  </a:txBody>
                  <a:tcPr marL="7026" marR="7026" marT="7026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172771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A0B2C88-80A6-99EE-CF20-766007400BB3}"/>
              </a:ext>
            </a:extLst>
          </p:cNvPr>
          <p:cNvSpPr txBox="1"/>
          <p:nvPr/>
        </p:nvSpPr>
        <p:spPr>
          <a:xfrm>
            <a:off x="293156" y="5431176"/>
            <a:ext cx="992566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uk-UA" sz="1400" dirty="0"/>
              <a:t>Зверніть увагу: по багатьом магазинам є падіння в групі -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Home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textiles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 та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Duvets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and</a:t>
            </a:r>
            <a:r>
              <a:rPr lang="uk-UA" sz="1200" b="1" i="1" dirty="0">
                <a:solidFill>
                  <a:srgbClr val="000000"/>
                </a:solidFill>
                <a:latin typeface="Verdana" panose="020B0604030504040204" pitchFamily="34" charset="0"/>
              </a:rPr>
              <a:t> </a:t>
            </a:r>
            <a:r>
              <a:rPr lang="uk-UA" sz="1200" b="1" i="1" dirty="0" err="1">
                <a:solidFill>
                  <a:srgbClr val="000000"/>
                </a:solidFill>
                <a:latin typeface="Verdana" panose="020B0604030504040204" pitchFamily="34" charset="0"/>
              </a:rPr>
              <a:t>pillows</a:t>
            </a:r>
            <a:endParaRPr lang="uk-UA" sz="1200" b="1" i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uk-UA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Фокус на  </a:t>
            </a:r>
            <a:r>
              <a:rPr lang="en-US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J015. J027. J035. J029</a:t>
            </a:r>
            <a:endParaRPr lang="uk-UA" sz="1400" b="1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uk-UA" sz="1400" dirty="0"/>
              <a:t> </a:t>
            </a:r>
            <a:endParaRPr lang="uk-UA" sz="1200" dirty="0"/>
          </a:p>
        </p:txBody>
      </p:sp>
    </p:spTree>
    <p:extLst>
      <p:ext uri="{BB962C8B-B14F-4D97-AF65-F5344CB8AC3E}">
        <p14:creationId xmlns:p14="http://schemas.microsoft.com/office/powerpoint/2010/main" val="10949053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527FCA-89BC-7F81-E850-A18F842E8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Productivity</a:t>
            </a:r>
            <a:endParaRPr lang="uk-U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C8A2C-4410-B50E-047F-A1F1FDBD5255}"/>
              </a:ext>
            </a:extLst>
          </p:cNvPr>
          <p:cNvSpPr txBox="1"/>
          <p:nvPr/>
        </p:nvSpPr>
        <p:spPr>
          <a:xfrm>
            <a:off x="635000" y="1016000"/>
            <a:ext cx="10922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 dirty="0">
                <a:latin typeface="Verdana" panose="020B0604030504040204" pitchFamily="34" charset="0"/>
              </a:rPr>
              <a:t>comparable stores, month </a:t>
            </a:r>
            <a:endParaRPr lang="uk-UA" sz="1400" dirty="0">
              <a:latin typeface="Verdana" panose="020B0604030504040204" pitchFamily="34" charset="0"/>
            </a:endParaRPr>
          </a:p>
        </p:txBody>
      </p:sp>
      <p:pic>
        <p:nvPicPr>
          <p:cNvPr id="6" name="Picture 12">
            <a:extLst>
              <a:ext uri="{FF2B5EF4-FFF2-40B4-BE49-F238E27FC236}">
                <a16:creationId xmlns:a16="http://schemas.microsoft.com/office/drawing/2014/main" id="{9447944F-F173-DA8D-1393-111715D34E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2722" y="160558"/>
            <a:ext cx="994179" cy="954119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A2B7CEF-B9F4-E362-F826-46F3322D80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358" b="95987" l="9524" r="89744">
                        <a14:foregroundMark x1="49817" y1="7692" x2="49817" y2="7692"/>
                        <a14:foregroundMark x1="43956" y1="73913" x2="43956" y2="73913"/>
                        <a14:foregroundMark x1="52015" y1="72910" x2="52015" y2="72910"/>
                        <a14:foregroundMark x1="62271" y1="74247" x2="62271" y2="74247"/>
                        <a14:foregroundMark x1="72894" y1="72910" x2="72894" y2="72910"/>
                        <a14:foregroundMark x1="84249" y1="72910" x2="84249" y2="72910"/>
                        <a14:foregroundMark x1="34799" y1="76254" x2="34799" y2="76254"/>
                        <a14:foregroundMark x1="29304" y1="75585" x2="29304" y2="75585"/>
                        <a14:foregroundMark x1="19048" y1="72910" x2="19048" y2="72910"/>
                        <a14:foregroundMark x1="33333" y1="92308" x2="33333" y2="92308"/>
                        <a14:foregroundMark x1="41026" y1="91639" x2="41026" y2="91639"/>
                        <a14:foregroundMark x1="45055" y1="91639" x2="45055" y2="91639"/>
                        <a14:foregroundMark x1="41026" y1="95987" x2="41026" y2="95987"/>
                        <a14:foregroundMark x1="54945" y1="90970" x2="54945" y2="90970"/>
                        <a14:foregroundMark x1="65934" y1="87960" x2="65934" y2="87960"/>
                        <a14:foregroundMark x1="48718" y1="32107" x2="48718" y2="32107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999779" y="57160"/>
            <a:ext cx="1109678" cy="12153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16">
            <a:extLst>
              <a:ext uri="{FF2B5EF4-FFF2-40B4-BE49-F238E27FC236}">
                <a16:creationId xmlns:a16="http://schemas.microsoft.com/office/drawing/2014/main" id="{7EBA2975-843A-99A8-FE4B-55274062997A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99900" y="160559"/>
            <a:ext cx="1147067" cy="954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BC6E82-89CF-6627-FC5E-A84F3F117F2E}"/>
              </a:ext>
            </a:extLst>
          </p:cNvPr>
          <p:cNvSpPr txBox="1"/>
          <p:nvPr/>
        </p:nvSpPr>
        <p:spPr>
          <a:xfrm>
            <a:off x="7591049" y="2170665"/>
            <a:ext cx="45158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uk-UA" dirty="0"/>
              <a:t> Посил один: </a:t>
            </a:r>
          </a:p>
          <a:p>
            <a:pPr algn="ctr"/>
            <a:r>
              <a:rPr lang="uk-UA" dirty="0"/>
              <a:t>має бути баланс по продуктивності</a:t>
            </a:r>
          </a:p>
          <a:p>
            <a:pPr algn="ctr"/>
            <a:endParaRPr lang="uk-UA" dirty="0"/>
          </a:p>
          <a:p>
            <a:pPr algn="ctr"/>
            <a:r>
              <a:rPr lang="uk-UA" dirty="0"/>
              <a:t>Зверніть увагу </a:t>
            </a:r>
          </a:p>
          <a:p>
            <a:pPr algn="ctr"/>
            <a:r>
              <a:rPr lang="uk-UA" dirty="0"/>
              <a:t>на години в неробочий час, в випадку </a:t>
            </a:r>
            <a:r>
              <a:rPr lang="uk-UA" dirty="0" err="1"/>
              <a:t>тривог</a:t>
            </a:r>
            <a:r>
              <a:rPr lang="uk-UA" dirty="0"/>
              <a:t> зранку, не потрібно бути на магазині і </a:t>
            </a:r>
            <a:r>
              <a:rPr lang="uk-UA" dirty="0" err="1"/>
              <a:t>букувати</a:t>
            </a:r>
            <a:r>
              <a:rPr lang="uk-UA" dirty="0"/>
              <a:t> години. </a:t>
            </a:r>
          </a:p>
        </p:txBody>
      </p:sp>
      <p:graphicFrame>
        <p:nvGraphicFramePr>
          <p:cNvPr id="5" name="Таблиця 4">
            <a:extLst>
              <a:ext uri="{FF2B5EF4-FFF2-40B4-BE49-F238E27FC236}">
                <a16:creationId xmlns:a16="http://schemas.microsoft.com/office/drawing/2014/main" id="{65C80AA8-A8E4-28A8-ACE9-646E361EB4C1}"/>
              </a:ext>
            </a:extLst>
          </p:cNvPr>
          <p:cNvGraphicFramePr>
            <a:graphicFrameLocks noGrp="1"/>
          </p:cNvGraphicFramePr>
          <p:nvPr/>
        </p:nvGraphicFramePr>
        <p:xfrm>
          <a:off x="529387" y="1402605"/>
          <a:ext cx="6777792" cy="2455522"/>
        </p:xfrm>
        <a:graphic>
          <a:graphicData uri="http://schemas.openxmlformats.org/drawingml/2006/table">
            <a:tbl>
              <a:tblPr/>
              <a:tblGrid>
                <a:gridCol w="1092772">
                  <a:extLst>
                    <a:ext uri="{9D8B030D-6E8A-4147-A177-3AD203B41FA5}">
                      <a16:colId xmlns:a16="http://schemas.microsoft.com/office/drawing/2014/main" val="3981745024"/>
                    </a:ext>
                  </a:extLst>
                </a:gridCol>
                <a:gridCol w="1743233">
                  <a:extLst>
                    <a:ext uri="{9D8B030D-6E8A-4147-A177-3AD203B41FA5}">
                      <a16:colId xmlns:a16="http://schemas.microsoft.com/office/drawing/2014/main" val="273812294"/>
                    </a:ext>
                  </a:extLst>
                </a:gridCol>
                <a:gridCol w="663470">
                  <a:extLst>
                    <a:ext uri="{9D8B030D-6E8A-4147-A177-3AD203B41FA5}">
                      <a16:colId xmlns:a16="http://schemas.microsoft.com/office/drawing/2014/main" val="1854348402"/>
                    </a:ext>
                  </a:extLst>
                </a:gridCol>
                <a:gridCol w="533378">
                  <a:extLst>
                    <a:ext uri="{9D8B030D-6E8A-4147-A177-3AD203B41FA5}">
                      <a16:colId xmlns:a16="http://schemas.microsoft.com/office/drawing/2014/main" val="4192301374"/>
                    </a:ext>
                  </a:extLst>
                </a:gridCol>
                <a:gridCol w="520367">
                  <a:extLst>
                    <a:ext uri="{9D8B030D-6E8A-4147-A177-3AD203B41FA5}">
                      <a16:colId xmlns:a16="http://schemas.microsoft.com/office/drawing/2014/main" val="3081277194"/>
                    </a:ext>
                  </a:extLst>
                </a:gridCol>
                <a:gridCol w="520367">
                  <a:extLst>
                    <a:ext uri="{9D8B030D-6E8A-4147-A177-3AD203B41FA5}">
                      <a16:colId xmlns:a16="http://schemas.microsoft.com/office/drawing/2014/main" val="299624574"/>
                    </a:ext>
                  </a:extLst>
                </a:gridCol>
                <a:gridCol w="637451">
                  <a:extLst>
                    <a:ext uri="{9D8B030D-6E8A-4147-A177-3AD203B41FA5}">
                      <a16:colId xmlns:a16="http://schemas.microsoft.com/office/drawing/2014/main" val="1280462240"/>
                    </a:ext>
                  </a:extLst>
                </a:gridCol>
                <a:gridCol w="416294">
                  <a:extLst>
                    <a:ext uri="{9D8B030D-6E8A-4147-A177-3AD203B41FA5}">
                      <a16:colId xmlns:a16="http://schemas.microsoft.com/office/drawing/2014/main" val="3914010634"/>
                    </a:ext>
                  </a:extLst>
                </a:gridCol>
                <a:gridCol w="650460">
                  <a:extLst>
                    <a:ext uri="{9D8B030D-6E8A-4147-A177-3AD203B41FA5}">
                      <a16:colId xmlns:a16="http://schemas.microsoft.com/office/drawing/2014/main" val="3741372204"/>
                    </a:ext>
                  </a:extLst>
                </a:gridCol>
              </a:tblGrid>
              <a:tr h="63089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-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Weekend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Factor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Work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(fixed)/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var.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work/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 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Short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sick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abs. %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FY acc.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Produc-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240769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948202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East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2 842,3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4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77A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1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6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2 753,3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0503812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South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2 594,7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4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117,5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8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D8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967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2 519,7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C7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459803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1017DISTR06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East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3 103,9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108,1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1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7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3 099,2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6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5696814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South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2 810,3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2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93,8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B7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3 007,8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9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1150111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1017DISTR10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Dnipro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2 450,2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A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97,1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26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2 735,1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283333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2 766,4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104,1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2 846,3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078032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Center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2 978,4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114,0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8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696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2 780,8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F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942664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1017DISTR03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Podil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3 452,8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121,7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A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F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2 923,2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225176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West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3 747,6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D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125,7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0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3 134,1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5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0472296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1017DISTR08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Kyiv North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2 991,0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A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105,1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C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3 034,9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E88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5696921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[-] 1017DISTR09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Volyn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3 688,1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126,4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3 425,0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B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1003145"/>
                  </a:ext>
                </a:extLst>
              </a:tr>
              <a:tr h="1298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[-] 1017REG02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Region 2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3D6E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3 383,8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118,7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3 060,9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9448705"/>
                  </a:ext>
                </a:extLst>
              </a:tr>
              <a:tr h="1360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[-] 101701C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Stores excl Planned stores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3 097,3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2 962,6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2608951"/>
                  </a:ext>
                </a:extLst>
              </a:tr>
            </a:tbl>
          </a:graphicData>
        </a:graphic>
      </p:graphicFrame>
      <p:graphicFrame>
        <p:nvGraphicFramePr>
          <p:cNvPr id="8" name="Таблиця 7">
            <a:extLst>
              <a:ext uri="{FF2B5EF4-FFF2-40B4-BE49-F238E27FC236}">
                <a16:creationId xmlns:a16="http://schemas.microsoft.com/office/drawing/2014/main" id="{66649935-8030-371C-6211-FE427DFE3F2D}"/>
              </a:ext>
            </a:extLst>
          </p:cNvPr>
          <p:cNvGraphicFramePr>
            <a:graphicFrameLocks noGrp="1"/>
          </p:cNvGraphicFramePr>
          <p:nvPr/>
        </p:nvGraphicFramePr>
        <p:xfrm>
          <a:off x="529386" y="3936955"/>
          <a:ext cx="6777791" cy="2308324"/>
        </p:xfrm>
        <a:graphic>
          <a:graphicData uri="http://schemas.openxmlformats.org/drawingml/2006/table">
            <a:tbl>
              <a:tblPr/>
              <a:tblGrid>
                <a:gridCol w="1092772">
                  <a:extLst>
                    <a:ext uri="{9D8B030D-6E8A-4147-A177-3AD203B41FA5}">
                      <a16:colId xmlns:a16="http://schemas.microsoft.com/office/drawing/2014/main" val="3490974013"/>
                    </a:ext>
                  </a:extLst>
                </a:gridCol>
                <a:gridCol w="1743232">
                  <a:extLst>
                    <a:ext uri="{9D8B030D-6E8A-4147-A177-3AD203B41FA5}">
                      <a16:colId xmlns:a16="http://schemas.microsoft.com/office/drawing/2014/main" val="2926188809"/>
                    </a:ext>
                  </a:extLst>
                </a:gridCol>
                <a:gridCol w="663469">
                  <a:extLst>
                    <a:ext uri="{9D8B030D-6E8A-4147-A177-3AD203B41FA5}">
                      <a16:colId xmlns:a16="http://schemas.microsoft.com/office/drawing/2014/main" val="4179621245"/>
                    </a:ext>
                  </a:extLst>
                </a:gridCol>
                <a:gridCol w="533377">
                  <a:extLst>
                    <a:ext uri="{9D8B030D-6E8A-4147-A177-3AD203B41FA5}">
                      <a16:colId xmlns:a16="http://schemas.microsoft.com/office/drawing/2014/main" val="1362962685"/>
                    </a:ext>
                  </a:extLst>
                </a:gridCol>
                <a:gridCol w="520368">
                  <a:extLst>
                    <a:ext uri="{9D8B030D-6E8A-4147-A177-3AD203B41FA5}">
                      <a16:colId xmlns:a16="http://schemas.microsoft.com/office/drawing/2014/main" val="1724897377"/>
                    </a:ext>
                  </a:extLst>
                </a:gridCol>
                <a:gridCol w="520368">
                  <a:extLst>
                    <a:ext uri="{9D8B030D-6E8A-4147-A177-3AD203B41FA5}">
                      <a16:colId xmlns:a16="http://schemas.microsoft.com/office/drawing/2014/main" val="1361573490"/>
                    </a:ext>
                  </a:extLst>
                </a:gridCol>
                <a:gridCol w="637451">
                  <a:extLst>
                    <a:ext uri="{9D8B030D-6E8A-4147-A177-3AD203B41FA5}">
                      <a16:colId xmlns:a16="http://schemas.microsoft.com/office/drawing/2014/main" val="4053820178"/>
                    </a:ext>
                  </a:extLst>
                </a:gridCol>
                <a:gridCol w="416294">
                  <a:extLst>
                    <a:ext uri="{9D8B030D-6E8A-4147-A177-3AD203B41FA5}">
                      <a16:colId xmlns:a16="http://schemas.microsoft.com/office/drawing/2014/main" val="1388484601"/>
                    </a:ext>
                  </a:extLst>
                </a:gridCol>
                <a:gridCol w="650460">
                  <a:extLst>
                    <a:ext uri="{9D8B030D-6E8A-4147-A177-3AD203B41FA5}">
                      <a16:colId xmlns:a16="http://schemas.microsoft.com/office/drawing/2014/main" val="4035327417"/>
                    </a:ext>
                  </a:extLst>
                </a:gridCol>
              </a:tblGrid>
              <a:tr h="70705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</a:t>
                      </a: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</a:t>
                      </a:r>
                      <a: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-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  <a:br>
                        <a:rPr lang="uk-UA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  <a:endParaRPr lang="uk-UA" sz="8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Index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Weekend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Factor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Work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(fixed)/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var.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work/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opening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hours prev.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Short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sick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abs. %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Aug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[+] FY acc.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Produc-</a:t>
                      </a:r>
                      <a:b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</a:b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tivity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CF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4166016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Site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1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UAH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0544118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J015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SkyMall,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2 341,0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109,7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786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7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4C3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2 484,7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9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5711271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J027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Kvadrat,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2 367,2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8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2 422,1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5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6354842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J029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Prospect,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2 960,7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B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E2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-0,1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DA8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3 210,3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FE2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5581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J104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Pohreby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2 264,5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E7B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887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9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2 442,2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360404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LIvoberegna,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1 879,3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47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82,6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88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5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E98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2 400,0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37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59478756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J120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Rayon, Kyiv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5268845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J009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Terminal, Brovary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4 566,1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E7F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115,1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6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683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5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4 258,5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3672937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J035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Hollywood, Chernigiv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2 153,4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67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101,1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2,9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8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0,1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38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C27C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2 191,8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B4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0118538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J050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TSUM, Chernihiv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2 510,4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CE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142,5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BEDA5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1,4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6,1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C57D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3,6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9C97E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1 958,3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A3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5404290"/>
                  </a:ext>
                </a:extLst>
              </a:tr>
              <a:tr h="14557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           J121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uk-UA" sz="800" b="0" i="0" u="none" strike="noStrike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</a:rPr>
                        <a:t>Inzhur Park, Brovary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3F4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uk-UA" sz="800" b="0" i="0" u="none" strike="noStrike" dirty="0">
                          <a:solidFill>
                            <a:srgbClr val="1F497D"/>
                          </a:solidFill>
                          <a:effectLst/>
                          <a:latin typeface="Verdana" panose="020B06040305040402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CB9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618253"/>
                  </a:ext>
                </a:extLst>
              </a:tr>
            </a:tbl>
          </a:graphicData>
        </a:graphic>
      </p:graphicFrame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3F0A32B-D730-03C7-296E-3F3E6E997B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6571" y="4675616"/>
            <a:ext cx="1684808" cy="141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67737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itle">
  <a:themeElements>
    <a:clrScheme name="JYSK template">
      <a:dk1>
        <a:srgbClr val="565655"/>
      </a:dk1>
      <a:lt1>
        <a:sysClr val="window" lastClr="FFFFFF"/>
      </a:lt1>
      <a:dk2>
        <a:srgbClr val="565655"/>
      </a:dk2>
      <a:lt2>
        <a:srgbClr val="D0CECE"/>
      </a:lt2>
      <a:accent1>
        <a:srgbClr val="143C8A"/>
      </a:accent1>
      <a:accent2>
        <a:srgbClr val="4BA4DF"/>
      </a:accent2>
      <a:accent3>
        <a:srgbClr val="9CC3E5"/>
      </a:accent3>
      <a:accent4>
        <a:srgbClr val="2E75B5"/>
      </a:accent4>
      <a:accent5>
        <a:srgbClr val="48A1FA"/>
      </a:accent5>
      <a:accent6>
        <a:srgbClr val="034A90"/>
      </a:accent6>
      <a:hlink>
        <a:srgbClr val="0563C1"/>
      </a:hlink>
      <a:folHlink>
        <a:srgbClr val="4BA4DF"/>
      </a:folHlink>
    </a:clrScheme>
    <a:fontScheme name="Custom 1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YSK indoor FY27_compressed" id="{C2CC1DF4-A3CF-D843-A251-4CFB8F5FE977}" vid="{965AC394-B3C6-A34C-88B0-DD5A296B9B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4F66457922CD439B4C537E3463C4CC" ma:contentTypeVersion="6" ma:contentTypeDescription="Create a new document." ma:contentTypeScope="" ma:versionID="c8d6c77a410fa0bd3f420563346993da">
  <xsd:schema xmlns:xsd="http://www.w3.org/2001/XMLSchema" xmlns:xs="http://www.w3.org/2001/XMLSchema" xmlns:p="http://schemas.microsoft.com/office/2006/metadata/properties" xmlns:ns2="5cae242a-ff90-464e-a0a2-2418b7e71834" xmlns:ns3="33f7f070-486a-46d9-a80b-dc499a041972" targetNamespace="http://schemas.microsoft.com/office/2006/metadata/properties" ma:root="true" ma:fieldsID="7cfe056fc2c5cf27e494002764c97e6b" ns2:_="" ns3:_="">
    <xsd:import namespace="5cae242a-ff90-464e-a0a2-2418b7e71834"/>
    <xsd:import namespace="33f7f070-486a-46d9-a80b-dc499a04197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ae242a-ff90-464e-a0a2-2418b7e7183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f7f070-486a-46d9-a80b-dc499a0419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1F195D3-AA43-47D5-B789-72A185EB4E16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1e6c36b7-4ae1-4e82-a4c6-474e7851652c"/>
  </ds:schemaRefs>
</ds:datastoreItem>
</file>

<file path=customXml/itemProps2.xml><?xml version="1.0" encoding="utf-8"?>
<ds:datastoreItem xmlns:ds="http://schemas.openxmlformats.org/officeDocument/2006/customXml" ds:itemID="{B3961E08-7722-4D45-A65D-7F516A026F7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0DFC219-5C63-44C3-9B0E-2D344DD5FE7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cae242a-ff90-464e-a0a2-2418b7e71834"/>
    <ds:schemaRef ds:uri="33f7f070-486a-46d9-a80b-dc499a04197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JYSK indoor FY27</Template>
  <TotalTime>1</TotalTime>
  <Words>2525</Words>
  <Application>Microsoft Office PowerPoint</Application>
  <PresentationFormat>Широкий екран</PresentationFormat>
  <Paragraphs>1335</Paragraphs>
  <Slides>12</Slides>
  <Notes>1</Notes>
  <HiddenSlides>0</HiddenSlides>
  <MMClips>0</MMClips>
  <ScaleCrop>false</ScaleCrop>
  <HeadingPairs>
    <vt:vector size="8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Вбудовані сервери OLE</vt:lpstr>
      </vt:variant>
      <vt:variant>
        <vt:i4>1</vt:i4>
      </vt:variant>
      <vt:variant>
        <vt:lpstr>Заголовки слайдів</vt:lpstr>
      </vt:variant>
      <vt:variant>
        <vt:i4>12</vt:i4>
      </vt:variant>
    </vt:vector>
  </HeadingPairs>
  <TitlesOfParts>
    <vt:vector size="18" baseType="lpstr">
      <vt:lpstr>Arial</vt:lpstr>
      <vt:lpstr>Calibri</vt:lpstr>
      <vt:lpstr>Verdana</vt:lpstr>
      <vt:lpstr>Wingdings</vt:lpstr>
      <vt:lpstr>Title</vt:lpstr>
      <vt:lpstr>Adobe Acrobat Document</vt:lpstr>
      <vt:lpstr>Kyiv 1</vt:lpstr>
      <vt:lpstr>Презентація PowerPoint</vt:lpstr>
      <vt:lpstr>Презентація PowerPoint</vt:lpstr>
      <vt:lpstr>Домовленості:</vt:lpstr>
      <vt:lpstr>Презентація PowerPoint</vt:lpstr>
      <vt:lpstr>Презентація PowerPoint</vt:lpstr>
      <vt:lpstr>Виторг основна ціль</vt:lpstr>
      <vt:lpstr>Sales Index - Monthly Development ПЛАН</vt:lpstr>
      <vt:lpstr>Performance District </vt:lpstr>
      <vt:lpstr>Performance District Kyiv1 stores</vt:lpstr>
      <vt:lpstr>Sales Performance by Product area</vt:lpstr>
      <vt:lpstr>Productivity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 Lysdal</dc:creator>
  <cp:lastModifiedBy>Adam Sadkevich</cp:lastModifiedBy>
  <cp:revision>2</cp:revision>
  <dcterms:created xsi:type="dcterms:W3CDTF">2026-07-09T12:59:14Z</dcterms:created>
  <dcterms:modified xsi:type="dcterms:W3CDTF">2026-09-03T13:29:56Z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0x010100704F66457922CD439B4C537E3463C4CC</vt:lpwstr>
  </property>
</Properties>
</file>