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301" r:id="rId5"/>
    <p:sldId id="284" r:id="rId6"/>
    <p:sldId id="285" r:id="rId7"/>
    <p:sldId id="286" r:id="rId8"/>
    <p:sldId id="288" r:id="rId9"/>
    <p:sldId id="292" r:id="rId10"/>
    <p:sldId id="2147471415" r:id="rId11"/>
    <p:sldId id="302" r:id="rId12"/>
    <p:sldId id="2147471414" r:id="rId1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D88"/>
    <a:srgbClr val="796650"/>
    <a:srgbClr val="143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57" autoAdjust="0"/>
  </p:normalViewPr>
  <p:slideViewPr>
    <p:cSldViewPr snapToGrid="0">
      <p:cViewPr>
        <p:scale>
          <a:sx n="66" d="100"/>
          <a:sy n="66" d="100"/>
        </p:scale>
        <p:origin x="3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8B90A9-72E6-ADCD-32D1-6BD45348D8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3A405-DCAC-259B-0B2A-2D52A03EA8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2B490-A9E2-468B-BF45-7A385C5581B0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0A538-931F-E7AA-2366-777FBE7FD9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51AC9-0389-85E5-7FC9-DB70B46F26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4405-7BB2-4967-AA21-1BEC70774A7D}" type="slidenum">
              <a:rPr lang="en-GB" smtClean="0"/>
              <a:t>‹№›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680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CB3BA-6D19-4791-B90A-7BCACC129D79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230B7-F7D9-462B-9D82-1201BD8A139C}" type="slidenum">
              <a:rPr lang="en-GB" smtClean="0"/>
              <a:t>‹№›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7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1.jp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BAE88-8D4C-8B8A-6E71-2DCFF94C55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" r="58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A2AB264-0DDD-4213-AF4A-DEF567307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564" y="5307482"/>
            <a:ext cx="7656853" cy="713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DK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494D6453-18A4-43B8-826C-0775693ECF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549" y="4234070"/>
            <a:ext cx="7656853" cy="888239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DK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AB6F159B-DA78-4C80-9405-B73BD9FAD0E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A64632-625C-CB89-3418-E41306FB4D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30CA04-B88D-426B-1120-2FBD1044C6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6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BAE88-8D4C-8B8A-6E71-2DCFF94C55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" r="58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A2AB264-0DDD-4213-AF4A-DEF567307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564" y="5307482"/>
            <a:ext cx="7656853" cy="713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DK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494D6453-18A4-43B8-826C-0775693ECF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549" y="4234070"/>
            <a:ext cx="7656853" cy="888239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DK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AB6F159B-DA78-4C80-9405-B73BD9FAD0E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A64632-625C-CB89-3418-E41306FB4D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30CA04-B88D-426B-1120-2FBD1044C6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5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1832BB-DF19-DB39-D5AD-1F39EA82E1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" b="34"/>
          <a:stretch/>
        </p:blipFill>
        <p:spPr>
          <a:xfrm>
            <a:off x="-1" y="0"/>
            <a:ext cx="12214331" cy="68659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5262" y="643379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D3C34B-A5BC-40D3-8A13-AB5D7F42FB15}" type="slidenum">
              <a:rPr lang="en-GB" noProof="0" smtClean="0"/>
              <a:t>‹№›</a:t>
            </a:fld>
            <a:endParaRPr lang="en-GB" noProof="0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FBE7AF3-E254-44A9-B79F-0093CB194E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493" y="824789"/>
            <a:ext cx="4179671" cy="20812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AGENDA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1ECAA83-CFCE-4788-8809-758BC6D441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04154" y="909391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uk-UA" noProof="0"/>
              <a:t>Клацніть, щоб відредагувати стилі зразків тексту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C5854CB-21B6-4E68-B06C-086DE2601B3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15075" y="1466103"/>
            <a:ext cx="5693387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tx2"/>
              </a:buClr>
              <a:defRPr sz="2000"/>
            </a:lvl1pPr>
            <a:lvl2pPr>
              <a:buClr>
                <a:schemeClr val="tx2"/>
              </a:buClr>
              <a:defRPr sz="1800"/>
            </a:lvl2pPr>
            <a:lvl3pPr>
              <a:buClr>
                <a:schemeClr val="tx2"/>
              </a:buCl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48D65B76-0D7D-4B87-9354-B26B83D8793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64DFB3-1D05-3DE4-0D78-0107F3E86B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4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9579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or Auditorium/ very bright scree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74B668-7C12-9AC7-2FE4-1E14F30281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9FFB1-EFB4-D484-8F3E-CB8F83DB23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0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of tod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FF6EEF8-79E6-9824-32A8-802F66F2D2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B12AB1E-30FC-5FDB-DC0D-79C992177FF1}"/>
              </a:ext>
            </a:extLst>
          </p:cNvPr>
          <p:cNvSpPr/>
          <p:nvPr userDrawn="1"/>
        </p:nvSpPr>
        <p:spPr>
          <a:xfrm>
            <a:off x="822041" y="1492954"/>
            <a:ext cx="3822908" cy="46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BDF068-07F4-F6FE-138B-D19D1A4AA02F}"/>
              </a:ext>
            </a:extLst>
          </p:cNvPr>
          <p:cNvGrpSpPr/>
          <p:nvPr userDrawn="1"/>
        </p:nvGrpSpPr>
        <p:grpSpPr>
          <a:xfrm>
            <a:off x="4402605" y="3069157"/>
            <a:ext cx="731206" cy="931611"/>
            <a:chOff x="4402605" y="3069157"/>
            <a:chExt cx="731206" cy="931611"/>
          </a:xfrm>
        </p:grpSpPr>
        <p:pic>
          <p:nvPicPr>
            <p:cNvPr id="9" name="Picture 8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5446A4E9-9B8C-7E2B-5162-376BC21D48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2605" y="3069157"/>
              <a:ext cx="731206" cy="931611"/>
            </a:xfrm>
            <a:prstGeom prst="rect">
              <a:avLst/>
            </a:prstGeom>
          </p:spPr>
        </p:pic>
        <p:pic>
          <p:nvPicPr>
            <p:cNvPr id="26" name="Graphic 25" descr="Chat">
              <a:extLst>
                <a:ext uri="{FF2B5EF4-FFF2-40B4-BE49-F238E27FC236}">
                  <a16:creationId xmlns:a16="http://schemas.microsoft.com/office/drawing/2014/main" id="{1F5D8C8B-1BE9-6BA3-73C4-729C8F61E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57637" y="3167358"/>
              <a:ext cx="621141" cy="621141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40B3DE-62C2-911F-C84D-5CCB206548BA}"/>
              </a:ext>
            </a:extLst>
          </p:cNvPr>
          <p:cNvGrpSpPr/>
          <p:nvPr userDrawn="1"/>
        </p:nvGrpSpPr>
        <p:grpSpPr>
          <a:xfrm>
            <a:off x="4402605" y="5044741"/>
            <a:ext cx="731206" cy="931611"/>
            <a:chOff x="4402605" y="5044741"/>
            <a:chExt cx="731206" cy="931611"/>
          </a:xfrm>
        </p:grpSpPr>
        <p:pic>
          <p:nvPicPr>
            <p:cNvPr id="10" name="Picture 9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6B0A7CA6-8271-687F-A58E-0AAA46D2EA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2605" y="5044741"/>
              <a:ext cx="731206" cy="931611"/>
            </a:xfrm>
            <a:prstGeom prst="rect">
              <a:avLst/>
            </a:prstGeom>
          </p:spPr>
        </p:pic>
        <p:pic>
          <p:nvPicPr>
            <p:cNvPr id="29" name="Graphic 28" descr="Checkmark">
              <a:extLst>
                <a:ext uri="{FF2B5EF4-FFF2-40B4-BE49-F238E27FC236}">
                  <a16:creationId xmlns:a16="http://schemas.microsoft.com/office/drawing/2014/main" id="{77933BB7-4CD8-830D-8EF9-638A3F774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17838" y="5171390"/>
              <a:ext cx="500737" cy="500737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C056CA0-E1FA-E772-B73E-A063A34DF8FC}"/>
              </a:ext>
            </a:extLst>
          </p:cNvPr>
          <p:cNvGrpSpPr/>
          <p:nvPr userDrawn="1"/>
        </p:nvGrpSpPr>
        <p:grpSpPr>
          <a:xfrm>
            <a:off x="4402605" y="1081148"/>
            <a:ext cx="731206" cy="931611"/>
            <a:chOff x="4395506" y="1097235"/>
            <a:chExt cx="731206" cy="931611"/>
          </a:xfrm>
        </p:grpSpPr>
        <p:pic>
          <p:nvPicPr>
            <p:cNvPr id="6" name="Picture 5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B8F9700D-1B5C-86DB-C5BC-5BF98F4A45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06" y="1097235"/>
              <a:ext cx="731206" cy="931611"/>
            </a:xfrm>
            <a:prstGeom prst="rect">
              <a:avLst/>
            </a:prstGeom>
          </p:spPr>
        </p:pic>
        <p:pic>
          <p:nvPicPr>
            <p:cNvPr id="32" name="Graphic 31" descr="Megaphone">
              <a:extLst>
                <a:ext uri="{FF2B5EF4-FFF2-40B4-BE49-F238E27FC236}">
                  <a16:creationId xmlns:a16="http://schemas.microsoft.com/office/drawing/2014/main" id="{93AC8EE3-08D1-D144-6281-E0E370E96F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60901" y="1152660"/>
              <a:ext cx="602075" cy="602075"/>
            </a:xfrm>
            <a:prstGeom prst="rect">
              <a:avLst/>
            </a:prstGeom>
          </p:spPr>
        </p:pic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8586A7-B45C-A7DA-E192-454D3512C520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3320" y="2436709"/>
            <a:ext cx="580274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4CB4F5-FCAC-A9C5-2565-6A9C56A8D15A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3320" y="4418894"/>
            <a:ext cx="580274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8AC9C985-5E6C-3F79-CEC3-61031E69C0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3356" y="978750"/>
            <a:ext cx="6577012" cy="13834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36DFDB1E-52D5-F885-4E89-60D09A71D7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33356" y="2938888"/>
            <a:ext cx="6577012" cy="13747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68125BE6-78E3-7D54-6FA9-BD50EE5E04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33356" y="4972658"/>
            <a:ext cx="6577012" cy="13747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6749F60-752A-AB08-293C-D85669634C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3050" y="6494382"/>
            <a:ext cx="5568950" cy="38596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1439DE-8C0C-323C-F052-AF93DCB176E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7789282-1961-1D6A-D275-3A81D4770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34" y="2415674"/>
            <a:ext cx="4069426" cy="223857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FOCUS OF TODAY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C4B438A-BE36-C0F7-A186-E87AFD7365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3131" y="632486"/>
            <a:ext cx="6676557" cy="427748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What do we want to inform about?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F67DFF8A-41CD-8102-0628-3407CC2433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3131" y="2593489"/>
            <a:ext cx="6676557" cy="427748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What do we need to </a:t>
            </a:r>
            <a:r>
              <a:rPr lang="en-US" dirty="0" err="1"/>
              <a:t>doscuss</a:t>
            </a:r>
            <a:r>
              <a:rPr lang="en-US" dirty="0"/>
              <a:t>?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05D33DC4-E1F4-4172-8A0D-C288AA9039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3131" y="4616993"/>
            <a:ext cx="6676557" cy="427748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What do we need to decide?</a:t>
            </a:r>
          </a:p>
        </p:txBody>
      </p:sp>
    </p:spTree>
    <p:extLst>
      <p:ext uri="{BB962C8B-B14F-4D97-AF65-F5344CB8AC3E}">
        <p14:creationId xmlns:p14="http://schemas.microsoft.com/office/powerpoint/2010/main" val="345943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blue and white gradient&#10;&#10;Description automatically generated">
            <a:extLst>
              <a:ext uri="{FF2B5EF4-FFF2-40B4-BE49-F238E27FC236}">
                <a16:creationId xmlns:a16="http://schemas.microsoft.com/office/drawing/2014/main" id="{1C5CA42E-C3A8-989F-762D-8EBB0F243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66900" y="2453401"/>
            <a:ext cx="8458199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Important message goes here…</a:t>
            </a: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E6A438-202B-9729-2614-ADC57B54DE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1E56F-0588-2EAD-D71A-95A1AD0CD1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46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blue and white gradient&#10;&#10;Description automatically generated">
            <a:extLst>
              <a:ext uri="{FF2B5EF4-FFF2-40B4-BE49-F238E27FC236}">
                <a16:creationId xmlns:a16="http://schemas.microsoft.com/office/drawing/2014/main" id="{1C5CA42E-C3A8-989F-762D-8EBB0F243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6A438-202B-9729-2614-ADC57B54DE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1E56F-0588-2EAD-D71A-95A1AD0CD1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3966F9-7122-BF78-4A77-74FD0A040EBE}"/>
              </a:ext>
            </a:extLst>
          </p:cNvPr>
          <p:cNvCxnSpPr>
            <a:cxnSpLocks/>
          </p:cNvCxnSpPr>
          <p:nvPr userDrawn="1"/>
        </p:nvCxnSpPr>
        <p:spPr>
          <a:xfrm>
            <a:off x="3701473" y="2364567"/>
            <a:ext cx="0" cy="19659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BF4153-34B7-E220-26CC-1895BFA2BC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8905" y="2364567"/>
            <a:ext cx="6816723" cy="196596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A04530C-73C1-327C-0EF9-22A6D73FD2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4625" y="2756203"/>
            <a:ext cx="2290612" cy="1182687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</p:spTree>
    <p:extLst>
      <p:ext uri="{BB962C8B-B14F-4D97-AF65-F5344CB8AC3E}">
        <p14:creationId xmlns:p14="http://schemas.microsoft.com/office/powerpoint/2010/main" val="2598413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BDFB037-EAFC-A29C-7CFB-E7517294DA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" r="58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pic>
        <p:nvPicPr>
          <p:cNvPr id="4" name="Picture 3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9C18DD05-0BCB-DA0C-05C3-0CAE932F08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6D57C8-C430-09F9-48EB-6502AA3DA8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04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D4585E-9BD5-9B39-0AD0-87D63DD248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" b="72"/>
          <a:stretch/>
        </p:blipFill>
        <p:spPr>
          <a:xfrm>
            <a:off x="-17644" y="0"/>
            <a:ext cx="12209644" cy="685800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218B1374-9077-22D5-A1B2-8AFD137FD7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AAB4446-B862-DA1A-2B17-FE0F4900C1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8D4677-6A3C-A568-8EC2-054814303F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3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" r="103"/>
          <a:stretch/>
        </p:blipFill>
        <p:spPr>
          <a:xfrm>
            <a:off x="0" y="-6243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41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FAB3AEE-B7E8-717A-4BED-90D98F1795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697B5348-C605-4EFA-B523-BBCDE4CB3448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28049AFA-1081-4E29-B4DD-504325A71225}"/>
              </a:ext>
            </a:extLst>
          </p:cNvPr>
          <p:cNvSpPr txBox="1">
            <a:spLocks/>
          </p:cNvSpPr>
          <p:nvPr userDrawn="1"/>
        </p:nvSpPr>
        <p:spPr>
          <a:xfrm>
            <a:off x="0" y="6777038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9DC9FE58-65FF-2F05-2F17-2080B7E0C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EBE188-A4B2-37EA-A0B5-0D8A7987AA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CEEE15-7A9B-75CD-5310-F1E003B954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62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95E0500-F23D-5E74-38F2-58D66BBD7E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697B5348-C605-4EFA-B523-BBCDE4CB3448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28049AFA-1081-4E29-B4DD-504325A71225}"/>
              </a:ext>
            </a:extLst>
          </p:cNvPr>
          <p:cNvSpPr txBox="1">
            <a:spLocks/>
          </p:cNvSpPr>
          <p:nvPr userDrawn="1"/>
        </p:nvSpPr>
        <p:spPr>
          <a:xfrm>
            <a:off x="0" y="6777038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36F341A2-B1A3-8E87-94CF-85BB332977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3EDAF54-06D1-7CD2-4B94-BCD0AD7009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C222CE-7364-2500-F6FE-8489D1833E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50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94FBE1-ABB9-FA20-355B-5CBAEEB01D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" b="125"/>
          <a:stretch/>
        </p:blipFill>
        <p:spPr>
          <a:xfrm>
            <a:off x="0" y="0"/>
            <a:ext cx="12236824" cy="6865951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3EDC4C9-3863-4C0D-91D4-85391318B252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617C3370-8F87-A801-DD21-5F33A6EAEC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C4CDF0B-919B-6FA9-A990-237EA63D25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B4EACE-76A9-39BE-FAA5-BD7E82E973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69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776413-BBE7-3C55-7F0D-1CE535962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" b="350"/>
          <a:stretch/>
        </p:blipFill>
        <p:spPr>
          <a:xfrm>
            <a:off x="-1" y="0"/>
            <a:ext cx="12292149" cy="6865952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6B17A115-EC5E-4925-AAE6-F1D06A5F98C6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B998193A-F625-DAAC-03B6-30283D4AD8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EF77CC2-640B-C705-D35C-02FD238DC9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3AEB58-ACE8-D69C-B38E-D333C422E2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86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21FD3EC-9247-89F5-2EC2-7E27198F0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r="45"/>
          <a:stretch/>
        </p:blipFill>
        <p:spPr>
          <a:xfrm>
            <a:off x="-19594" y="1708"/>
            <a:ext cx="12211593" cy="6875274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92BE8DEA-86F6-4095-A615-85838ECED055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107A9F0D-4264-7D63-8348-86F7760D2F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00058CA-F44C-4A8B-FD0A-8B24B37E73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376FAB-C7A4-03B2-4075-2304C8D5C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5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8B16FC-1201-9FEC-4990-A4CC0F179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/>
        </p:blipFill>
        <p:spPr>
          <a:xfrm>
            <a:off x="-6581" y="-1"/>
            <a:ext cx="12212758" cy="6865953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92FFB5F2-CFC6-4469-BB2B-8DFE310B1E7F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6" name="Picture 5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C9BD74E6-966E-BE9B-8B46-B95FE9F8AB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8B03895-D1EF-BE4F-6183-B936838334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1FFC4-031E-7D67-24CF-6C793DC42D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12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D11DE8-2273-6B65-DDC3-ED4868A3F9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/>
        </p:blipFill>
        <p:spPr>
          <a:xfrm>
            <a:off x="-20723" y="0"/>
            <a:ext cx="12212723" cy="686595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51785-B66B-D3E7-C7E2-776B671D58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15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138F53-9B17-02AC-B8DC-687A1ADB3F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" b="104"/>
          <a:stretch/>
        </p:blipFill>
        <p:spPr>
          <a:xfrm>
            <a:off x="-1" y="1"/>
            <a:ext cx="12206177" cy="6851632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949936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912E2A-3B02-0482-37FA-993FC2A267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027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 Large Placehol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138F53-9B17-02AC-B8DC-687A1ADB3F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" b="104"/>
          <a:stretch/>
        </p:blipFill>
        <p:spPr>
          <a:xfrm>
            <a:off x="-1" y="1"/>
            <a:ext cx="12206177" cy="6851632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949936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912E2A-3B02-0482-37FA-993FC2A267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0690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Ipad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957898A-9EF0-8D9C-4E6F-5B1A0013D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-1" y="0"/>
            <a:ext cx="1219067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27012B-92E0-9227-F0C2-21AA505C7A06}"/>
              </a:ext>
            </a:extLst>
          </p:cNvPr>
          <p:cNvSpPr/>
          <p:nvPr userDrawn="1"/>
        </p:nvSpPr>
        <p:spPr>
          <a:xfrm>
            <a:off x="4829696" y="1219549"/>
            <a:ext cx="6201294" cy="4449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C00F2C-AEB6-4598-84A8-23D79B2BF1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9696" y="1236252"/>
            <a:ext cx="6201294" cy="4305992"/>
          </a:xfr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  <a:endParaRPr lang="en-GB" dirty="0"/>
          </a:p>
        </p:txBody>
      </p:sp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788491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1B2806-E722-4CDF-8444-83E50EEAEF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517" y="1024371"/>
            <a:ext cx="6597651" cy="4736869"/>
          </a:xfrm>
          <a:prstGeom prst="roundRect">
            <a:avLst>
              <a:gd name="adj" fmla="val 6747"/>
            </a:avLst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CAAA9-3098-CADD-2B83-1015485670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89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Ipad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957898A-9EF0-8D9C-4E6F-5B1A0013D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-1" y="0"/>
            <a:ext cx="1219067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27012B-92E0-9227-F0C2-21AA505C7A06}"/>
              </a:ext>
            </a:extLst>
          </p:cNvPr>
          <p:cNvSpPr/>
          <p:nvPr userDrawn="1"/>
        </p:nvSpPr>
        <p:spPr>
          <a:xfrm>
            <a:off x="4829696" y="1219549"/>
            <a:ext cx="6201294" cy="4449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C00F2C-AEB6-4598-84A8-23D79B2BF1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9696" y="1236252"/>
            <a:ext cx="6201294" cy="4305992"/>
          </a:xfr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  <a:endParaRPr lang="en-GB" dirty="0"/>
          </a:p>
        </p:txBody>
      </p:sp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788491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1B2806-E722-4CDF-8444-83E50EEAEF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517" y="1024371"/>
            <a:ext cx="6597651" cy="4736869"/>
          </a:xfrm>
          <a:prstGeom prst="roundRect">
            <a:avLst>
              <a:gd name="adj" fmla="val 6747"/>
            </a:avLst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CAAA9-3098-CADD-2B83-1015485670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60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phone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06D93-3430-7394-8682-A714559755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BFE87E-0B5B-A963-7113-EE93A4818243}"/>
              </a:ext>
            </a:extLst>
          </p:cNvPr>
          <p:cNvSpPr/>
          <p:nvPr userDrawn="1"/>
        </p:nvSpPr>
        <p:spPr>
          <a:xfrm rot="16200000">
            <a:off x="2997512" y="2047818"/>
            <a:ext cx="6053999" cy="2825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E8BA05A4-F97C-D367-B970-935B735669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6291" y="400761"/>
            <a:ext cx="2985910" cy="6103200"/>
          </a:xfrm>
          <a:prstGeom prst="rect">
            <a:avLst/>
          </a:prstGeom>
        </p:spPr>
      </p:pic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E92668-8672-9949-2A08-BEC0721EFA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45161" y="538162"/>
            <a:ext cx="2688171" cy="5824135"/>
          </a:xfrm>
          <a:custGeom>
            <a:avLst/>
            <a:gdLst>
              <a:gd name="connsiteX0" fmla="*/ 0 w 2905125"/>
              <a:gd name="connsiteY0" fmla="*/ 484197 h 6088063"/>
              <a:gd name="connsiteX1" fmla="*/ 484197 w 2905125"/>
              <a:gd name="connsiteY1" fmla="*/ 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0 w 2905125"/>
              <a:gd name="connsiteY0" fmla="*/ 484197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153987 w 2905125"/>
              <a:gd name="connsiteY0" fmla="*/ 681038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153987 w 2905125"/>
              <a:gd name="connsiteY8" fmla="*/ 681038 h 6088063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905125 w 2905125"/>
              <a:gd name="connsiteY3" fmla="*/ 34132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840037 w 2905125"/>
              <a:gd name="connsiteY3" fmla="*/ 38576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28 w 2840037"/>
              <a:gd name="connsiteY5" fmla="*/ 5945188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37 w 2840037"/>
              <a:gd name="connsiteY5" fmla="*/ 5824537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824537"/>
              <a:gd name="connsiteX1" fmla="*/ 501650 w 2840037"/>
              <a:gd name="connsiteY1" fmla="*/ 9525 h 5824537"/>
              <a:gd name="connsiteX2" fmla="*/ 2406650 w 2840037"/>
              <a:gd name="connsiteY2" fmla="*/ 0 h 5824537"/>
              <a:gd name="connsiteX3" fmla="*/ 2840037 w 2840037"/>
              <a:gd name="connsiteY3" fmla="*/ 385762 h 5824537"/>
              <a:gd name="connsiteX4" fmla="*/ 2840037 w 2840037"/>
              <a:gd name="connsiteY4" fmla="*/ 5400674 h 5824537"/>
              <a:gd name="connsiteX5" fmla="*/ 2420937 w 2840037"/>
              <a:gd name="connsiteY5" fmla="*/ 5824537 h 5824537"/>
              <a:gd name="connsiteX6" fmla="*/ 482600 w 2840037"/>
              <a:gd name="connsiteY6" fmla="*/ 5805487 h 5824537"/>
              <a:gd name="connsiteX7" fmla="*/ 0 w 2840037"/>
              <a:gd name="connsiteY7" fmla="*/ 5460991 h 5824537"/>
              <a:gd name="connsiteX8" fmla="*/ 153987 w 2840037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2120 w 2688170"/>
              <a:gd name="connsiteY0" fmla="*/ 538163 h 5824537"/>
              <a:gd name="connsiteX1" fmla="*/ 349783 w 2688170"/>
              <a:gd name="connsiteY1" fmla="*/ 9525 h 5824537"/>
              <a:gd name="connsiteX2" fmla="*/ 2254783 w 2688170"/>
              <a:gd name="connsiteY2" fmla="*/ 0 h 5824537"/>
              <a:gd name="connsiteX3" fmla="*/ 2688170 w 2688170"/>
              <a:gd name="connsiteY3" fmla="*/ 385762 h 5824537"/>
              <a:gd name="connsiteX4" fmla="*/ 2688170 w 2688170"/>
              <a:gd name="connsiteY4" fmla="*/ 5400674 h 5824537"/>
              <a:gd name="connsiteX5" fmla="*/ 2269070 w 2688170"/>
              <a:gd name="connsiteY5" fmla="*/ 5824537 h 5824537"/>
              <a:gd name="connsiteX6" fmla="*/ 330733 w 2688170"/>
              <a:gd name="connsiteY6" fmla="*/ 5805487 h 5824537"/>
              <a:gd name="connsiteX7" fmla="*/ 2120 w 2688170"/>
              <a:gd name="connsiteY7" fmla="*/ 5424488 h 5824537"/>
              <a:gd name="connsiteX8" fmla="*/ 2120 w 2688170"/>
              <a:gd name="connsiteY8" fmla="*/ 538163 h 5824537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15011"/>
              <a:gd name="connsiteX1" fmla="*/ 349783 w 2688170"/>
              <a:gd name="connsiteY1" fmla="*/ 9525 h 5815011"/>
              <a:gd name="connsiteX2" fmla="*/ 2254783 w 2688170"/>
              <a:gd name="connsiteY2" fmla="*/ 0 h 5815011"/>
              <a:gd name="connsiteX3" fmla="*/ 2688170 w 2688170"/>
              <a:gd name="connsiteY3" fmla="*/ 385762 h 5815011"/>
              <a:gd name="connsiteX4" fmla="*/ 2688170 w 2688170"/>
              <a:gd name="connsiteY4" fmla="*/ 5400674 h 5815011"/>
              <a:gd name="connsiteX5" fmla="*/ 2250020 w 2688170"/>
              <a:gd name="connsiteY5" fmla="*/ 5815011 h 5815011"/>
              <a:gd name="connsiteX6" fmla="*/ 330733 w 2688170"/>
              <a:gd name="connsiteY6" fmla="*/ 5805487 h 5815011"/>
              <a:gd name="connsiteX7" fmla="*/ 2120 w 2688170"/>
              <a:gd name="connsiteY7" fmla="*/ 5424488 h 5815011"/>
              <a:gd name="connsiteX8" fmla="*/ 2120 w 2688170"/>
              <a:gd name="connsiteY8" fmla="*/ 538163 h 5815011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445032 w 2688170"/>
              <a:gd name="connsiteY2" fmla="*/ 9524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1026057 w 2688170"/>
              <a:gd name="connsiteY3" fmla="*/ 4762 h 5819372"/>
              <a:gd name="connsiteX4" fmla="*/ 2254783 w 2688170"/>
              <a:gd name="connsiteY4" fmla="*/ 0 h 5819372"/>
              <a:gd name="connsiteX5" fmla="*/ 2688170 w 2688170"/>
              <a:gd name="connsiteY5" fmla="*/ 385762 h 5819372"/>
              <a:gd name="connsiteX6" fmla="*/ 2678645 w 2688170"/>
              <a:gd name="connsiteY6" fmla="*/ 5400674 h 5819372"/>
              <a:gd name="connsiteX7" fmla="*/ 2250020 w 2688170"/>
              <a:gd name="connsiteY7" fmla="*/ 5815011 h 5819372"/>
              <a:gd name="connsiteX8" fmla="*/ 330733 w 2688170"/>
              <a:gd name="connsiteY8" fmla="*/ 5805487 h 5819372"/>
              <a:gd name="connsiteX9" fmla="*/ 2120 w 2688170"/>
              <a:gd name="connsiteY9" fmla="*/ 5424488 h 5819372"/>
              <a:gd name="connsiteX10" fmla="*/ 2120 w 2688170"/>
              <a:gd name="connsiteY10" fmla="*/ 538163 h 5819372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1026057 w 2688170"/>
              <a:gd name="connsiteY3" fmla="*/ 9525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373719 w 2688170"/>
              <a:gd name="connsiteY4" fmla="*/ 123826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13154 w 2699204"/>
              <a:gd name="connsiteY0" fmla="*/ 542926 h 5824135"/>
              <a:gd name="connsiteX1" fmla="*/ 294142 w 2699204"/>
              <a:gd name="connsiteY1" fmla="*/ 9526 h 5824135"/>
              <a:gd name="connsiteX2" fmla="*/ 794204 w 2699204"/>
              <a:gd name="connsiteY2" fmla="*/ 9524 h 5824135"/>
              <a:gd name="connsiteX3" fmla="*/ 894216 w 2699204"/>
              <a:gd name="connsiteY3" fmla="*/ 238125 h 5824135"/>
              <a:gd name="connsiteX4" fmla="*/ 1841954 w 2699204"/>
              <a:gd name="connsiteY4" fmla="*/ 233363 h 5824135"/>
              <a:gd name="connsiteX5" fmla="*/ 1899103 w 2699204"/>
              <a:gd name="connsiteY5" fmla="*/ 0 h 5824135"/>
              <a:gd name="connsiteX6" fmla="*/ 2265817 w 2699204"/>
              <a:gd name="connsiteY6" fmla="*/ 4763 h 5824135"/>
              <a:gd name="connsiteX7" fmla="*/ 2699204 w 2699204"/>
              <a:gd name="connsiteY7" fmla="*/ 390525 h 5824135"/>
              <a:gd name="connsiteX8" fmla="*/ 2689679 w 2699204"/>
              <a:gd name="connsiteY8" fmla="*/ 5405437 h 5824135"/>
              <a:gd name="connsiteX9" fmla="*/ 2261054 w 2699204"/>
              <a:gd name="connsiteY9" fmla="*/ 5819774 h 5824135"/>
              <a:gd name="connsiteX10" fmla="*/ 341767 w 2699204"/>
              <a:gd name="connsiteY10" fmla="*/ 5810250 h 5824135"/>
              <a:gd name="connsiteX11" fmla="*/ 13154 w 2699204"/>
              <a:gd name="connsiteY11" fmla="*/ 5429251 h 5824135"/>
              <a:gd name="connsiteX12" fmla="*/ 13154 w 2699204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8171" h="5824135">
                <a:moveTo>
                  <a:pt x="2121" y="542926"/>
                </a:moveTo>
                <a:cubicBezTo>
                  <a:pt x="2121" y="275511"/>
                  <a:pt x="-36694" y="95251"/>
                  <a:pt x="283109" y="9526"/>
                </a:cubicBezTo>
                <a:lnTo>
                  <a:pt x="783171" y="9524"/>
                </a:lnTo>
                <a:cubicBezTo>
                  <a:pt x="789521" y="87312"/>
                  <a:pt x="772057" y="227012"/>
                  <a:pt x="883183" y="238125"/>
                </a:cubicBezTo>
                <a:lnTo>
                  <a:pt x="1830921" y="233363"/>
                </a:lnTo>
                <a:cubicBezTo>
                  <a:pt x="1892833" y="141287"/>
                  <a:pt x="1897596" y="68263"/>
                  <a:pt x="1888070" y="0"/>
                </a:cubicBezTo>
                <a:lnTo>
                  <a:pt x="2254784" y="4763"/>
                </a:lnTo>
                <a:cubicBezTo>
                  <a:pt x="2546012" y="-23812"/>
                  <a:pt x="2688171" y="123110"/>
                  <a:pt x="2688171" y="390525"/>
                </a:cubicBezTo>
                <a:lnTo>
                  <a:pt x="2678646" y="5405437"/>
                </a:lnTo>
                <a:cubicBezTo>
                  <a:pt x="2697696" y="5672852"/>
                  <a:pt x="2564345" y="5843588"/>
                  <a:pt x="2250021" y="5819774"/>
                </a:cubicBezTo>
                <a:cubicBezTo>
                  <a:pt x="1624547" y="5830887"/>
                  <a:pt x="970496" y="5818187"/>
                  <a:pt x="330734" y="5810250"/>
                </a:cubicBezTo>
                <a:cubicBezTo>
                  <a:pt x="159283" y="5824538"/>
                  <a:pt x="-21692" y="5701428"/>
                  <a:pt x="2121" y="5429251"/>
                </a:cubicBezTo>
                <a:lnTo>
                  <a:pt x="2121" y="542926"/>
                </a:lnTo>
                <a:close/>
              </a:path>
            </a:pathLst>
          </a:custGeo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604CA-E015-4212-A529-F54A7F6B85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00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phone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06D93-3430-7394-8682-A714559755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BFE87E-0B5B-A963-7113-EE93A4818243}"/>
              </a:ext>
            </a:extLst>
          </p:cNvPr>
          <p:cNvSpPr/>
          <p:nvPr userDrawn="1"/>
        </p:nvSpPr>
        <p:spPr>
          <a:xfrm rot="16200000">
            <a:off x="2997512" y="2047818"/>
            <a:ext cx="6053999" cy="2825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E8BA05A4-F97C-D367-B970-935B735669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6291" y="400761"/>
            <a:ext cx="2985910" cy="6103200"/>
          </a:xfrm>
          <a:prstGeom prst="rect">
            <a:avLst/>
          </a:prstGeom>
        </p:spPr>
      </p:pic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E92668-8672-9949-2A08-BEC0721EFA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45161" y="538162"/>
            <a:ext cx="2688171" cy="5824135"/>
          </a:xfrm>
          <a:custGeom>
            <a:avLst/>
            <a:gdLst>
              <a:gd name="connsiteX0" fmla="*/ 0 w 2905125"/>
              <a:gd name="connsiteY0" fmla="*/ 484197 h 6088063"/>
              <a:gd name="connsiteX1" fmla="*/ 484197 w 2905125"/>
              <a:gd name="connsiteY1" fmla="*/ 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0 w 2905125"/>
              <a:gd name="connsiteY0" fmla="*/ 484197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153987 w 2905125"/>
              <a:gd name="connsiteY0" fmla="*/ 681038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153987 w 2905125"/>
              <a:gd name="connsiteY8" fmla="*/ 681038 h 6088063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905125 w 2905125"/>
              <a:gd name="connsiteY3" fmla="*/ 34132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840037 w 2905125"/>
              <a:gd name="connsiteY3" fmla="*/ 38576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28 w 2840037"/>
              <a:gd name="connsiteY5" fmla="*/ 5945188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37 w 2840037"/>
              <a:gd name="connsiteY5" fmla="*/ 5824537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824537"/>
              <a:gd name="connsiteX1" fmla="*/ 501650 w 2840037"/>
              <a:gd name="connsiteY1" fmla="*/ 9525 h 5824537"/>
              <a:gd name="connsiteX2" fmla="*/ 2406650 w 2840037"/>
              <a:gd name="connsiteY2" fmla="*/ 0 h 5824537"/>
              <a:gd name="connsiteX3" fmla="*/ 2840037 w 2840037"/>
              <a:gd name="connsiteY3" fmla="*/ 385762 h 5824537"/>
              <a:gd name="connsiteX4" fmla="*/ 2840037 w 2840037"/>
              <a:gd name="connsiteY4" fmla="*/ 5400674 h 5824537"/>
              <a:gd name="connsiteX5" fmla="*/ 2420937 w 2840037"/>
              <a:gd name="connsiteY5" fmla="*/ 5824537 h 5824537"/>
              <a:gd name="connsiteX6" fmla="*/ 482600 w 2840037"/>
              <a:gd name="connsiteY6" fmla="*/ 5805487 h 5824537"/>
              <a:gd name="connsiteX7" fmla="*/ 0 w 2840037"/>
              <a:gd name="connsiteY7" fmla="*/ 5460991 h 5824537"/>
              <a:gd name="connsiteX8" fmla="*/ 153987 w 2840037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2120 w 2688170"/>
              <a:gd name="connsiteY0" fmla="*/ 538163 h 5824537"/>
              <a:gd name="connsiteX1" fmla="*/ 349783 w 2688170"/>
              <a:gd name="connsiteY1" fmla="*/ 9525 h 5824537"/>
              <a:gd name="connsiteX2" fmla="*/ 2254783 w 2688170"/>
              <a:gd name="connsiteY2" fmla="*/ 0 h 5824537"/>
              <a:gd name="connsiteX3" fmla="*/ 2688170 w 2688170"/>
              <a:gd name="connsiteY3" fmla="*/ 385762 h 5824537"/>
              <a:gd name="connsiteX4" fmla="*/ 2688170 w 2688170"/>
              <a:gd name="connsiteY4" fmla="*/ 5400674 h 5824537"/>
              <a:gd name="connsiteX5" fmla="*/ 2269070 w 2688170"/>
              <a:gd name="connsiteY5" fmla="*/ 5824537 h 5824537"/>
              <a:gd name="connsiteX6" fmla="*/ 330733 w 2688170"/>
              <a:gd name="connsiteY6" fmla="*/ 5805487 h 5824537"/>
              <a:gd name="connsiteX7" fmla="*/ 2120 w 2688170"/>
              <a:gd name="connsiteY7" fmla="*/ 5424488 h 5824537"/>
              <a:gd name="connsiteX8" fmla="*/ 2120 w 2688170"/>
              <a:gd name="connsiteY8" fmla="*/ 538163 h 5824537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15011"/>
              <a:gd name="connsiteX1" fmla="*/ 349783 w 2688170"/>
              <a:gd name="connsiteY1" fmla="*/ 9525 h 5815011"/>
              <a:gd name="connsiteX2" fmla="*/ 2254783 w 2688170"/>
              <a:gd name="connsiteY2" fmla="*/ 0 h 5815011"/>
              <a:gd name="connsiteX3" fmla="*/ 2688170 w 2688170"/>
              <a:gd name="connsiteY3" fmla="*/ 385762 h 5815011"/>
              <a:gd name="connsiteX4" fmla="*/ 2688170 w 2688170"/>
              <a:gd name="connsiteY4" fmla="*/ 5400674 h 5815011"/>
              <a:gd name="connsiteX5" fmla="*/ 2250020 w 2688170"/>
              <a:gd name="connsiteY5" fmla="*/ 5815011 h 5815011"/>
              <a:gd name="connsiteX6" fmla="*/ 330733 w 2688170"/>
              <a:gd name="connsiteY6" fmla="*/ 5805487 h 5815011"/>
              <a:gd name="connsiteX7" fmla="*/ 2120 w 2688170"/>
              <a:gd name="connsiteY7" fmla="*/ 5424488 h 5815011"/>
              <a:gd name="connsiteX8" fmla="*/ 2120 w 2688170"/>
              <a:gd name="connsiteY8" fmla="*/ 538163 h 5815011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445032 w 2688170"/>
              <a:gd name="connsiteY2" fmla="*/ 9524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1026057 w 2688170"/>
              <a:gd name="connsiteY3" fmla="*/ 4762 h 5819372"/>
              <a:gd name="connsiteX4" fmla="*/ 2254783 w 2688170"/>
              <a:gd name="connsiteY4" fmla="*/ 0 h 5819372"/>
              <a:gd name="connsiteX5" fmla="*/ 2688170 w 2688170"/>
              <a:gd name="connsiteY5" fmla="*/ 385762 h 5819372"/>
              <a:gd name="connsiteX6" fmla="*/ 2678645 w 2688170"/>
              <a:gd name="connsiteY6" fmla="*/ 5400674 h 5819372"/>
              <a:gd name="connsiteX7" fmla="*/ 2250020 w 2688170"/>
              <a:gd name="connsiteY7" fmla="*/ 5815011 h 5819372"/>
              <a:gd name="connsiteX8" fmla="*/ 330733 w 2688170"/>
              <a:gd name="connsiteY8" fmla="*/ 5805487 h 5819372"/>
              <a:gd name="connsiteX9" fmla="*/ 2120 w 2688170"/>
              <a:gd name="connsiteY9" fmla="*/ 5424488 h 5819372"/>
              <a:gd name="connsiteX10" fmla="*/ 2120 w 2688170"/>
              <a:gd name="connsiteY10" fmla="*/ 538163 h 5819372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1026057 w 2688170"/>
              <a:gd name="connsiteY3" fmla="*/ 9525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373719 w 2688170"/>
              <a:gd name="connsiteY4" fmla="*/ 123826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13154 w 2699204"/>
              <a:gd name="connsiteY0" fmla="*/ 542926 h 5824135"/>
              <a:gd name="connsiteX1" fmla="*/ 294142 w 2699204"/>
              <a:gd name="connsiteY1" fmla="*/ 9526 h 5824135"/>
              <a:gd name="connsiteX2" fmla="*/ 794204 w 2699204"/>
              <a:gd name="connsiteY2" fmla="*/ 9524 h 5824135"/>
              <a:gd name="connsiteX3" fmla="*/ 894216 w 2699204"/>
              <a:gd name="connsiteY3" fmla="*/ 238125 h 5824135"/>
              <a:gd name="connsiteX4" fmla="*/ 1841954 w 2699204"/>
              <a:gd name="connsiteY4" fmla="*/ 233363 h 5824135"/>
              <a:gd name="connsiteX5" fmla="*/ 1899103 w 2699204"/>
              <a:gd name="connsiteY5" fmla="*/ 0 h 5824135"/>
              <a:gd name="connsiteX6" fmla="*/ 2265817 w 2699204"/>
              <a:gd name="connsiteY6" fmla="*/ 4763 h 5824135"/>
              <a:gd name="connsiteX7" fmla="*/ 2699204 w 2699204"/>
              <a:gd name="connsiteY7" fmla="*/ 390525 h 5824135"/>
              <a:gd name="connsiteX8" fmla="*/ 2689679 w 2699204"/>
              <a:gd name="connsiteY8" fmla="*/ 5405437 h 5824135"/>
              <a:gd name="connsiteX9" fmla="*/ 2261054 w 2699204"/>
              <a:gd name="connsiteY9" fmla="*/ 5819774 h 5824135"/>
              <a:gd name="connsiteX10" fmla="*/ 341767 w 2699204"/>
              <a:gd name="connsiteY10" fmla="*/ 5810250 h 5824135"/>
              <a:gd name="connsiteX11" fmla="*/ 13154 w 2699204"/>
              <a:gd name="connsiteY11" fmla="*/ 5429251 h 5824135"/>
              <a:gd name="connsiteX12" fmla="*/ 13154 w 2699204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8171" h="5824135">
                <a:moveTo>
                  <a:pt x="2121" y="542926"/>
                </a:moveTo>
                <a:cubicBezTo>
                  <a:pt x="2121" y="275511"/>
                  <a:pt x="-36694" y="95251"/>
                  <a:pt x="283109" y="9526"/>
                </a:cubicBezTo>
                <a:lnTo>
                  <a:pt x="783171" y="9524"/>
                </a:lnTo>
                <a:cubicBezTo>
                  <a:pt x="789521" y="87312"/>
                  <a:pt x="772057" y="227012"/>
                  <a:pt x="883183" y="238125"/>
                </a:cubicBezTo>
                <a:lnTo>
                  <a:pt x="1830921" y="233363"/>
                </a:lnTo>
                <a:cubicBezTo>
                  <a:pt x="1892833" y="141287"/>
                  <a:pt x="1897596" y="68263"/>
                  <a:pt x="1888070" y="0"/>
                </a:cubicBezTo>
                <a:lnTo>
                  <a:pt x="2254784" y="4763"/>
                </a:lnTo>
                <a:cubicBezTo>
                  <a:pt x="2546012" y="-23812"/>
                  <a:pt x="2688171" y="123110"/>
                  <a:pt x="2688171" y="390525"/>
                </a:cubicBezTo>
                <a:lnTo>
                  <a:pt x="2678646" y="5405437"/>
                </a:lnTo>
                <a:cubicBezTo>
                  <a:pt x="2697696" y="5672852"/>
                  <a:pt x="2564345" y="5843588"/>
                  <a:pt x="2250021" y="5819774"/>
                </a:cubicBezTo>
                <a:cubicBezTo>
                  <a:pt x="1624547" y="5830887"/>
                  <a:pt x="970496" y="5818187"/>
                  <a:pt x="330734" y="5810250"/>
                </a:cubicBezTo>
                <a:cubicBezTo>
                  <a:pt x="159283" y="5824538"/>
                  <a:pt x="-21692" y="5701428"/>
                  <a:pt x="2121" y="5429251"/>
                </a:cubicBezTo>
                <a:lnTo>
                  <a:pt x="2121" y="542926"/>
                </a:lnTo>
                <a:close/>
              </a:path>
            </a:pathLst>
          </a:custGeo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604CA-E015-4212-A529-F54A7F6B85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6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ndard 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3745A42-C741-4E57-9A6B-DD0054CB871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5622250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0C853513-9DAD-48F2-8995-5702733902B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04935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37E5A452-3CB8-4B5A-9BF0-040585B0030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5042412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 dirty="0"/>
              <a:t>Click to edit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4E91B3A-381A-4407-956B-C8D7ED41ABA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8720553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A73CA3-869F-4EB3-C221-D466A1A9B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31E52EE-E770-2912-B106-6C88CE3DF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31340725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oleplay ca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:a16="http://schemas.microsoft.com/office/drawing/2014/main" id="{C8E4357F-74C9-F74E-BE4D-F95ED4CA7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1631" y="1222101"/>
            <a:ext cx="5325796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45EB2F48-5374-EE45-B453-E69AAB8E28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9617" y="163238"/>
            <a:ext cx="5360670" cy="477806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defRPr>
            </a:lvl1pPr>
          </a:lstStyle>
          <a:p>
            <a:r>
              <a:rPr lang="en-US"/>
              <a:t>WORKSHOP</a:t>
            </a:r>
            <a:endParaRPr lang="en-DK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04306BA-0C0D-0D4D-91DF-CFFE691349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6777038"/>
            <a:ext cx="12192000" cy="80962"/>
          </a:xfrm>
          <a:solidFill>
            <a:schemeClr val="accent1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  <a:endParaRPr lang="en-DK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5206052-5567-AA43-919F-98E91DEE0B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7144" y="2104971"/>
            <a:ext cx="6390000" cy="841519"/>
          </a:xfrm>
        </p:spPr>
        <p:txBody>
          <a:bodyPr/>
          <a:lstStyle>
            <a:lvl1pPr>
              <a:defRPr sz="2000"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groups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2CCD991-F66F-A0FA-0922-686C756F48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1099617" y="566419"/>
            <a:ext cx="5360670" cy="477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lumMod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pl-PL" noProof="0"/>
              <a:t>TITLE</a:t>
            </a:r>
            <a:endParaRPr lang="en-GB" noProof="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8BDF907D-55E4-7CA8-5937-0964CF389363}"/>
              </a:ext>
            </a:extLst>
          </p:cNvPr>
          <p:cNvSpPr/>
          <p:nvPr userDrawn="1"/>
        </p:nvSpPr>
        <p:spPr>
          <a:xfrm>
            <a:off x="-1869440" y="0"/>
            <a:ext cx="1765268" cy="2481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>
                <a:solidFill>
                  <a:schemeClr val="tx1">
                    <a:lumMod val="50000"/>
                  </a:schemeClr>
                </a:solidFill>
              </a:rPr>
              <a:t>Remember to </a:t>
            </a:r>
            <a:r>
              <a:rPr lang="pl-PL" b="1" err="1">
                <a:solidFill>
                  <a:schemeClr val="tx1">
                    <a:lumMod val="50000"/>
                  </a:schemeClr>
                </a:solidFill>
              </a:rPr>
              <a:t>edit</a:t>
            </a:r>
            <a:r>
              <a:rPr lang="pl-PL" b="1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l-PL">
                <a:solidFill>
                  <a:schemeClr val="tx1">
                    <a:lumMod val="50000"/>
                  </a:schemeClr>
                </a:solidFill>
              </a:rPr>
              <a:t>the text in this template, otherwise it will </a:t>
            </a:r>
            <a:r>
              <a:rPr lang="pl-PL" b="1">
                <a:solidFill>
                  <a:schemeClr val="tx1">
                    <a:lumMod val="50000"/>
                  </a:schemeClr>
                </a:solidFill>
              </a:rPr>
              <a:t>not be visible</a:t>
            </a:r>
            <a:endParaRPr lang="en-US" b="1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110C25D-EA99-DB89-BD24-0EFF0A4413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20217" y="-1460818"/>
            <a:ext cx="4231866" cy="539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9EDB2E0-68FE-83DC-1599-49CCCB3CE23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895425" y="123876"/>
            <a:ext cx="3296575" cy="157176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Click to edit </a:t>
            </a:r>
            <a:r>
              <a:rPr lang="pl-PL" noProof="0" err="1"/>
              <a:t>timeframe</a:t>
            </a:r>
            <a:endParaRPr lang="en-GB" noProof="0"/>
          </a:p>
        </p:txBody>
      </p:sp>
      <p:pic>
        <p:nvPicPr>
          <p:cNvPr id="19" name="Graphic 23" descr="Clock with solid fill">
            <a:extLst>
              <a:ext uri="{FF2B5EF4-FFF2-40B4-BE49-F238E27FC236}">
                <a16:creationId xmlns:a16="http://schemas.microsoft.com/office/drawing/2014/main" id="{CE9C3A84-401F-5896-5CBF-BD69F543E4E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74831" y="123875"/>
            <a:ext cx="517169" cy="517169"/>
          </a:xfrm>
          <a:prstGeom prst="rect">
            <a:avLst/>
          </a:prstGeom>
        </p:spPr>
      </p:pic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29E407AC-0F4B-D6A8-64C2-90E61D983C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7143" y="3266792"/>
            <a:ext cx="6389999" cy="1878023"/>
          </a:xfrm>
        </p:spPr>
        <p:txBody>
          <a:bodyPr/>
          <a:lstStyle>
            <a:lvl1pPr>
              <a:defRPr sz="2000"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discuss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039F309B-CCDA-EE13-02C8-321DDBB84E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7144" y="5434231"/>
            <a:ext cx="6389998" cy="960706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present text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29" name="Group 15">
            <a:extLst>
              <a:ext uri="{FF2B5EF4-FFF2-40B4-BE49-F238E27FC236}">
                <a16:creationId xmlns:a16="http://schemas.microsoft.com/office/drawing/2014/main" id="{E871A741-AA02-0A9B-72D7-99E307C61B7E}"/>
              </a:ext>
            </a:extLst>
          </p:cNvPr>
          <p:cNvGrpSpPr/>
          <p:nvPr userDrawn="1"/>
        </p:nvGrpSpPr>
        <p:grpSpPr>
          <a:xfrm>
            <a:off x="224467" y="2061003"/>
            <a:ext cx="841593" cy="841519"/>
            <a:chOff x="751324" y="2909734"/>
            <a:chExt cx="841593" cy="841519"/>
          </a:xfrm>
        </p:grpSpPr>
        <p:grpSp>
          <p:nvGrpSpPr>
            <p:cNvPr id="30" name="Group 6">
              <a:extLst>
                <a:ext uri="{FF2B5EF4-FFF2-40B4-BE49-F238E27FC236}">
                  <a16:creationId xmlns:a16="http://schemas.microsoft.com/office/drawing/2014/main" id="{A4A324A3-BACD-7A47-0F37-AF454F802A7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1324" y="2909734"/>
              <a:ext cx="841593" cy="841519"/>
              <a:chOff x="0" y="0"/>
              <a:chExt cx="14400530" cy="14399261"/>
            </a:xfrm>
          </p:grpSpPr>
          <p:sp>
            <p:nvSpPr>
              <p:cNvPr id="32" name="Freeform 7">
                <a:extLst>
                  <a:ext uri="{FF2B5EF4-FFF2-40B4-BE49-F238E27FC236}">
                    <a16:creationId xmlns:a16="http://schemas.microsoft.com/office/drawing/2014/main" id="{79666A54-9743-501B-1F6A-F4867C1FEB1E}"/>
                  </a:ext>
                </a:extLst>
              </p:cNvPr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95B8D7"/>
              </a:solidFill>
            </p:spPr>
            <p:txBody>
              <a:bodyPr/>
              <a:lstStyle/>
              <a:p>
                <a:endParaRPr lang="bg-BG" sz="1200"/>
              </a:p>
            </p:txBody>
          </p:sp>
        </p:grp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C0848E9-0862-62CB-D75C-15891D615B52}"/>
                </a:ext>
              </a:extLst>
            </p:cNvPr>
            <p:cNvSpPr/>
            <p:nvPr/>
          </p:nvSpPr>
          <p:spPr>
            <a:xfrm>
              <a:off x="910907" y="3105752"/>
              <a:ext cx="522427" cy="472796"/>
            </a:xfrm>
            <a:custGeom>
              <a:avLst/>
              <a:gdLst/>
              <a:ahLst/>
              <a:cxnLst/>
              <a:rect l="l" t="t" r="r" b="b"/>
              <a:pathLst>
                <a:path w="783640" h="709194">
                  <a:moveTo>
                    <a:pt x="0" y="0"/>
                  </a:moveTo>
                  <a:lnTo>
                    <a:pt x="783640" y="0"/>
                  </a:lnTo>
                  <a:lnTo>
                    <a:pt x="783640" y="709195"/>
                  </a:lnTo>
                  <a:lnTo>
                    <a:pt x="0" y="709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bg-BG" sz="1200"/>
            </a:p>
          </p:txBody>
        </p:sp>
      </p:grpSp>
      <p:grpSp>
        <p:nvGrpSpPr>
          <p:cNvPr id="33" name="Group 25">
            <a:extLst>
              <a:ext uri="{FF2B5EF4-FFF2-40B4-BE49-F238E27FC236}">
                <a16:creationId xmlns:a16="http://schemas.microsoft.com/office/drawing/2014/main" id="{C000D9E7-7622-E385-4792-04F70CB6D32D}"/>
              </a:ext>
            </a:extLst>
          </p:cNvPr>
          <p:cNvGrpSpPr/>
          <p:nvPr userDrawn="1"/>
        </p:nvGrpSpPr>
        <p:grpSpPr>
          <a:xfrm>
            <a:off x="222203" y="3191106"/>
            <a:ext cx="841593" cy="841593"/>
            <a:chOff x="728955" y="2996521"/>
            <a:chExt cx="841593" cy="841593"/>
          </a:xfrm>
        </p:grpSpPr>
        <p:grpSp>
          <p:nvGrpSpPr>
            <p:cNvPr id="34" name="Group 8">
              <a:extLst>
                <a:ext uri="{FF2B5EF4-FFF2-40B4-BE49-F238E27FC236}">
                  <a16:creationId xmlns:a16="http://schemas.microsoft.com/office/drawing/2014/main" id="{695E7CD3-06A0-ED77-3B2B-505FD3E44A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28955" y="2996521"/>
              <a:ext cx="841593" cy="841593"/>
              <a:chOff x="0" y="0"/>
              <a:chExt cx="14400530" cy="14400530"/>
            </a:xfrm>
          </p:grpSpPr>
          <p:sp>
            <p:nvSpPr>
              <p:cNvPr id="36" name="Freeform 9">
                <a:extLst>
                  <a:ext uri="{FF2B5EF4-FFF2-40B4-BE49-F238E27FC236}">
                    <a16:creationId xmlns:a16="http://schemas.microsoft.com/office/drawing/2014/main" id="{36F36C23-1234-ED8B-1807-5F4CAD3AA8BB}"/>
                  </a:ext>
                </a:extLst>
              </p:cNvPr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4A72A8"/>
              </a:solidFill>
            </p:spPr>
            <p:txBody>
              <a:bodyPr/>
              <a:lstStyle/>
              <a:p>
                <a:endParaRPr lang="bg-BG" sz="1200"/>
              </a:p>
            </p:txBody>
          </p:sp>
        </p:grpSp>
        <p:pic>
          <p:nvPicPr>
            <p:cNvPr id="35" name="Graphic 18" descr="Chat bubble with solid fill">
              <a:extLst>
                <a:ext uri="{FF2B5EF4-FFF2-40B4-BE49-F238E27FC236}">
                  <a16:creationId xmlns:a16="http://schemas.microsoft.com/office/drawing/2014/main" id="{C7983BFD-A103-CC3A-1C2F-5F475E043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54384" y="3121950"/>
              <a:ext cx="590735" cy="590735"/>
            </a:xfrm>
            <a:prstGeom prst="rect">
              <a:avLst/>
            </a:prstGeom>
          </p:spPr>
        </p:pic>
      </p:grpSp>
      <p:grpSp>
        <p:nvGrpSpPr>
          <p:cNvPr id="37" name="Group 21">
            <a:extLst>
              <a:ext uri="{FF2B5EF4-FFF2-40B4-BE49-F238E27FC236}">
                <a16:creationId xmlns:a16="http://schemas.microsoft.com/office/drawing/2014/main" id="{98EF6ACB-754F-046E-7B86-061C470B53EB}"/>
              </a:ext>
            </a:extLst>
          </p:cNvPr>
          <p:cNvGrpSpPr/>
          <p:nvPr userDrawn="1"/>
        </p:nvGrpSpPr>
        <p:grpSpPr>
          <a:xfrm>
            <a:off x="222203" y="5461037"/>
            <a:ext cx="841593" cy="841593"/>
            <a:chOff x="764776" y="4927397"/>
            <a:chExt cx="841593" cy="841593"/>
          </a:xfrm>
        </p:grpSpPr>
        <p:grpSp>
          <p:nvGrpSpPr>
            <p:cNvPr id="38" name="Group 10">
              <a:extLst>
                <a:ext uri="{FF2B5EF4-FFF2-40B4-BE49-F238E27FC236}">
                  <a16:creationId xmlns:a16="http://schemas.microsoft.com/office/drawing/2014/main" id="{DB8CD04E-07CC-264B-E158-819B5223220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4776" y="4927397"/>
              <a:ext cx="841593" cy="841593"/>
              <a:chOff x="0" y="0"/>
              <a:chExt cx="14400530" cy="14400530"/>
            </a:xfrm>
          </p:grpSpPr>
          <p:sp>
            <p:nvSpPr>
              <p:cNvPr id="40" name="Freeform 11">
                <a:extLst>
                  <a:ext uri="{FF2B5EF4-FFF2-40B4-BE49-F238E27FC236}">
                    <a16:creationId xmlns:a16="http://schemas.microsoft.com/office/drawing/2014/main" id="{62A6131C-571A-9AAA-390B-CC5442425918}"/>
                  </a:ext>
                </a:extLst>
              </p:cNvPr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D6FB7">
                      <a:alpha val="100000"/>
                    </a:srgbClr>
                  </a:gs>
                  <a:gs pos="100000">
                    <a:srgbClr val="0A2C69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bg-BG" sz="1200"/>
              </a:p>
            </p:txBody>
          </p:sp>
        </p:grpSp>
        <p:pic>
          <p:nvPicPr>
            <p:cNvPr id="39" name="Graphic 20" descr="Teacher with solid fill">
              <a:extLst>
                <a:ext uri="{FF2B5EF4-FFF2-40B4-BE49-F238E27FC236}">
                  <a16:creationId xmlns:a16="http://schemas.microsoft.com/office/drawing/2014/main" id="{0FB7AD00-3192-9B0D-4563-29CBFEC99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90802" y="5052788"/>
              <a:ext cx="590735" cy="590735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1322530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581CBBE-6BA1-4A2E-B2C2-E2374CE34291}"/>
              </a:ext>
            </a:extLst>
          </p:cNvPr>
          <p:cNvSpPr txBox="1">
            <a:spLocks/>
          </p:cNvSpPr>
          <p:nvPr userDrawn="1"/>
        </p:nvSpPr>
        <p:spPr>
          <a:xfrm>
            <a:off x="11063162" y="6349027"/>
            <a:ext cx="53975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da-DK"/>
            </a:defPPr>
            <a:lvl1pPr marL="0" algn="r" defTabSz="914400" rtl="0" eaLnBrk="1" latinLnBrk="0" hangingPunct="1">
              <a:defRPr sz="800" b="0" i="0" kern="12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D004A2-5536-0C42-B66B-9F3A06C21F3A}" type="slidenum">
              <a:rPr lang="en-DK" smtClean="0">
                <a:solidFill>
                  <a:schemeClr val="tx2"/>
                </a:solidFill>
              </a:rPr>
              <a:pPr/>
              <a:t>‹№›</a:t>
            </a:fld>
            <a:endParaRPr lang="en-DK" dirty="0">
              <a:solidFill>
                <a:schemeClr val="tx2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C87EDB7-DFE8-4A96-AF21-3D9CB39E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49" y="371476"/>
            <a:ext cx="1090612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368E6D1-4CBE-4A9B-B825-A26F9010A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49" y="1697039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EA7DD-8323-9CB4-B898-55CAB1747F9F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5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50" r:id="rId2"/>
    <p:sldLayoutId id="2147483710" r:id="rId3"/>
    <p:sldLayoutId id="2147483663" r:id="rId4"/>
    <p:sldLayoutId id="2147483747" r:id="rId5"/>
    <p:sldLayoutId id="2147483736" r:id="rId6"/>
    <p:sldLayoutId id="2147483744" r:id="rId7"/>
    <p:sldLayoutId id="2147483748" r:id="rId8"/>
    <p:sldLayoutId id="2147483738" r:id="rId9"/>
    <p:sldLayoutId id="2147483739" r:id="rId10"/>
    <p:sldLayoutId id="2147483722" r:id="rId11"/>
    <p:sldLayoutId id="2147483742" r:id="rId12"/>
    <p:sldLayoutId id="2147483743" r:id="rId13"/>
    <p:sldLayoutId id="2147483688" r:id="rId14"/>
    <p:sldLayoutId id="2147483689" r:id="rId15"/>
    <p:sldLayoutId id="2147483724" r:id="rId16"/>
    <p:sldLayoutId id="2147483719" r:id="rId17"/>
    <p:sldLayoutId id="2147483720" r:id="rId18"/>
    <p:sldLayoutId id="2147483745" r:id="rId19"/>
    <p:sldLayoutId id="2147483752" r:id="rId20"/>
    <p:sldLayoutId id="2147483717" r:id="rId21"/>
    <p:sldLayoutId id="2147483751" r:id="rId22"/>
    <p:sldLayoutId id="2147483733" r:id="rId23"/>
    <p:sldLayoutId id="2147483749" r:id="rId24"/>
    <p:sldLayoutId id="2147483672" r:id="rId25"/>
    <p:sldLayoutId id="2147483673" r:id="rId26"/>
    <p:sldLayoutId id="2147483674" r:id="rId27"/>
    <p:sldLayoutId id="2147483675" r:id="rId28"/>
    <p:sldLayoutId id="2147483753" r:id="rId29"/>
    <p:sldLayoutId id="2147483754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56565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ідзаголовок 1">
            <a:extLst>
              <a:ext uri="{FF2B5EF4-FFF2-40B4-BE49-F238E27FC236}">
                <a16:creationId xmlns:a16="http://schemas.microsoft.com/office/drawing/2014/main" id="{D5BE6255-BA5A-D8D3-DE9E-0F05E48E3C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Результати Грудня</a:t>
            </a:r>
          </a:p>
        </p:txBody>
      </p:sp>
    </p:spTree>
    <p:extLst>
      <p:ext uri="{BB962C8B-B14F-4D97-AF65-F5344CB8AC3E}">
        <p14:creationId xmlns:p14="http://schemas.microsoft.com/office/powerpoint/2010/main" val="1116670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28DC84-AFCA-CD13-CDD9-3EA110A2C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16" y="453329"/>
            <a:ext cx="10906125" cy="1325563"/>
          </a:xfrm>
        </p:spPr>
        <p:txBody>
          <a:bodyPr/>
          <a:lstStyle/>
          <a:p>
            <a:r>
              <a:rPr lang="en-US" dirty="0"/>
              <a:t>Sales Index - Monthly Development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1F4B1-4FF2-D343-DDAF-D7F193177F2F}"/>
              </a:ext>
            </a:extLst>
          </p:cNvPr>
          <p:cNvSpPr txBox="1"/>
          <p:nvPr/>
        </p:nvSpPr>
        <p:spPr>
          <a:xfrm>
            <a:off x="635000" y="1116111"/>
            <a:ext cx="10922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0" i="0" kern="120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Comparable stores by month and store</a:t>
            </a:r>
            <a:endParaRPr lang="uk-UA" sz="1400" b="0" i="0" kern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Picture 19">
            <a:extLst>
              <a:ext uri="{FF2B5EF4-FFF2-40B4-BE49-F238E27FC236}">
                <a16:creationId xmlns:a16="http://schemas.microsoft.com/office/drawing/2014/main" id="{2D5C01AC-4E9C-98FE-0490-D7615B72D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0935" y="235182"/>
            <a:ext cx="1525802" cy="14378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1A2125-C062-6451-62E3-F56982076906}"/>
              </a:ext>
            </a:extLst>
          </p:cNvPr>
          <p:cNvSpPr txBox="1"/>
          <p:nvPr/>
        </p:nvSpPr>
        <p:spPr>
          <a:xfrm>
            <a:off x="849706" y="7238197"/>
            <a:ext cx="1016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0" i="0" kern="120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Optional: text</a:t>
            </a:r>
            <a:endParaRPr lang="uk-UA" sz="1400" b="0" i="0" kern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146" name="Picture 2" descr="Пнг Смайлик ок 31 фото">
            <a:extLst>
              <a:ext uri="{FF2B5EF4-FFF2-40B4-BE49-F238E27FC236}">
                <a16:creationId xmlns:a16="http://schemas.microsoft.com/office/drawing/2014/main" id="{C289FA2B-A2E9-8788-646D-B4D3F253E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1025" y="860005"/>
            <a:ext cx="1525802" cy="152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AB4C62F5-8A97-5A08-C7B3-950DB77B4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700636"/>
              </p:ext>
            </p:extLst>
          </p:nvPr>
        </p:nvGraphicFramePr>
        <p:xfrm>
          <a:off x="275970" y="1593074"/>
          <a:ext cx="6582029" cy="4428157"/>
        </p:xfrm>
        <a:graphic>
          <a:graphicData uri="http://schemas.openxmlformats.org/drawingml/2006/table">
            <a:tbl>
              <a:tblPr/>
              <a:tblGrid>
                <a:gridCol w="1311213">
                  <a:extLst>
                    <a:ext uri="{9D8B030D-6E8A-4147-A177-3AD203B41FA5}">
                      <a16:colId xmlns:a16="http://schemas.microsoft.com/office/drawing/2014/main" val="2792025908"/>
                    </a:ext>
                  </a:extLst>
                </a:gridCol>
                <a:gridCol w="1635771">
                  <a:extLst>
                    <a:ext uri="{9D8B030D-6E8A-4147-A177-3AD203B41FA5}">
                      <a16:colId xmlns:a16="http://schemas.microsoft.com/office/drawing/2014/main" val="1235294857"/>
                    </a:ext>
                  </a:extLst>
                </a:gridCol>
                <a:gridCol w="727009">
                  <a:extLst>
                    <a:ext uri="{9D8B030D-6E8A-4147-A177-3AD203B41FA5}">
                      <a16:colId xmlns:a16="http://schemas.microsoft.com/office/drawing/2014/main" val="2790812960"/>
                    </a:ext>
                  </a:extLst>
                </a:gridCol>
                <a:gridCol w="727009">
                  <a:extLst>
                    <a:ext uri="{9D8B030D-6E8A-4147-A177-3AD203B41FA5}">
                      <a16:colId xmlns:a16="http://schemas.microsoft.com/office/drawing/2014/main" val="2012980949"/>
                    </a:ext>
                  </a:extLst>
                </a:gridCol>
                <a:gridCol w="727009">
                  <a:extLst>
                    <a:ext uri="{9D8B030D-6E8A-4147-A177-3AD203B41FA5}">
                      <a16:colId xmlns:a16="http://schemas.microsoft.com/office/drawing/2014/main" val="1000119009"/>
                    </a:ext>
                  </a:extLst>
                </a:gridCol>
                <a:gridCol w="727009">
                  <a:extLst>
                    <a:ext uri="{9D8B030D-6E8A-4147-A177-3AD203B41FA5}">
                      <a16:colId xmlns:a16="http://schemas.microsoft.com/office/drawing/2014/main" val="3221217674"/>
                    </a:ext>
                  </a:extLst>
                </a:gridCol>
                <a:gridCol w="727009">
                  <a:extLst>
                    <a:ext uri="{9D8B030D-6E8A-4147-A177-3AD203B41FA5}">
                      <a16:colId xmlns:a16="http://schemas.microsoft.com/office/drawing/2014/main" val="1272938479"/>
                    </a:ext>
                  </a:extLst>
                </a:gridCol>
              </a:tblGrid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 Status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217907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Calendar month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OCT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954768"/>
                  </a:ext>
                </a:extLst>
              </a:tr>
              <a:tr h="4612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445629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Ukraina,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151,2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502592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Arkadia Shuliavka,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86,0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471487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Passage, Gatne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132,2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121,3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602212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April City,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49233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Lobanovskiy,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4786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Nashe Nebo, Kryukovshchyna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128,4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801814"/>
                  </a:ext>
                </a:extLst>
              </a:tr>
              <a:tr h="150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Promenada,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959212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Good Life,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142,0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87005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Respublica,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129,1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213724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Sofia Mall, S.Borschahivka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434594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Rostok,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82,8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318989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18423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[-] 1017REG01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336064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[+] 1017REG02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3723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101701C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excl Planned stores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949251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101701B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93331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[+] 1017REG98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sales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135,9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129,1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170,4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137,6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49435"/>
                  </a:ext>
                </a:extLst>
              </a:tr>
              <a:tr h="200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&amp; Common stores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324817"/>
                  </a:ext>
                </a:extLst>
              </a:tr>
            </a:tbl>
          </a:graphicData>
        </a:graphic>
      </p:graphicFrame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D528D957-EF59-4C9A-4D16-FE193A8C6349}"/>
              </a:ext>
            </a:extLst>
          </p:cNvPr>
          <p:cNvSpPr/>
          <p:nvPr/>
        </p:nvSpPr>
        <p:spPr>
          <a:xfrm>
            <a:off x="5435600" y="1622906"/>
            <a:ext cx="723660" cy="442815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F80BEFE6-3504-941A-CC95-BC8D2008661B}"/>
              </a:ext>
            </a:extLst>
          </p:cNvPr>
          <p:cNvSpPr/>
          <p:nvPr/>
        </p:nvSpPr>
        <p:spPr>
          <a:xfrm>
            <a:off x="105779" y="3071002"/>
            <a:ext cx="6745670" cy="19840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7" name="Рисунок 6" descr="Зображення, що містить текст, Обличчя людини, особа, знімок екран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7C32A5FC-DA6F-A18E-127B-9BE3867D33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354" y="2754156"/>
            <a:ext cx="4657725" cy="32670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7862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я 5">
            <a:extLst>
              <a:ext uri="{FF2B5EF4-FFF2-40B4-BE49-F238E27FC236}">
                <a16:creationId xmlns:a16="http://schemas.microsoft.com/office/drawing/2014/main" id="{D103D149-7923-7D86-35D5-7703CDAC9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353827"/>
              </p:ext>
            </p:extLst>
          </p:nvPr>
        </p:nvGraphicFramePr>
        <p:xfrm>
          <a:off x="319485" y="1297684"/>
          <a:ext cx="9035914" cy="4825499"/>
        </p:xfrm>
        <a:graphic>
          <a:graphicData uri="http://schemas.openxmlformats.org/drawingml/2006/table">
            <a:tbl>
              <a:tblPr/>
              <a:tblGrid>
                <a:gridCol w="1227706">
                  <a:extLst>
                    <a:ext uri="{9D8B030D-6E8A-4147-A177-3AD203B41FA5}">
                      <a16:colId xmlns:a16="http://schemas.microsoft.com/office/drawing/2014/main" val="1027199570"/>
                    </a:ext>
                  </a:extLst>
                </a:gridCol>
                <a:gridCol w="2111654">
                  <a:extLst>
                    <a:ext uri="{9D8B030D-6E8A-4147-A177-3AD203B41FA5}">
                      <a16:colId xmlns:a16="http://schemas.microsoft.com/office/drawing/2014/main" val="600304105"/>
                    </a:ext>
                  </a:extLst>
                </a:gridCol>
                <a:gridCol w="916687">
                  <a:extLst>
                    <a:ext uri="{9D8B030D-6E8A-4147-A177-3AD203B41FA5}">
                      <a16:colId xmlns:a16="http://schemas.microsoft.com/office/drawing/2014/main" val="1404958537"/>
                    </a:ext>
                  </a:extLst>
                </a:gridCol>
                <a:gridCol w="736623">
                  <a:extLst>
                    <a:ext uri="{9D8B030D-6E8A-4147-A177-3AD203B41FA5}">
                      <a16:colId xmlns:a16="http://schemas.microsoft.com/office/drawing/2014/main" val="3205574390"/>
                    </a:ext>
                  </a:extLst>
                </a:gridCol>
                <a:gridCol w="736623">
                  <a:extLst>
                    <a:ext uri="{9D8B030D-6E8A-4147-A177-3AD203B41FA5}">
                      <a16:colId xmlns:a16="http://schemas.microsoft.com/office/drawing/2014/main" val="706679646"/>
                    </a:ext>
                  </a:extLst>
                </a:gridCol>
                <a:gridCol w="802101">
                  <a:extLst>
                    <a:ext uri="{9D8B030D-6E8A-4147-A177-3AD203B41FA5}">
                      <a16:colId xmlns:a16="http://schemas.microsoft.com/office/drawing/2014/main" val="1451341262"/>
                    </a:ext>
                  </a:extLst>
                </a:gridCol>
                <a:gridCol w="769362">
                  <a:extLst>
                    <a:ext uri="{9D8B030D-6E8A-4147-A177-3AD203B41FA5}">
                      <a16:colId xmlns:a16="http://schemas.microsoft.com/office/drawing/2014/main" val="3579974784"/>
                    </a:ext>
                  </a:extLst>
                </a:gridCol>
                <a:gridCol w="998535">
                  <a:extLst>
                    <a:ext uri="{9D8B030D-6E8A-4147-A177-3AD203B41FA5}">
                      <a16:colId xmlns:a16="http://schemas.microsoft.com/office/drawing/2014/main" val="2228295852"/>
                    </a:ext>
                  </a:extLst>
                </a:gridCol>
                <a:gridCol w="736623">
                  <a:extLst>
                    <a:ext uri="{9D8B030D-6E8A-4147-A177-3AD203B41FA5}">
                      <a16:colId xmlns:a16="http://schemas.microsoft.com/office/drawing/2014/main" val="2251073969"/>
                    </a:ext>
                  </a:extLst>
                </a:gridCol>
              </a:tblGrid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 Status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711196"/>
                  </a:ext>
                </a:extLst>
              </a:tr>
              <a:tr h="8125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sales/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724963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669253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Ukraina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9 665,7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10 257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24715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Arkadia Shuliavka,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9 535,2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9 924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87,3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752427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Passage, Gatne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10 197,8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8 460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524092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Gulliver,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7 538,2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55,1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9 544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53,7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509524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April City,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5 504,8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5 343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274636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Lobanovskiy,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9 108,0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9 528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527224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Nashe Nebo, Kryukovshchyna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8 909,6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7 915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81417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Promenada,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5 651,6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6 833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577294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Good Life,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9 393,0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9 104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307594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Respublica,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20 370,6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21 794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674416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Sofia Mall, S.Borschahivka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10 982,5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11 538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26320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Rostok,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5 365,2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5 897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554295"/>
                  </a:ext>
                </a:extLst>
              </a:tr>
              <a:tr h="267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1017DISTR07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112 222,2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87,2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116 137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85999"/>
                  </a:ext>
                </a:extLst>
              </a:tr>
            </a:tbl>
          </a:graphicData>
        </a:graphic>
      </p:graphicFrame>
      <p:pic>
        <p:nvPicPr>
          <p:cNvPr id="7170" name="Picture 2" descr="Nummer ett prioritet markerad med röd Stockfoto 1183376491 | Shutterstock">
            <a:extLst>
              <a:ext uri="{FF2B5EF4-FFF2-40B4-BE49-F238E27FC236}">
                <a16:creationId xmlns:a16="http://schemas.microsoft.com/office/drawing/2014/main" id="{CD63E790-9F35-E203-7079-AED4BE6AB6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66"/>
          <a:stretch>
            <a:fillRect/>
          </a:stretch>
        </p:blipFill>
        <p:spPr bwMode="auto">
          <a:xfrm>
            <a:off x="9598177" y="2719730"/>
            <a:ext cx="2524125" cy="1633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65FA2-4D43-43AF-F45C-E318CEF9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District and stores</a:t>
            </a:r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C1726-D768-1AC0-548A-C119762364D8}"/>
              </a:ext>
            </a:extLst>
          </p:cNvPr>
          <p:cNvSpPr txBox="1"/>
          <p:nvPr/>
        </p:nvSpPr>
        <p:spPr>
          <a:xfrm>
            <a:off x="409439" y="8076397"/>
            <a:ext cx="1016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0" i="0" kern="120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Optional: text</a:t>
            </a:r>
            <a:endParaRPr lang="uk-UA" sz="1400" b="0" i="0" kern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41BF1851-D9A0-E48A-5C15-87C630A1FB5E}"/>
              </a:ext>
            </a:extLst>
          </p:cNvPr>
          <p:cNvSpPr/>
          <p:nvPr/>
        </p:nvSpPr>
        <p:spPr>
          <a:xfrm>
            <a:off x="5281685" y="2645508"/>
            <a:ext cx="775455" cy="27096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0115B7BF-DCFB-78D3-1437-3C5F571923B2}"/>
              </a:ext>
            </a:extLst>
          </p:cNvPr>
          <p:cNvSpPr/>
          <p:nvPr/>
        </p:nvSpPr>
        <p:spPr>
          <a:xfrm>
            <a:off x="5320543" y="3159763"/>
            <a:ext cx="736597" cy="27898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C8CCCE3-DF59-0958-0EF0-A9366A15D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438" y="25007"/>
            <a:ext cx="4949562" cy="69293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6395C34-F322-2F9B-66BA-97CD61695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796" y="734816"/>
            <a:ext cx="4911204" cy="427602"/>
          </a:xfrm>
          <a:prstGeom prst="rect">
            <a:avLst/>
          </a:prstGeom>
        </p:spPr>
      </p:pic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ED7AA559-61EE-BB0C-15CA-856B3CD3C907}"/>
              </a:ext>
            </a:extLst>
          </p:cNvPr>
          <p:cNvSpPr/>
          <p:nvPr/>
        </p:nvSpPr>
        <p:spPr>
          <a:xfrm>
            <a:off x="8581252" y="1297684"/>
            <a:ext cx="774147" cy="482549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Прямокутник 18">
            <a:extLst>
              <a:ext uri="{FF2B5EF4-FFF2-40B4-BE49-F238E27FC236}">
                <a16:creationId xmlns:a16="http://schemas.microsoft.com/office/drawing/2014/main" id="{B35EBCFE-2504-F0C3-E1A9-9D34CE9C7207}"/>
              </a:ext>
            </a:extLst>
          </p:cNvPr>
          <p:cNvSpPr/>
          <p:nvPr/>
        </p:nvSpPr>
        <p:spPr>
          <a:xfrm>
            <a:off x="6043611" y="1582683"/>
            <a:ext cx="1594158" cy="4540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21" name="Пряма зі стрілкою 20">
            <a:extLst>
              <a:ext uri="{FF2B5EF4-FFF2-40B4-BE49-F238E27FC236}">
                <a16:creationId xmlns:a16="http://schemas.microsoft.com/office/drawing/2014/main" id="{388890D6-8BE7-3C9F-F727-FEA63877C4AB}"/>
              </a:ext>
            </a:extLst>
          </p:cNvPr>
          <p:cNvCxnSpPr>
            <a:cxnSpLocks/>
            <a:stCxn id="19" idx="0"/>
          </p:cNvCxnSpPr>
          <p:nvPr/>
        </p:nvCxnSpPr>
        <p:spPr>
          <a:xfrm>
            <a:off x="6840690" y="1582683"/>
            <a:ext cx="3159958" cy="16007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3D11A637-E2C1-AE4C-DF92-7FBB38357867}"/>
              </a:ext>
            </a:extLst>
          </p:cNvPr>
          <p:cNvSpPr/>
          <p:nvPr/>
        </p:nvSpPr>
        <p:spPr>
          <a:xfrm>
            <a:off x="5307013" y="4799650"/>
            <a:ext cx="736597" cy="27898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1B6FFF15-36F2-439C-86A1-131C8E4D7BAC}"/>
              </a:ext>
            </a:extLst>
          </p:cNvPr>
          <p:cNvSpPr/>
          <p:nvPr/>
        </p:nvSpPr>
        <p:spPr>
          <a:xfrm>
            <a:off x="5281685" y="5321925"/>
            <a:ext cx="736597" cy="27898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70327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8" grpId="0" animBg="1"/>
      <p:bldP spid="19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19877-B60D-C325-6E89-9EFDB170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Sales Performance by Product area</a:t>
            </a:r>
            <a:endParaRPr lang="uk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EF9C9-D83F-9440-12DF-AA9A18D45844}"/>
              </a:ext>
            </a:extLst>
          </p:cNvPr>
          <p:cNvSpPr txBox="1"/>
          <p:nvPr/>
        </p:nvSpPr>
        <p:spPr>
          <a:xfrm>
            <a:off x="635000" y="1116111"/>
            <a:ext cx="10922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0" i="0" kern="120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comparable stores, month and FY acc.</a:t>
            </a:r>
            <a:endParaRPr lang="uk-UA" sz="1400" b="0" i="0" kern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F25A2BF7-1B0C-4343-913E-FD8017C4A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606" y="0"/>
            <a:ext cx="1006525" cy="9541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32CCC6-E1F1-A6F5-D334-194C15B6C6C0}"/>
              </a:ext>
            </a:extLst>
          </p:cNvPr>
          <p:cNvSpPr txBox="1"/>
          <p:nvPr/>
        </p:nvSpPr>
        <p:spPr>
          <a:xfrm>
            <a:off x="849706" y="7238197"/>
            <a:ext cx="1016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0" i="0" kern="120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Optional: text</a:t>
            </a:r>
            <a:endParaRPr lang="uk-UA" sz="1400" b="0" i="0" kern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10" name="Таблиця 9">
            <a:extLst>
              <a:ext uri="{FF2B5EF4-FFF2-40B4-BE49-F238E27FC236}">
                <a16:creationId xmlns:a16="http://schemas.microsoft.com/office/drawing/2014/main" id="{87BFC2A1-7FD5-0F07-8F74-7840C1C38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323869"/>
              </p:ext>
            </p:extLst>
          </p:nvPr>
        </p:nvGraphicFramePr>
        <p:xfrm>
          <a:off x="203199" y="954119"/>
          <a:ext cx="10906125" cy="5014880"/>
        </p:xfrm>
        <a:graphic>
          <a:graphicData uri="http://schemas.openxmlformats.org/drawingml/2006/table">
            <a:tbl>
              <a:tblPr/>
              <a:tblGrid>
                <a:gridCol w="841054">
                  <a:extLst>
                    <a:ext uri="{9D8B030D-6E8A-4147-A177-3AD203B41FA5}">
                      <a16:colId xmlns:a16="http://schemas.microsoft.com/office/drawing/2014/main" val="2675075283"/>
                    </a:ext>
                  </a:extLst>
                </a:gridCol>
                <a:gridCol w="1268475">
                  <a:extLst>
                    <a:ext uri="{9D8B030D-6E8A-4147-A177-3AD203B41FA5}">
                      <a16:colId xmlns:a16="http://schemas.microsoft.com/office/drawing/2014/main" val="3597881450"/>
                    </a:ext>
                  </a:extLst>
                </a:gridCol>
                <a:gridCol w="813479">
                  <a:extLst>
                    <a:ext uri="{9D8B030D-6E8A-4147-A177-3AD203B41FA5}">
                      <a16:colId xmlns:a16="http://schemas.microsoft.com/office/drawing/2014/main" val="2102983024"/>
                    </a:ext>
                  </a:extLst>
                </a:gridCol>
                <a:gridCol w="620450">
                  <a:extLst>
                    <a:ext uri="{9D8B030D-6E8A-4147-A177-3AD203B41FA5}">
                      <a16:colId xmlns:a16="http://schemas.microsoft.com/office/drawing/2014/main" val="3832546589"/>
                    </a:ext>
                  </a:extLst>
                </a:gridCol>
                <a:gridCol w="785902">
                  <a:extLst>
                    <a:ext uri="{9D8B030D-6E8A-4147-A177-3AD203B41FA5}">
                      <a16:colId xmlns:a16="http://schemas.microsoft.com/office/drawing/2014/main" val="3289543790"/>
                    </a:ext>
                  </a:extLst>
                </a:gridCol>
                <a:gridCol w="785902">
                  <a:extLst>
                    <a:ext uri="{9D8B030D-6E8A-4147-A177-3AD203B41FA5}">
                      <a16:colId xmlns:a16="http://schemas.microsoft.com/office/drawing/2014/main" val="1185330396"/>
                    </a:ext>
                  </a:extLst>
                </a:gridCol>
                <a:gridCol w="744539">
                  <a:extLst>
                    <a:ext uri="{9D8B030D-6E8A-4147-A177-3AD203B41FA5}">
                      <a16:colId xmlns:a16="http://schemas.microsoft.com/office/drawing/2014/main" val="1751834892"/>
                    </a:ext>
                  </a:extLst>
                </a:gridCol>
                <a:gridCol w="813479">
                  <a:extLst>
                    <a:ext uri="{9D8B030D-6E8A-4147-A177-3AD203B41FA5}">
                      <a16:colId xmlns:a16="http://schemas.microsoft.com/office/drawing/2014/main" val="3581719159"/>
                    </a:ext>
                  </a:extLst>
                </a:gridCol>
                <a:gridCol w="606662">
                  <a:extLst>
                    <a:ext uri="{9D8B030D-6E8A-4147-A177-3AD203B41FA5}">
                      <a16:colId xmlns:a16="http://schemas.microsoft.com/office/drawing/2014/main" val="440174525"/>
                    </a:ext>
                  </a:extLst>
                </a:gridCol>
                <a:gridCol w="661813">
                  <a:extLst>
                    <a:ext uri="{9D8B030D-6E8A-4147-A177-3AD203B41FA5}">
                      <a16:colId xmlns:a16="http://schemas.microsoft.com/office/drawing/2014/main" val="3257874539"/>
                    </a:ext>
                  </a:extLst>
                </a:gridCol>
                <a:gridCol w="606662">
                  <a:extLst>
                    <a:ext uri="{9D8B030D-6E8A-4147-A177-3AD203B41FA5}">
                      <a16:colId xmlns:a16="http://schemas.microsoft.com/office/drawing/2014/main" val="1491931790"/>
                    </a:ext>
                  </a:extLst>
                </a:gridCol>
                <a:gridCol w="648025">
                  <a:extLst>
                    <a:ext uri="{9D8B030D-6E8A-4147-A177-3AD203B41FA5}">
                      <a16:colId xmlns:a16="http://schemas.microsoft.com/office/drawing/2014/main" val="2192092895"/>
                    </a:ext>
                  </a:extLst>
                </a:gridCol>
                <a:gridCol w="703176">
                  <a:extLst>
                    <a:ext uri="{9D8B030D-6E8A-4147-A177-3AD203B41FA5}">
                      <a16:colId xmlns:a16="http://schemas.microsoft.com/office/drawing/2014/main" val="3650947856"/>
                    </a:ext>
                  </a:extLst>
                </a:gridCol>
                <a:gridCol w="1006507">
                  <a:extLst>
                    <a:ext uri="{9D8B030D-6E8A-4147-A177-3AD203B41FA5}">
                      <a16:colId xmlns:a16="http://schemas.microsoft.com/office/drawing/2014/main" val="364775187"/>
                    </a:ext>
                  </a:extLst>
                </a:gridCol>
              </a:tblGrid>
              <a:tr h="3094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 Status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Comp.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637327"/>
                  </a:ext>
                </a:extLst>
              </a:tr>
              <a:tr h="3094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1017DISTR07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368563"/>
                  </a:ext>
                </a:extLst>
              </a:tr>
              <a:tr h="67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Ukraina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Arkadia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Shuliavka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Passage, Gatne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April City,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Lobanovskiy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Nashe Nebo,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Kryukovshchyna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Promenada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Good Life,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Respublica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Sofia Mall, S.Borschahivka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Rostok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397514"/>
                  </a:ext>
                </a:extLst>
              </a:tr>
              <a:tr h="9397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Bed linen and sheets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87,5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989940"/>
                  </a:ext>
                </a:extLst>
              </a:tr>
              <a:tr h="3094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Bathroom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86,3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402030"/>
                  </a:ext>
                </a:extLst>
              </a:tr>
              <a:tr h="3094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Mattresses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148,8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146,1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139,9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143,9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143,9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131,4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167,2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172,7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216,2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145,6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141054"/>
                  </a:ext>
                </a:extLst>
              </a:tr>
              <a:tr h="3094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Furniture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172,0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146,9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128,4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148,7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155,9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132,5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017294"/>
                  </a:ext>
                </a:extLst>
              </a:tr>
              <a:tr h="3094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Homeware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87,0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86,1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217399"/>
                  </a:ext>
                </a:extLst>
              </a:tr>
              <a:tr h="3094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 textiles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184499"/>
                  </a:ext>
                </a:extLst>
              </a:tr>
              <a:tr h="3094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Window dressing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73,8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81,0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81,5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80,2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69467"/>
                  </a:ext>
                </a:extLst>
              </a:tr>
              <a:tr h="3094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Duvets and pillows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90,1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722119"/>
                  </a:ext>
                </a:extLst>
              </a:tr>
              <a:tr h="3094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Garden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75,8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34,4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74,6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167,6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82,0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40,2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64,2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201,2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745984"/>
                  </a:ext>
                </a:extLst>
              </a:tr>
              <a:tr h="3094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MMS article structure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104905"/>
                  </a:ext>
                </a:extLst>
              </a:tr>
            </a:tbl>
          </a:graphicData>
        </a:graphic>
      </p:graphicFrame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2D5508F4-C81A-9234-A67E-05CE4F2F34FD}"/>
              </a:ext>
            </a:extLst>
          </p:cNvPr>
          <p:cNvSpPr/>
          <p:nvPr/>
        </p:nvSpPr>
        <p:spPr>
          <a:xfrm>
            <a:off x="8733652" y="1270000"/>
            <a:ext cx="622015" cy="4699000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C2B6271F-97A7-FB1A-5CD9-496F9648AD32}"/>
              </a:ext>
            </a:extLst>
          </p:cNvPr>
          <p:cNvSpPr/>
          <p:nvPr/>
        </p:nvSpPr>
        <p:spPr>
          <a:xfrm>
            <a:off x="2298985" y="1270000"/>
            <a:ext cx="859082" cy="4724399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402EEFD2-E8DB-4F0B-BCA0-78957DD56FB5}"/>
              </a:ext>
            </a:extLst>
          </p:cNvPr>
          <p:cNvSpPr/>
          <p:nvPr/>
        </p:nvSpPr>
        <p:spPr>
          <a:xfrm>
            <a:off x="7455185" y="1269999"/>
            <a:ext cx="706682" cy="4699000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FE5A494A-68DA-4A05-E6ED-C0BDA94DEE43}"/>
              </a:ext>
            </a:extLst>
          </p:cNvPr>
          <p:cNvSpPr/>
          <p:nvPr/>
        </p:nvSpPr>
        <p:spPr>
          <a:xfrm>
            <a:off x="4529667" y="5071533"/>
            <a:ext cx="2925518" cy="28786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5" name="Picture 2" descr="Пнг Смайлик ок 31 фото">
            <a:extLst>
              <a:ext uri="{FF2B5EF4-FFF2-40B4-BE49-F238E27FC236}">
                <a16:creationId xmlns:a16="http://schemas.microsoft.com/office/drawing/2014/main" id="{2364A6B3-62A2-AA95-EB16-4AECA9E17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2064" y="4813938"/>
            <a:ext cx="1525802" cy="152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710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9EE3C-F799-B773-18B0-4EF83D19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Stock Adjustments by store</a:t>
            </a:r>
            <a:endParaRPr lang="uk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2CFE8-6E09-4494-2530-764E734259D2}"/>
              </a:ext>
            </a:extLst>
          </p:cNvPr>
          <p:cNvSpPr txBox="1"/>
          <p:nvPr/>
        </p:nvSpPr>
        <p:spPr>
          <a:xfrm>
            <a:off x="635000" y="1116111"/>
            <a:ext cx="10922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0" i="0" kern="120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Total stores, month and FY acc.</a:t>
            </a:r>
            <a:endParaRPr lang="uk-UA" sz="1400" b="0" i="0" kern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2C60D8C-6CF0-8B2F-226E-2DCE0B5CC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605" y="0"/>
            <a:ext cx="1009887" cy="9541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192413-73D1-B7AA-32FA-34E17A4FA92B}"/>
              </a:ext>
            </a:extLst>
          </p:cNvPr>
          <p:cNvSpPr txBox="1"/>
          <p:nvPr/>
        </p:nvSpPr>
        <p:spPr>
          <a:xfrm>
            <a:off x="849706" y="7238197"/>
            <a:ext cx="1016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0" i="0" kern="120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Optional: text</a:t>
            </a:r>
            <a:endParaRPr lang="uk-UA" sz="1400" b="0" i="0" kern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7F8707-D42F-377D-8C0D-70C4FD20F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96" y="858768"/>
            <a:ext cx="6942710" cy="575622"/>
          </a:xfrm>
          <a:prstGeom prst="rect">
            <a:avLst/>
          </a:prstGeom>
        </p:spPr>
      </p:pic>
      <p:graphicFrame>
        <p:nvGraphicFramePr>
          <p:cNvPr id="7" name="Таблиця 6">
            <a:extLst>
              <a:ext uri="{FF2B5EF4-FFF2-40B4-BE49-F238E27FC236}">
                <a16:creationId xmlns:a16="http://schemas.microsoft.com/office/drawing/2014/main" id="{C27BB50B-7173-9B1B-F95A-446B3804F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974568"/>
              </p:ext>
            </p:extLst>
          </p:nvPr>
        </p:nvGraphicFramePr>
        <p:xfrm>
          <a:off x="155696" y="1681231"/>
          <a:ext cx="6942709" cy="3054350"/>
        </p:xfrm>
        <a:graphic>
          <a:graphicData uri="http://schemas.openxmlformats.org/drawingml/2006/table">
            <a:tbl>
              <a:tblPr/>
              <a:tblGrid>
                <a:gridCol w="1036437">
                  <a:extLst>
                    <a:ext uri="{9D8B030D-6E8A-4147-A177-3AD203B41FA5}">
                      <a16:colId xmlns:a16="http://schemas.microsoft.com/office/drawing/2014/main" val="839158573"/>
                    </a:ext>
                  </a:extLst>
                </a:gridCol>
                <a:gridCol w="1788919">
                  <a:extLst>
                    <a:ext uri="{9D8B030D-6E8A-4147-A177-3AD203B41FA5}">
                      <a16:colId xmlns:a16="http://schemas.microsoft.com/office/drawing/2014/main" val="25135596"/>
                    </a:ext>
                  </a:extLst>
                </a:gridCol>
                <a:gridCol w="795075">
                  <a:extLst>
                    <a:ext uri="{9D8B030D-6E8A-4147-A177-3AD203B41FA5}">
                      <a16:colId xmlns:a16="http://schemas.microsoft.com/office/drawing/2014/main" val="989453349"/>
                    </a:ext>
                  </a:extLst>
                </a:gridCol>
                <a:gridCol w="695691">
                  <a:extLst>
                    <a:ext uri="{9D8B030D-6E8A-4147-A177-3AD203B41FA5}">
                      <a16:colId xmlns:a16="http://schemas.microsoft.com/office/drawing/2014/main" val="2170764022"/>
                    </a:ext>
                  </a:extLst>
                </a:gridCol>
                <a:gridCol w="653097">
                  <a:extLst>
                    <a:ext uri="{9D8B030D-6E8A-4147-A177-3AD203B41FA5}">
                      <a16:colId xmlns:a16="http://schemas.microsoft.com/office/drawing/2014/main" val="3327912273"/>
                    </a:ext>
                  </a:extLst>
                </a:gridCol>
                <a:gridCol w="795075">
                  <a:extLst>
                    <a:ext uri="{9D8B030D-6E8A-4147-A177-3AD203B41FA5}">
                      <a16:colId xmlns:a16="http://schemas.microsoft.com/office/drawing/2014/main" val="55854236"/>
                    </a:ext>
                  </a:extLst>
                </a:gridCol>
                <a:gridCol w="653097">
                  <a:extLst>
                    <a:ext uri="{9D8B030D-6E8A-4147-A177-3AD203B41FA5}">
                      <a16:colId xmlns:a16="http://schemas.microsoft.com/office/drawing/2014/main" val="3036571410"/>
                    </a:ext>
                  </a:extLst>
                </a:gridCol>
                <a:gridCol w="525318">
                  <a:extLst>
                    <a:ext uri="{9D8B030D-6E8A-4147-A177-3AD203B41FA5}">
                      <a16:colId xmlns:a16="http://schemas.microsoft.com/office/drawing/2014/main" val="2006463437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Stock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Adjust.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cost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Stock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Adjust.  %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var.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Stock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Adjust. %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FY Acc.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Stock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Adjust.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cost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FY Acc.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Stock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Adjust. 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var.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FY Acc.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Stock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Adjust.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61153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16324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Ukraina,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-39,9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-77,4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AB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8839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Arkadia Shuliavka,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-28,5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C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-70,0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3C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64152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Passage, Gatne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-30,0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3C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-49,1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87973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Gulliver,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-17,1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-99,0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6016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April City,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-16,9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-0,31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9B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-57,5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B9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8831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Lobanovskiy,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-20,2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-49,2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08236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Nashe Nebo, Kryukovshchyna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-23,5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A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-59,9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FD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80807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Promenada,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-8,8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-22,7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9006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Good Life,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-11,7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-60,2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8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66498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Respublica,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-45,0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-91,1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742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Sofia Mall, S.Borschahivka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-20,0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-52,4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74133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Rostok,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-2,5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-36,7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83321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1017DISTR07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-264,0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-725,3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304592"/>
                  </a:ext>
                </a:extLst>
              </a:tr>
            </a:tbl>
          </a:graphicData>
        </a:graphic>
      </p:graphicFrame>
      <p:pic>
        <p:nvPicPr>
          <p:cNvPr id="4098" name="Picture 2" descr="Мемы Человек песок сыпет 23 фото">
            <a:extLst>
              <a:ext uri="{FF2B5EF4-FFF2-40B4-BE49-F238E27FC236}">
                <a16:creationId xmlns:a16="http://schemas.microsoft.com/office/drawing/2014/main" id="{D1686593-D1AC-FBAB-A114-AA189708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797" y="2137077"/>
            <a:ext cx="2149507" cy="2880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Таблиця 10">
            <a:extLst>
              <a:ext uri="{FF2B5EF4-FFF2-40B4-BE49-F238E27FC236}">
                <a16:creationId xmlns:a16="http://schemas.microsoft.com/office/drawing/2014/main" id="{9D2A66B9-57BA-474F-5103-CE675502D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794241"/>
              </p:ext>
            </p:extLst>
          </p:nvPr>
        </p:nvGraphicFramePr>
        <p:xfrm>
          <a:off x="133335" y="1681231"/>
          <a:ext cx="9753461" cy="3799755"/>
        </p:xfrm>
        <a:graphic>
          <a:graphicData uri="http://schemas.openxmlformats.org/drawingml/2006/table">
            <a:tbl>
              <a:tblPr/>
              <a:tblGrid>
                <a:gridCol w="1135846">
                  <a:extLst>
                    <a:ext uri="{9D8B030D-6E8A-4147-A177-3AD203B41FA5}">
                      <a16:colId xmlns:a16="http://schemas.microsoft.com/office/drawing/2014/main" val="2620449215"/>
                    </a:ext>
                  </a:extLst>
                </a:gridCol>
                <a:gridCol w="925962">
                  <a:extLst>
                    <a:ext uri="{9D8B030D-6E8A-4147-A177-3AD203B41FA5}">
                      <a16:colId xmlns:a16="http://schemas.microsoft.com/office/drawing/2014/main" val="2329187810"/>
                    </a:ext>
                  </a:extLst>
                </a:gridCol>
                <a:gridCol w="543231">
                  <a:extLst>
                    <a:ext uri="{9D8B030D-6E8A-4147-A177-3AD203B41FA5}">
                      <a16:colId xmlns:a16="http://schemas.microsoft.com/office/drawing/2014/main" val="1788661851"/>
                    </a:ext>
                  </a:extLst>
                </a:gridCol>
                <a:gridCol w="506192">
                  <a:extLst>
                    <a:ext uri="{9D8B030D-6E8A-4147-A177-3AD203B41FA5}">
                      <a16:colId xmlns:a16="http://schemas.microsoft.com/office/drawing/2014/main" val="763295125"/>
                    </a:ext>
                  </a:extLst>
                </a:gridCol>
                <a:gridCol w="506192">
                  <a:extLst>
                    <a:ext uri="{9D8B030D-6E8A-4147-A177-3AD203B41FA5}">
                      <a16:colId xmlns:a16="http://schemas.microsoft.com/office/drawing/2014/main" val="1051353533"/>
                    </a:ext>
                  </a:extLst>
                </a:gridCol>
                <a:gridCol w="518538">
                  <a:extLst>
                    <a:ext uri="{9D8B030D-6E8A-4147-A177-3AD203B41FA5}">
                      <a16:colId xmlns:a16="http://schemas.microsoft.com/office/drawing/2014/main" val="1211456044"/>
                    </a:ext>
                  </a:extLst>
                </a:gridCol>
                <a:gridCol w="469154">
                  <a:extLst>
                    <a:ext uri="{9D8B030D-6E8A-4147-A177-3AD203B41FA5}">
                      <a16:colId xmlns:a16="http://schemas.microsoft.com/office/drawing/2014/main" val="1150353562"/>
                    </a:ext>
                  </a:extLst>
                </a:gridCol>
                <a:gridCol w="567923">
                  <a:extLst>
                    <a:ext uri="{9D8B030D-6E8A-4147-A177-3AD203B41FA5}">
                      <a16:colId xmlns:a16="http://schemas.microsoft.com/office/drawing/2014/main" val="1113627943"/>
                    </a:ext>
                  </a:extLst>
                </a:gridCol>
                <a:gridCol w="555577">
                  <a:extLst>
                    <a:ext uri="{9D8B030D-6E8A-4147-A177-3AD203B41FA5}">
                      <a16:colId xmlns:a16="http://schemas.microsoft.com/office/drawing/2014/main" val="539768199"/>
                    </a:ext>
                  </a:extLst>
                </a:gridCol>
                <a:gridCol w="642000">
                  <a:extLst>
                    <a:ext uri="{9D8B030D-6E8A-4147-A177-3AD203B41FA5}">
                      <a16:colId xmlns:a16="http://schemas.microsoft.com/office/drawing/2014/main" val="3618651422"/>
                    </a:ext>
                  </a:extLst>
                </a:gridCol>
                <a:gridCol w="642000">
                  <a:extLst>
                    <a:ext uri="{9D8B030D-6E8A-4147-A177-3AD203B41FA5}">
                      <a16:colId xmlns:a16="http://schemas.microsoft.com/office/drawing/2014/main" val="3686825014"/>
                    </a:ext>
                  </a:extLst>
                </a:gridCol>
                <a:gridCol w="604962">
                  <a:extLst>
                    <a:ext uri="{9D8B030D-6E8A-4147-A177-3AD203B41FA5}">
                      <a16:colId xmlns:a16="http://schemas.microsoft.com/office/drawing/2014/main" val="935083755"/>
                    </a:ext>
                  </a:extLst>
                </a:gridCol>
                <a:gridCol w="580269">
                  <a:extLst>
                    <a:ext uri="{9D8B030D-6E8A-4147-A177-3AD203B41FA5}">
                      <a16:colId xmlns:a16="http://schemas.microsoft.com/office/drawing/2014/main" val="4158913311"/>
                    </a:ext>
                  </a:extLst>
                </a:gridCol>
                <a:gridCol w="654346">
                  <a:extLst>
                    <a:ext uri="{9D8B030D-6E8A-4147-A177-3AD203B41FA5}">
                      <a16:colId xmlns:a16="http://schemas.microsoft.com/office/drawing/2014/main" val="2808756756"/>
                    </a:ext>
                  </a:extLst>
                </a:gridCol>
                <a:gridCol w="901269">
                  <a:extLst>
                    <a:ext uri="{9D8B030D-6E8A-4147-A177-3AD203B41FA5}">
                      <a16:colId xmlns:a16="http://schemas.microsoft.com/office/drawing/2014/main" val="1131416634"/>
                    </a:ext>
                  </a:extLst>
                </a:gridCol>
              </a:tblGrid>
              <a:tr h="3518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Reason for Mvt.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Stock adj. -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136198"/>
                  </a:ext>
                </a:extLst>
              </a:tr>
              <a:tr h="2411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1017DISTR07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86256"/>
                  </a:ext>
                </a:extLst>
              </a:tr>
              <a:tr h="694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Product area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Ukraina,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Arkadia Shuliavka,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Passage, Gatne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Gulliver,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April City,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Lobanovskiy,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Nashe Nebo, Kryukovshchyna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Promenada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Good Life,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Respublica,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Sofia Mall, S.Borschahivka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Rostok,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840739"/>
                  </a:ext>
                </a:extLst>
              </a:tr>
              <a:tr h="5536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Bathroom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831657"/>
                  </a:ext>
                </a:extLst>
              </a:tr>
              <a:tr h="2411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Bed linen and sheets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424469"/>
                  </a:ext>
                </a:extLst>
              </a:tr>
              <a:tr h="2411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Duvets and pillows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9396"/>
                  </a:ext>
                </a:extLst>
              </a:tr>
              <a:tr h="2411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Furniture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4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637168"/>
                  </a:ext>
                </a:extLst>
              </a:tr>
              <a:tr h="2411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Garden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-7,94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-10,63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-17,33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-2,85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-8,71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-2,77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50117"/>
                  </a:ext>
                </a:extLst>
              </a:tr>
              <a:tr h="2411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Home textiles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192733"/>
                  </a:ext>
                </a:extLst>
              </a:tr>
              <a:tr h="2411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Homeware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-0,41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045291"/>
                  </a:ext>
                </a:extLst>
              </a:tr>
              <a:tr h="2411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Mattresses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-3,37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-2,21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574826"/>
                  </a:ext>
                </a:extLst>
              </a:tr>
              <a:tr h="2411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Window dressing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626973"/>
                  </a:ext>
                </a:extLst>
              </a:tr>
            </a:tbl>
          </a:graphicData>
        </a:graphic>
      </p:graphicFrame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DEF57470-3474-294B-8BDA-56433F2A6856}"/>
              </a:ext>
            </a:extLst>
          </p:cNvPr>
          <p:cNvSpPr/>
          <p:nvPr/>
        </p:nvSpPr>
        <p:spPr>
          <a:xfrm>
            <a:off x="67733" y="4035817"/>
            <a:ext cx="8966200" cy="27371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3524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2A45A-1550-2B7A-7AAE-54A347079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Productivity</a:t>
            </a:r>
            <a:endParaRPr lang="uk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7A90B-90F6-790D-E154-A5DDC9137849}"/>
              </a:ext>
            </a:extLst>
          </p:cNvPr>
          <p:cNvSpPr txBox="1"/>
          <p:nvPr/>
        </p:nvSpPr>
        <p:spPr>
          <a:xfrm>
            <a:off x="635000" y="1116111"/>
            <a:ext cx="10922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0" i="0" kern="120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comparable stores, month and FY acc.</a:t>
            </a:r>
            <a:endParaRPr lang="uk-UA" sz="1400" b="0" i="0" kern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9447944F-F173-DA8D-1393-111715D34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384" y="1"/>
            <a:ext cx="1020133" cy="9541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684CA1-05F7-2853-6FC3-357AC3F1C6BA}"/>
              </a:ext>
            </a:extLst>
          </p:cNvPr>
          <p:cNvSpPr txBox="1"/>
          <p:nvPr/>
        </p:nvSpPr>
        <p:spPr>
          <a:xfrm>
            <a:off x="849706" y="7238197"/>
            <a:ext cx="1016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0" i="0" kern="120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Optional: text</a:t>
            </a:r>
            <a:endParaRPr lang="uk-UA" sz="1400" b="0" i="0" kern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0BA2A8-57F2-83F3-40A1-AFA868664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167" y="186059"/>
            <a:ext cx="7655178" cy="656901"/>
          </a:xfrm>
          <a:prstGeom prst="rect">
            <a:avLst/>
          </a:prstGeom>
        </p:spPr>
      </p:pic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A83EFFAC-D819-8D0C-7A75-94648FA03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261292"/>
              </p:ext>
            </p:extLst>
          </p:nvPr>
        </p:nvGraphicFramePr>
        <p:xfrm>
          <a:off x="126999" y="1214435"/>
          <a:ext cx="7247467" cy="3899426"/>
        </p:xfrm>
        <a:graphic>
          <a:graphicData uri="http://schemas.openxmlformats.org/drawingml/2006/table">
            <a:tbl>
              <a:tblPr/>
              <a:tblGrid>
                <a:gridCol w="1219044">
                  <a:extLst>
                    <a:ext uri="{9D8B030D-6E8A-4147-A177-3AD203B41FA5}">
                      <a16:colId xmlns:a16="http://schemas.microsoft.com/office/drawing/2014/main" val="143494446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2468608595"/>
                    </a:ext>
                  </a:extLst>
                </a:gridCol>
                <a:gridCol w="868360">
                  <a:extLst>
                    <a:ext uri="{9D8B030D-6E8A-4147-A177-3AD203B41FA5}">
                      <a16:colId xmlns:a16="http://schemas.microsoft.com/office/drawing/2014/main" val="4227220100"/>
                    </a:ext>
                  </a:extLst>
                </a:gridCol>
                <a:gridCol w="734767">
                  <a:extLst>
                    <a:ext uri="{9D8B030D-6E8A-4147-A177-3AD203B41FA5}">
                      <a16:colId xmlns:a16="http://schemas.microsoft.com/office/drawing/2014/main" val="1727210124"/>
                    </a:ext>
                  </a:extLst>
                </a:gridCol>
                <a:gridCol w="601172">
                  <a:extLst>
                    <a:ext uri="{9D8B030D-6E8A-4147-A177-3AD203B41FA5}">
                      <a16:colId xmlns:a16="http://schemas.microsoft.com/office/drawing/2014/main" val="2579399038"/>
                    </a:ext>
                  </a:extLst>
                </a:gridCol>
                <a:gridCol w="718067">
                  <a:extLst>
                    <a:ext uri="{9D8B030D-6E8A-4147-A177-3AD203B41FA5}">
                      <a16:colId xmlns:a16="http://schemas.microsoft.com/office/drawing/2014/main" val="1052181650"/>
                    </a:ext>
                  </a:extLst>
                </a:gridCol>
                <a:gridCol w="534375">
                  <a:extLst>
                    <a:ext uri="{9D8B030D-6E8A-4147-A177-3AD203B41FA5}">
                      <a16:colId xmlns:a16="http://schemas.microsoft.com/office/drawing/2014/main" val="2693029048"/>
                    </a:ext>
                  </a:extLst>
                </a:gridCol>
                <a:gridCol w="467579">
                  <a:extLst>
                    <a:ext uri="{9D8B030D-6E8A-4147-A177-3AD203B41FA5}">
                      <a16:colId xmlns:a16="http://schemas.microsoft.com/office/drawing/2014/main" val="2570806165"/>
                    </a:ext>
                  </a:extLst>
                </a:gridCol>
              </a:tblGrid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 Status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56055"/>
                  </a:ext>
                </a:extLst>
              </a:tr>
              <a:tr h="951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Produc-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prod.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Abs.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Var.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Prod.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Weekend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Factor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Work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(fixed)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Cost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640865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31317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Ukraina,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3 350,4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-26,8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452253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Arkadia Shuliavka,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3 290,0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252,7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167207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Passage, Gatne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3 644,9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128,3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804,1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80,8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63737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April City,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2 097,1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80,5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-508,4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982686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Verdana" panose="020B0604030504040204" pitchFamily="34" charset="0"/>
                        </a:rPr>
                        <a:t>       J061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Verdana" panose="020B0604030504040204" pitchFamily="34" charset="0"/>
                        </a:rPr>
                        <a:t>Lobanovskiy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Verdana" panose="020B0604030504040204" pitchFamily="34" charset="0"/>
                        </a:rPr>
                        <a:t>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3 678,7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138,1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1 013,9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474397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Nashe Nebo, Kryukovshchyna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3 885,3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130,4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387151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Promenada,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3 160,7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306,1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85768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Good Life,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2 885,4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-45,2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068092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Respublica,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3 854,8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129,6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879,7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144,4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879240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Sofia Mall, S.Borschahivka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3 033,2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274,2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323465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Rostok,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2 611,2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2 611,2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164,8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19303"/>
                  </a:ext>
                </a:extLst>
              </a:tr>
              <a:tr h="210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1017DISTR07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3 256,3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445,0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001512"/>
                  </a:ext>
                </a:extLst>
              </a:tr>
            </a:tbl>
          </a:graphicData>
        </a:graphic>
      </p:graphicFrame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CA15357C-444F-9CEB-4D5E-A32882A5951A}"/>
              </a:ext>
            </a:extLst>
          </p:cNvPr>
          <p:cNvSpPr/>
          <p:nvPr/>
        </p:nvSpPr>
        <p:spPr>
          <a:xfrm>
            <a:off x="3434167" y="4905366"/>
            <a:ext cx="904153" cy="20849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1DE88FD5-1E4D-4EDE-51B6-640B9B6B0255}"/>
              </a:ext>
            </a:extLst>
          </p:cNvPr>
          <p:cNvSpPr/>
          <p:nvPr/>
        </p:nvSpPr>
        <p:spPr>
          <a:xfrm>
            <a:off x="3434167" y="4275391"/>
            <a:ext cx="904153" cy="20849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077CE9EC-2684-EEAE-4CDA-A1CFE3565A08}"/>
              </a:ext>
            </a:extLst>
          </p:cNvPr>
          <p:cNvSpPr/>
          <p:nvPr/>
        </p:nvSpPr>
        <p:spPr>
          <a:xfrm>
            <a:off x="3434166" y="3645416"/>
            <a:ext cx="904153" cy="20849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2697C7AC-7B45-522D-5DBA-AE74A7F5A836}"/>
              </a:ext>
            </a:extLst>
          </p:cNvPr>
          <p:cNvSpPr/>
          <p:nvPr/>
        </p:nvSpPr>
        <p:spPr>
          <a:xfrm>
            <a:off x="3434166" y="3443975"/>
            <a:ext cx="904153" cy="20849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41DB761E-058D-850C-8711-49218D568CD0}"/>
              </a:ext>
            </a:extLst>
          </p:cNvPr>
          <p:cNvSpPr/>
          <p:nvPr/>
        </p:nvSpPr>
        <p:spPr>
          <a:xfrm>
            <a:off x="3424005" y="3030511"/>
            <a:ext cx="904153" cy="20849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40BB4953-1911-66CE-2E33-16E391449532}"/>
              </a:ext>
            </a:extLst>
          </p:cNvPr>
          <p:cNvSpPr/>
          <p:nvPr/>
        </p:nvSpPr>
        <p:spPr>
          <a:xfrm>
            <a:off x="3434166" y="2814891"/>
            <a:ext cx="904153" cy="20849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2A59CCF0-62DD-1D90-05ED-339D267226A9}"/>
              </a:ext>
            </a:extLst>
          </p:cNvPr>
          <p:cNvSpPr/>
          <p:nvPr/>
        </p:nvSpPr>
        <p:spPr>
          <a:xfrm>
            <a:off x="3434166" y="2593962"/>
            <a:ext cx="904153" cy="20849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7FE4EA0D-7092-F2BA-15BD-9AF579E1262A}"/>
              </a:ext>
            </a:extLst>
          </p:cNvPr>
          <p:cNvSpPr/>
          <p:nvPr/>
        </p:nvSpPr>
        <p:spPr>
          <a:xfrm>
            <a:off x="5642544" y="3220504"/>
            <a:ext cx="746717" cy="20849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8" name="Рисунок 17" descr="Зображення, що містить текст, Обличчя людини, знімок екрана, Шрифт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37A4BD0C-E3B2-C9AD-8E2E-ECE6FF54EC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890" y="4275391"/>
            <a:ext cx="3003425" cy="1998643"/>
          </a:xfrm>
          <a:prstGeom prst="rect">
            <a:avLst/>
          </a:prstGeom>
        </p:spPr>
      </p:pic>
      <p:pic>
        <p:nvPicPr>
          <p:cNvPr id="20" name="Рисунок 19" descr="Зображення, що містить канцелярські товари й офісне обладнання, текст, ручка, Канцелярські товари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1E1021DD-6D2A-5CA5-88DD-C7A2CBC27D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370" y="1251605"/>
            <a:ext cx="3974467" cy="265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86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6E6DC-B778-8B0F-50A2-D391E0C2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Продуктивність= якісне планування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5EDD90A-F046-F3D3-C997-1DE9A55E6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5C8342EF-367A-ECB5-852A-DC6DC00C8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141302"/>
              </p:ext>
            </p:extLst>
          </p:nvPr>
        </p:nvGraphicFramePr>
        <p:xfrm>
          <a:off x="695325" y="1697039"/>
          <a:ext cx="3607167" cy="4521448"/>
        </p:xfrm>
        <a:graphic>
          <a:graphicData uri="http://schemas.openxmlformats.org/drawingml/2006/table">
            <a:tbl>
              <a:tblPr/>
              <a:tblGrid>
                <a:gridCol w="927828">
                  <a:extLst>
                    <a:ext uri="{9D8B030D-6E8A-4147-A177-3AD203B41FA5}">
                      <a16:colId xmlns:a16="http://schemas.microsoft.com/office/drawing/2014/main" val="1159572792"/>
                    </a:ext>
                  </a:extLst>
                </a:gridCol>
                <a:gridCol w="1600029">
                  <a:extLst>
                    <a:ext uri="{9D8B030D-6E8A-4147-A177-3AD203B41FA5}">
                      <a16:colId xmlns:a16="http://schemas.microsoft.com/office/drawing/2014/main" val="4197428144"/>
                    </a:ext>
                  </a:extLst>
                </a:gridCol>
                <a:gridCol w="1079310">
                  <a:extLst>
                    <a:ext uri="{9D8B030D-6E8A-4147-A177-3AD203B41FA5}">
                      <a16:colId xmlns:a16="http://schemas.microsoft.com/office/drawing/2014/main" val="668506546"/>
                    </a:ext>
                  </a:extLst>
                </a:gridCol>
              </a:tblGrid>
              <a:tr h="20077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Store visits - Overview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354854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54405"/>
                  </a:ext>
                </a:extLst>
              </a:tr>
              <a:tr h="2878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Form ID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Щоденне Планування</a:t>
                      </a:r>
                      <a:endParaRPr lang="en-US" sz="1400" b="0" i="0" u="none" strike="noStrike" dirty="0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248603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uk-U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910369"/>
                  </a:ext>
                </a:extLst>
              </a:tr>
              <a:tr h="7130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Visits</a:t>
                      </a:r>
                      <a:b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20251201</a:t>
                      </a:r>
                      <a:b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- 01.01.2026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335393"/>
                  </a:ext>
                </a:extLst>
              </a:tr>
              <a:tr h="272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1017DISTR07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132197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April City,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2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269173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Arkadia Shuliavka,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C5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70304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Good Life,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08436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Gulliver,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811413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Lobanovskiy,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036695"/>
                  </a:ext>
                </a:extLst>
              </a:tr>
              <a:tr h="272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Nashe Nebo, Kryukovshchyna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77072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Passage, Gatne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C5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723807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Promenada,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3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09336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Respublica,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C5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325965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Rostok,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F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254744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Sofia Mall, S.Borschahivka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4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282387"/>
                  </a:ext>
                </a:extLst>
              </a:tr>
              <a:tr h="200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J010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Ukraina, Kyiv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4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80556"/>
                  </a:ext>
                </a:extLst>
              </a:tr>
            </a:tbl>
          </a:graphicData>
        </a:graphic>
      </p:graphicFrame>
      <p:graphicFrame>
        <p:nvGraphicFramePr>
          <p:cNvPr id="7" name="Таблиця 6">
            <a:extLst>
              <a:ext uri="{FF2B5EF4-FFF2-40B4-BE49-F238E27FC236}">
                <a16:creationId xmlns:a16="http://schemas.microsoft.com/office/drawing/2014/main" id="{574C650E-C669-CF4C-807E-AA8C7A3F4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68021"/>
              </p:ext>
            </p:extLst>
          </p:nvPr>
        </p:nvGraphicFramePr>
        <p:xfrm>
          <a:off x="6622182" y="2625566"/>
          <a:ext cx="4147418" cy="3428724"/>
        </p:xfrm>
        <a:graphic>
          <a:graphicData uri="http://schemas.openxmlformats.org/drawingml/2006/table">
            <a:tbl>
              <a:tblPr/>
              <a:tblGrid>
                <a:gridCol w="2158350">
                  <a:extLst>
                    <a:ext uri="{9D8B030D-6E8A-4147-A177-3AD203B41FA5}">
                      <a16:colId xmlns:a16="http://schemas.microsoft.com/office/drawing/2014/main" val="4064114586"/>
                    </a:ext>
                  </a:extLst>
                </a:gridCol>
                <a:gridCol w="1989068">
                  <a:extLst>
                    <a:ext uri="{9D8B030D-6E8A-4147-A177-3AD203B41FA5}">
                      <a16:colId xmlns:a16="http://schemas.microsoft.com/office/drawing/2014/main" val="3517522572"/>
                    </a:ext>
                  </a:extLst>
                </a:gridCol>
              </a:tblGrid>
              <a:tr h="220302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uk-UA" sz="1200" b="0" i="0" u="none" strike="noStrike">
                          <a:effectLst/>
                          <a:latin typeface="Arial" panose="020B0604020202020204" pitchFamily="34" charset="0"/>
                        </a:rPr>
                        <a:t>Зустріч </a:t>
                      </a: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SM\DepSM  01/12-31/12/2025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651604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Локація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Загальна кількість візитів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437578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J010 - Kyiv Ukraine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739041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J017 - Kyiv Arkadia Shuliavka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67830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J019 - Gatne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597977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J022 - Kyiv TC Gulliver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713363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verta"/>
                        </a:rPr>
                        <a:t>J030 - Kiev Aprel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58717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J061 - Kyiv Lobanovskyi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689395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J063 - Kryukovshchyna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1413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J068 - Kyiv Promenada Centr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427431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J080 - Kyiv Good life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070422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J087 - Kyiv Respublica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153660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verta"/>
                        </a:rPr>
                        <a:t>J097 - Sofia Mall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555267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J099 - Kyiv Rostok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1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752365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200" b="0" i="0" u="none" strike="noStrike" dirty="0">
                          <a:solidFill>
                            <a:srgbClr val="434653"/>
                          </a:solidFill>
                          <a:effectLst/>
                          <a:latin typeface="averta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888508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FAD2EC6-5A20-25DB-A9DE-A5D975EFC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502" y="2067105"/>
            <a:ext cx="3858638" cy="429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0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EC6AD-84A3-E9A0-7672-C537CE9C8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ідзаголовок 1">
            <a:extLst>
              <a:ext uri="{FF2B5EF4-FFF2-40B4-BE49-F238E27FC236}">
                <a16:creationId xmlns:a16="http://schemas.microsoft.com/office/drawing/2014/main" id="{B8B60053-B9BD-FBFF-DE9C-D5014E86B1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Воркшоп – збільшення </a:t>
            </a:r>
            <a:r>
              <a:rPr lang="uk-UA" dirty="0" err="1"/>
              <a:t>ксті</a:t>
            </a:r>
            <a:r>
              <a:rPr lang="uk-UA" dirty="0"/>
              <a:t> покупців</a:t>
            </a:r>
          </a:p>
        </p:txBody>
      </p:sp>
    </p:spTree>
    <p:extLst>
      <p:ext uri="{BB962C8B-B14F-4D97-AF65-F5344CB8AC3E}">
        <p14:creationId xmlns:p14="http://schemas.microsoft.com/office/powerpoint/2010/main" val="1721636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0A7ADFB-03E2-AF8A-8F12-534849C46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2657AB1-2C4A-3EC1-3B3D-8B1D3C3314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25000" lnSpcReduction="20000"/>
          </a:bodyPr>
          <a:lstStyle/>
          <a:p>
            <a:endParaRPr lang="uk-UA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EB7CEBD-B463-4E4D-7D31-A54B553967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uk-UA" dirty="0"/>
              <a:t>Обговоріть в групі питання, та підготуйте відповіді: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B2119B14-1344-76C3-7AC1-AB79380FDAF8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r>
              <a:rPr lang="uk-UA" dirty="0"/>
              <a:t>Збільшення </a:t>
            </a:r>
            <a:r>
              <a:rPr lang="uk-UA" dirty="0" err="1"/>
              <a:t>ксті</a:t>
            </a:r>
            <a:r>
              <a:rPr lang="uk-UA" dirty="0"/>
              <a:t> покупців</a:t>
            </a:r>
          </a:p>
        </p:txBody>
      </p:sp>
      <p:sp>
        <p:nvSpPr>
          <p:cNvPr id="7" name="Місце для тексту 6">
            <a:extLst>
              <a:ext uri="{FF2B5EF4-FFF2-40B4-BE49-F238E27FC236}">
                <a16:creationId xmlns:a16="http://schemas.microsoft.com/office/drawing/2014/main" id="{CB03C161-29D7-CA84-2D51-1AF65A787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uk-UA" dirty="0"/>
              <a:t>15 хв робота в групі</a:t>
            </a:r>
          </a:p>
          <a:p>
            <a:r>
              <a:rPr lang="uk-UA" dirty="0"/>
              <a:t>3 хв презентація від кожної групи</a:t>
            </a:r>
          </a:p>
        </p:txBody>
      </p:sp>
      <p:sp>
        <p:nvSpPr>
          <p:cNvPr id="8" name="Місце для тексту 7">
            <a:extLst>
              <a:ext uri="{FF2B5EF4-FFF2-40B4-BE49-F238E27FC236}">
                <a16:creationId xmlns:a16="http://schemas.microsoft.com/office/drawing/2014/main" id="{9615E2C3-7150-70B9-8037-70E03FAC37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uk-UA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Обговоріть в групі і домовтесь про 2 конкретні дії (не банальні) які ви зробите для того щоб збільшити кількість покупців!</a:t>
            </a:r>
          </a:p>
          <a:p>
            <a:r>
              <a:rPr lang="uk-UA" dirty="0">
                <a:latin typeface="Verdana" panose="020B0604030504040204" pitchFamily="34" charset="0"/>
                <a:ea typeface="Verdana" panose="020B0604030504040204" pitchFamily="34" charset="0"/>
              </a:rPr>
              <a:t>Визначте 2 конкретні, реалістичні дії які потрібно зробити в </a:t>
            </a:r>
            <a:r>
              <a:rPr lang="uk-UA" dirty="0" err="1">
                <a:latin typeface="Verdana" panose="020B0604030504040204" pitchFamily="34" charset="0"/>
                <a:ea typeface="Verdana" panose="020B0604030504040204" pitchFamily="34" charset="0"/>
              </a:rPr>
              <a:t>дістрікті</a:t>
            </a:r>
            <a:r>
              <a:rPr lang="uk-UA" dirty="0">
                <a:latin typeface="Verdana" panose="020B0604030504040204" pitchFamily="34" charset="0"/>
                <a:ea typeface="Verdana" panose="020B0604030504040204" pitchFamily="34" charset="0"/>
              </a:rPr>
              <a:t>, щоб збільшити </a:t>
            </a:r>
            <a:r>
              <a:rPr lang="uk-UA" dirty="0" err="1">
                <a:latin typeface="Verdana" panose="020B0604030504040204" pitchFamily="34" charset="0"/>
                <a:ea typeface="Verdana" panose="020B0604030504040204" pitchFamily="34" charset="0"/>
              </a:rPr>
              <a:t>ксть</a:t>
            </a:r>
            <a:r>
              <a:rPr lang="uk-UA" dirty="0">
                <a:latin typeface="Verdana" panose="020B0604030504040204" pitchFamily="34" charset="0"/>
                <a:ea typeface="Verdana" panose="020B0604030504040204" pitchFamily="34" charset="0"/>
              </a:rPr>
              <a:t> покупців</a:t>
            </a:r>
            <a:endParaRPr lang="uk-UA" dirty="0"/>
          </a:p>
        </p:txBody>
      </p:sp>
      <p:sp>
        <p:nvSpPr>
          <p:cNvPr id="9" name="Місце для тексту 8">
            <a:extLst>
              <a:ext uri="{FF2B5EF4-FFF2-40B4-BE49-F238E27FC236}">
                <a16:creationId xmlns:a16="http://schemas.microsoft.com/office/drawing/2014/main" id="{CB43932D-AAD6-849F-1C50-BFFEAF660D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uk-UA" dirty="0"/>
              <a:t>Презентуйте свої результати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7060B37-F701-017B-423F-A51AB3D52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142" y="4058075"/>
            <a:ext cx="4552554" cy="24628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5677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itle">
  <a:themeElements>
    <a:clrScheme name="JYSK template">
      <a:dk1>
        <a:srgbClr val="565655"/>
      </a:dk1>
      <a:lt1>
        <a:sysClr val="window" lastClr="FFFFFF"/>
      </a:lt1>
      <a:dk2>
        <a:srgbClr val="565655"/>
      </a:dk2>
      <a:lt2>
        <a:srgbClr val="D0CECE"/>
      </a:lt2>
      <a:accent1>
        <a:srgbClr val="143C8A"/>
      </a:accent1>
      <a:accent2>
        <a:srgbClr val="4BA4DF"/>
      </a:accent2>
      <a:accent3>
        <a:srgbClr val="9CC3E5"/>
      </a:accent3>
      <a:accent4>
        <a:srgbClr val="2E75B5"/>
      </a:accent4>
      <a:accent5>
        <a:srgbClr val="48A1FA"/>
      </a:accent5>
      <a:accent6>
        <a:srgbClr val="034A90"/>
      </a:accent6>
      <a:hlink>
        <a:srgbClr val="0563C1"/>
      </a:hlink>
      <a:folHlink>
        <a:srgbClr val="4BA4DF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400" b="0" i="0" kern="1200" dirty="0">
            <a:solidFill>
              <a:schemeClr val="bg1"/>
            </a:solidFill>
            <a:effectLst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9A131C3B-F277-4460-8511-87C3737C89D4}" vid="{13E74860-A39F-4ABA-B0DF-CA01651295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04F66457922CD439B4C537E3463C4CC" ma:contentTypeVersion="6" ma:contentTypeDescription="Opret et nyt dokument." ma:contentTypeScope="" ma:versionID="58c4c66549d36ff49cca61d045d62fb6">
  <xsd:schema xmlns:xsd="http://www.w3.org/2001/XMLSchema" xmlns:xs="http://www.w3.org/2001/XMLSchema" xmlns:p="http://schemas.microsoft.com/office/2006/metadata/properties" xmlns:ns2="5cae242a-ff90-464e-a0a2-2418b7e71834" xmlns:ns3="33f7f070-486a-46d9-a80b-dc499a041972" targetNamespace="http://schemas.microsoft.com/office/2006/metadata/properties" ma:root="true" ma:fieldsID="811c04485fa7606e46420545816da4d9" ns2:_="" ns3:_="">
    <xsd:import namespace="5cae242a-ff90-464e-a0a2-2418b7e71834"/>
    <xsd:import namespace="33f7f070-486a-46d9-a80b-dc499a0419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ae242a-ff90-464e-a0a2-2418b7e7183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7f070-486a-46d9-a80b-dc499a0419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1F195D3-AA43-47D5-B789-72A185EB4E16}">
  <ds:schemaRefs>
    <ds:schemaRef ds:uri="http://schemas.microsoft.com/office/2006/metadata/properties"/>
    <ds:schemaRef ds:uri="http://www.w3.org/XML/1998/namespace"/>
    <ds:schemaRef ds:uri="http://purl.org/dc/dcmitype/"/>
    <ds:schemaRef ds:uri="33f7f070-486a-46d9-a80b-dc499a041972"/>
    <ds:schemaRef ds:uri="http://purl.org/dc/terms/"/>
    <ds:schemaRef ds:uri="5cae242a-ff90-464e-a0a2-2418b7e718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038669C-AEBA-4878-9B2C-864D45A593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ae242a-ff90-464e-a0a2-2418b7e71834"/>
    <ds:schemaRef ds:uri="33f7f070-486a-46d9-a80b-dc499a0419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961E08-7722-4D45-A65D-7F516A026F7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JYSK indoor FY26_updated</Template>
  <TotalTime>2744</TotalTime>
  <Words>1882</Words>
  <Application>Microsoft Office PowerPoint</Application>
  <PresentationFormat>Широкий екран</PresentationFormat>
  <Paragraphs>992</Paragraphs>
  <Slides>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4" baseType="lpstr">
      <vt:lpstr>Arial</vt:lpstr>
      <vt:lpstr>averta</vt:lpstr>
      <vt:lpstr>Calibri</vt:lpstr>
      <vt:lpstr>Verdana</vt:lpstr>
      <vt:lpstr>Title</vt:lpstr>
      <vt:lpstr>Презентація PowerPoint</vt:lpstr>
      <vt:lpstr>Sales Index - Monthly Development</vt:lpstr>
      <vt:lpstr>Performance District and stores</vt:lpstr>
      <vt:lpstr>Sales Performance by Product area</vt:lpstr>
      <vt:lpstr>Stock Adjustments by store</vt:lpstr>
      <vt:lpstr>Productivity</vt:lpstr>
      <vt:lpstr>Продуктивність= якісне планування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Oleksandr Helevera</dc:creator>
  <cp:lastModifiedBy>Adam Sadkevich (J087)</cp:lastModifiedBy>
  <cp:revision>4</cp:revision>
  <dcterms:created xsi:type="dcterms:W3CDTF">2025-10-06T07:55:18Z</dcterms:created>
  <dcterms:modified xsi:type="dcterms:W3CDTF">2026-01-05T16:18:32Z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0x010100704F66457922CD439B4C537E3463C4CC</vt:lpwstr>
  </property>
</Properties>
</file>